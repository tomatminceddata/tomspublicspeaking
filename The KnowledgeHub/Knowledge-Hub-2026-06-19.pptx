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0" r:id="rId12"/>
    <p:sldId id="265" r:id="rId13"/>
    <p:sldId id="266" r:id="rId14"/>
    <p:sldId id="267" r:id="rId15"/>
    <p:sldId id="268" r:id="rId16"/>
    <p:sldId id="269" r:id="rId17"/>
    <p:sldId id="281" r:id="rId18"/>
    <p:sldId id="270" r:id="rId19"/>
    <p:sldId id="271" r:id="rId20"/>
    <p:sldId id="272" r:id="rId21"/>
    <p:sldId id="273" r:id="rId22"/>
    <p:sldId id="274" r:id="rId23"/>
    <p:sldId id="282" r:id="rId24"/>
    <p:sldId id="275" r:id="rId25"/>
    <p:sldId id="277" r:id="rId26"/>
    <p:sldId id="278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1CDE7-59F6-7C4D-88AE-56F73677B3DB}" v="3" dt="2026-06-18T19:13:34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'Tom' Martens" userId="35ccf0d4-9e71-4d15-bebb-7c78661c64b3" providerId="ADAL" clId="{E03DE0C9-265C-5EB4-8022-4A26346716CD}"/>
    <pc:docChg chg="custSel mod addSld modSld sldOrd">
      <pc:chgData name="Thomas 'Tom' Martens" userId="35ccf0d4-9e71-4d15-bebb-7c78661c64b3" providerId="ADAL" clId="{E03DE0C9-265C-5EB4-8022-4A26346716CD}" dt="2026-06-18T19:17:23.500" v="119" actId="20577"/>
      <pc:docMkLst>
        <pc:docMk/>
      </pc:docMkLst>
      <pc:sldChg chg="modSp mod">
        <pc:chgData name="Thomas 'Tom' Martens" userId="35ccf0d4-9e71-4d15-bebb-7c78661c64b3" providerId="ADAL" clId="{E03DE0C9-265C-5EB4-8022-4A26346716CD}" dt="2026-06-18T19:17:23.500" v="119" actId="20577"/>
        <pc:sldMkLst>
          <pc:docMk/>
          <pc:sldMk cId="0" sldId="274"/>
        </pc:sldMkLst>
        <pc:spChg chg="mod">
          <ac:chgData name="Thomas 'Tom' Martens" userId="35ccf0d4-9e71-4d15-bebb-7c78661c64b3" providerId="ADAL" clId="{E03DE0C9-265C-5EB4-8022-4A26346716CD}" dt="2026-06-18T19:17:23.500" v="119" actId="20577"/>
          <ac:spMkLst>
            <pc:docMk/>
            <pc:sldMk cId="0" sldId="274"/>
            <ac:spMk id="16" creationId="{00000000-0000-0000-0000-000000000000}"/>
          </ac:spMkLst>
        </pc:spChg>
      </pc:sldChg>
      <pc:sldChg chg="addSp delSp modSp add mod ord">
        <pc:chgData name="Thomas 'Tom' Martens" userId="35ccf0d4-9e71-4d15-bebb-7c78661c64b3" providerId="ADAL" clId="{E03DE0C9-265C-5EB4-8022-4A26346716CD}" dt="2026-06-18T19:16:15.747" v="75" actId="14100"/>
        <pc:sldMkLst>
          <pc:docMk/>
          <pc:sldMk cId="396920530" sldId="276"/>
        </pc:sldMkLst>
        <pc:spChg chg="del mod">
          <ac:chgData name="Thomas 'Tom' Martens" userId="35ccf0d4-9e71-4d15-bebb-7c78661c64b3" providerId="ADAL" clId="{E03DE0C9-265C-5EB4-8022-4A26346716CD}" dt="2026-06-18T19:14:00.651" v="67" actId="478"/>
          <ac:spMkLst>
            <pc:docMk/>
            <pc:sldMk cId="396920530" sldId="276"/>
            <ac:spMk id="2" creationId="{239F9680-137E-2D57-8884-E227D82D1D95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3" creationId="{34052825-4F09-3C12-2DCA-9D41739EBF50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5" creationId="{BB297C97-31C7-B6F5-A58F-274A46F8FF6C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6" creationId="{C9892EF9-4367-F4AB-DC3A-4AB0F3A9FB3D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7" creationId="{8D1B2EAA-C714-E376-416A-B5333FBE4BE9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8" creationId="{6EFF3D2B-1BED-842B-4066-DC2ABC7E64C2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9" creationId="{7F3EC89B-6B40-B2DC-A0B5-C89D9B79140C}"/>
          </ac:spMkLst>
        </pc:spChg>
        <pc:spChg chg="del">
          <ac:chgData name="Thomas 'Tom' Martens" userId="35ccf0d4-9e71-4d15-bebb-7c78661c64b3" providerId="ADAL" clId="{E03DE0C9-265C-5EB4-8022-4A26346716CD}" dt="2026-06-18T19:07:23.378" v="12" actId="478"/>
          <ac:spMkLst>
            <pc:docMk/>
            <pc:sldMk cId="396920530" sldId="276"/>
            <ac:spMk id="10" creationId="{868DB8A4-6C50-B3D6-D5F2-321F55206887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2" creationId="{36AD202A-1F96-7A90-08FD-9B71FD211D6F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3" creationId="{C89EA98D-74AD-E120-1139-08FC53E21876}"/>
          </ac:spMkLst>
        </pc:spChg>
        <pc:spChg chg="add mod">
          <ac:chgData name="Thomas 'Tom' Martens" userId="35ccf0d4-9e71-4d15-bebb-7c78661c64b3" providerId="ADAL" clId="{E03DE0C9-265C-5EB4-8022-4A26346716CD}" dt="2026-06-18T19:09:41.321" v="50" actId="20577"/>
          <ac:spMkLst>
            <pc:docMk/>
            <pc:sldMk cId="396920530" sldId="276"/>
            <ac:spMk id="14" creationId="{E2B92BD7-A442-1D40-FCB7-FF354CC500B7}"/>
          </ac:spMkLst>
        </pc:spChg>
        <pc:spChg chg="add 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5" creationId="{9DC03715-3CAC-11A6-A0D4-6478B1597AF9}"/>
          </ac:spMkLst>
        </pc:spChg>
        <pc:spChg chg="add del mod">
          <ac:chgData name="Thomas 'Tom' Martens" userId="35ccf0d4-9e71-4d15-bebb-7c78661c64b3" providerId="ADAL" clId="{E03DE0C9-265C-5EB4-8022-4A26346716CD}" dt="2026-06-18T19:13:50.022" v="66" actId="478"/>
          <ac:spMkLst>
            <pc:docMk/>
            <pc:sldMk cId="396920530" sldId="276"/>
            <ac:spMk id="16" creationId="{E798DF5C-9E4A-A889-06C1-C91633334884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19" creationId="{2DFCC151-DD72-2766-2D1D-601AACC174A9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2" creationId="{E87E41E8-4BC8-4A70-7092-E0422F788819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4" creationId="{3E12AE9D-E473-6278-A63C-66AB8800B8D4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6" creationId="{147335F5-7153-48B9-6FE0-F7958691B081}"/>
          </ac:spMkLst>
        </pc:spChg>
        <pc:spChg chg="mod">
          <ac:chgData name="Thomas 'Tom' Martens" userId="35ccf0d4-9e71-4d15-bebb-7c78661c64b3" providerId="ADAL" clId="{E03DE0C9-265C-5EB4-8022-4A26346716CD}" dt="2026-06-18T19:08:34.233" v="13"/>
          <ac:spMkLst>
            <pc:docMk/>
            <pc:sldMk cId="396920530" sldId="276"/>
            <ac:spMk id="28" creationId="{57F3E133-4205-C790-21B2-6636BB7BE80C}"/>
          </ac:spMkLst>
        </pc:spChg>
        <pc:picChg chg="add mod">
          <ac:chgData name="Thomas 'Tom' Martens" userId="35ccf0d4-9e71-4d15-bebb-7c78661c64b3" providerId="ADAL" clId="{E03DE0C9-265C-5EB4-8022-4A26346716CD}" dt="2026-06-18T19:16:06.132" v="73" actId="1076"/>
          <ac:picMkLst>
            <pc:docMk/>
            <pc:sldMk cId="396920530" sldId="276"/>
            <ac:picMk id="2" creationId="{2376CC7D-1821-0E08-12A7-C645BBB83059}"/>
          </ac:picMkLst>
        </pc:picChg>
        <pc:picChg chg="del">
          <ac:chgData name="Thomas 'Tom' Martens" userId="35ccf0d4-9e71-4d15-bebb-7c78661c64b3" providerId="ADAL" clId="{E03DE0C9-265C-5EB4-8022-4A26346716CD}" dt="2026-06-18T19:09:45.915" v="51" actId="478"/>
          <ac:picMkLst>
            <pc:docMk/>
            <pc:sldMk cId="396920530" sldId="276"/>
            <ac:picMk id="17" creationId="{9F78FC21-E53E-CBBC-2741-C455057B6414}"/>
          </ac:picMkLst>
        </pc:picChg>
        <pc:picChg chg="del">
          <ac:chgData name="Thomas 'Tom' Martens" userId="35ccf0d4-9e71-4d15-bebb-7c78661c64b3" providerId="ADAL" clId="{E03DE0C9-265C-5EB4-8022-4A26346716CD}" dt="2026-06-18T19:14:10.966" v="68" actId="478"/>
          <ac:picMkLst>
            <pc:docMk/>
            <pc:sldMk cId="396920530" sldId="276"/>
            <ac:picMk id="30" creationId="{8672CB92-131F-7BA6-CC96-8A539683A4D4}"/>
          </ac:picMkLst>
        </pc:picChg>
        <pc:picChg chg="add del mod">
          <ac:chgData name="Thomas 'Tom' Martens" userId="35ccf0d4-9e71-4d15-bebb-7c78661c64b3" providerId="ADAL" clId="{E03DE0C9-265C-5EB4-8022-4A26346716CD}" dt="2026-06-18T19:12:17.725" v="58" actId="478"/>
          <ac:picMkLst>
            <pc:docMk/>
            <pc:sldMk cId="396920530" sldId="276"/>
            <ac:picMk id="32" creationId="{1EA30A8C-9D81-851A-381F-BD3643744334}"/>
          </ac:picMkLst>
        </pc:picChg>
        <pc:picChg chg="add mod">
          <ac:chgData name="Thomas 'Tom' Martens" userId="35ccf0d4-9e71-4d15-bebb-7c78661c64b3" providerId="ADAL" clId="{E03DE0C9-265C-5EB4-8022-4A26346716CD}" dt="2026-06-18T19:16:15.747" v="75" actId="14100"/>
          <ac:picMkLst>
            <pc:docMk/>
            <pc:sldMk cId="396920530" sldId="276"/>
            <ac:picMk id="34" creationId="{559F21A8-D479-AE3E-C982-46D448C597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75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9C06-A739-6A71-DB64-4FD9AC8C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0F1F8-5823-252B-421C-335A2605A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DEDB-40F6-C909-5F16-D688E5BF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6735-1E75-6C13-CA57-5A2E25DEB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7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inceddata.net/The+knowledge+hub/Building+a+Personal+Knowledge+Hub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github.com/tomatminceddata/RSS-feed-sync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64592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Knowledge Hub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reading faster isn't the answer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RAG and knowledge graph over a curated Microsoft Fabric &amp; Power BI corpus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Martens</a:t>
            </a:r>
            <a:b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2026-06-19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8B9BD-EBBE-7AD2-E319-C6BF94A8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7D4DFEED-A305-4AB9-B29B-7D34C52E8F18}"/>
              </a:ext>
            </a:extLst>
          </p:cNvPr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6AD202A-1F96-7A90-08FD-9B71FD211D6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89EA98D-74AD-E120-1139-08FC53E21876}"/>
              </a:ext>
            </a:extLst>
          </p:cNvPr>
          <p:cNvSpPr/>
          <p:nvPr/>
        </p:nvSpPr>
        <p:spPr>
          <a:xfrm>
            <a:off x="3200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Martens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E2B92BD7-A442-1D40-FCB7-FF354CC500B7}"/>
              </a:ext>
            </a:extLst>
          </p:cNvPr>
          <p:cNvSpPr/>
          <p:nvPr/>
        </p:nvSpPr>
        <p:spPr>
          <a:xfrm>
            <a:off x="3200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Architect @ Munich Re 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(and a little bit of free lancing)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DC03715-3CAC-11A6-A0D4-6478B1597AF9}"/>
              </a:ext>
            </a:extLst>
          </p:cNvPr>
          <p:cNvSpPr/>
          <p:nvPr/>
        </p:nvSpPr>
        <p:spPr>
          <a:xfrm>
            <a:off x="32004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years of experience designing analytical solutions using the Microsoft data platform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22A6AA-7C0F-D0E2-79EE-6D516D2D7B0A}"/>
              </a:ext>
            </a:extLst>
          </p:cNvPr>
          <p:cNvGrpSpPr/>
          <p:nvPr/>
        </p:nvGrpSpPr>
        <p:grpSpPr>
          <a:xfrm>
            <a:off x="317864" y="4091589"/>
            <a:ext cx="3417081" cy="640080"/>
            <a:chOff x="560559" y="3840480"/>
            <a:chExt cx="3417081" cy="640080"/>
          </a:xfrm>
        </p:grpSpPr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2DFCC151-DD72-2766-2D1D-601AACC174A9}"/>
                </a:ext>
              </a:extLst>
            </p:cNvPr>
            <p:cNvSpPr/>
            <p:nvPr/>
          </p:nvSpPr>
          <p:spPr>
            <a:xfrm>
              <a:off x="836908" y="3840480"/>
              <a:ext cx="31407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0" name="Group 37">
              <a:extLst>
                <a:ext uri="{FF2B5EF4-FFF2-40B4-BE49-F238E27FC236}">
                  <a16:creationId xmlns:a16="http://schemas.microsoft.com/office/drawing/2014/main" id="{1518DE47-05B0-D60D-5722-37517B9D7D97}"/>
                </a:ext>
              </a:extLst>
            </p:cNvPr>
            <p:cNvGrpSpPr/>
            <p:nvPr/>
          </p:nvGrpSpPr>
          <p:grpSpPr>
            <a:xfrm>
              <a:off x="560559" y="4188782"/>
              <a:ext cx="172200" cy="172200"/>
              <a:chOff x="470537" y="3886355"/>
              <a:chExt cx="229600" cy="229600"/>
            </a:xfrm>
          </p:grpSpPr>
          <p:sp>
            <p:nvSpPr>
              <p:cNvPr id="27" name="Rounded Rectangle 38">
                <a:extLst>
                  <a:ext uri="{FF2B5EF4-FFF2-40B4-BE49-F238E27FC236}">
                    <a16:creationId xmlns:a16="http://schemas.microsoft.com/office/drawing/2014/main" id="{C6D83224-AB42-6EA6-21C3-15988B81605F}"/>
                  </a:ext>
                </a:extLst>
              </p:cNvPr>
              <p:cNvSpPr/>
              <p:nvPr/>
            </p:nvSpPr>
            <p:spPr>
              <a:xfrm>
                <a:off x="470537" y="3886355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 dirty="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sp>
            <p:nvSpPr>
              <p:cNvPr id="28" name="Freeform 383">
                <a:extLst>
                  <a:ext uri="{FF2B5EF4-FFF2-40B4-BE49-F238E27FC236}">
                    <a16:creationId xmlns:a16="http://schemas.microsoft.com/office/drawing/2014/main" id="{57F3E133-4205-C790-21B2-6636BB7BE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770" y="3958471"/>
                <a:ext cx="103392" cy="89503"/>
              </a:xfrm>
              <a:custGeom>
                <a:avLst/>
                <a:gdLst>
                  <a:gd name="T0" fmla="*/ 458484450 w 64"/>
                  <a:gd name="T1" fmla="*/ 49083328 h 56"/>
                  <a:gd name="T2" fmla="*/ 408336961 w 64"/>
                  <a:gd name="T3" fmla="*/ 63107136 h 56"/>
                  <a:gd name="T4" fmla="*/ 444156978 w 64"/>
                  <a:gd name="T5" fmla="*/ 7011904 h 56"/>
                  <a:gd name="T6" fmla="*/ 386847091 w 64"/>
                  <a:gd name="T7" fmla="*/ 28047616 h 56"/>
                  <a:gd name="T8" fmla="*/ 386847091 w 64"/>
                  <a:gd name="T9" fmla="*/ 28047616 h 56"/>
                  <a:gd name="T10" fmla="*/ 315207056 w 64"/>
                  <a:gd name="T11" fmla="*/ 0 h 56"/>
                  <a:gd name="T12" fmla="*/ 222077151 w 64"/>
                  <a:gd name="T13" fmla="*/ 98166656 h 56"/>
                  <a:gd name="T14" fmla="*/ 229242225 w 64"/>
                  <a:gd name="T15" fmla="*/ 119202368 h 56"/>
                  <a:gd name="T16" fmla="*/ 229242225 w 64"/>
                  <a:gd name="T17" fmla="*/ 119202368 h 56"/>
                  <a:gd name="T18" fmla="*/ 28654944 w 64"/>
                  <a:gd name="T19" fmla="*/ 21035712 h 56"/>
                  <a:gd name="T20" fmla="*/ 57309887 w 64"/>
                  <a:gd name="T21" fmla="*/ 147249984 h 56"/>
                  <a:gd name="T22" fmla="*/ 14327472 w 64"/>
                  <a:gd name="T23" fmla="*/ 140238080 h 56"/>
                  <a:gd name="T24" fmla="*/ 85964831 w 64"/>
                  <a:gd name="T25" fmla="*/ 238404736 h 56"/>
                  <a:gd name="T26" fmla="*/ 42982415 w 64"/>
                  <a:gd name="T27" fmla="*/ 238404736 h 56"/>
                  <a:gd name="T28" fmla="*/ 128949923 w 64"/>
                  <a:gd name="T29" fmla="*/ 308523776 h 56"/>
                  <a:gd name="T30" fmla="*/ 0 w 64"/>
                  <a:gd name="T31" fmla="*/ 350595200 h 56"/>
                  <a:gd name="T32" fmla="*/ 150439792 w 64"/>
                  <a:gd name="T33" fmla="*/ 392666624 h 56"/>
                  <a:gd name="T34" fmla="*/ 415502035 w 64"/>
                  <a:gd name="T35" fmla="*/ 98166656 h 56"/>
                  <a:gd name="T36" fmla="*/ 415502035 w 64"/>
                  <a:gd name="T37" fmla="*/ 98166656 h 56"/>
                  <a:gd name="T38" fmla="*/ 415502035 w 64"/>
                  <a:gd name="T39" fmla="*/ 98166656 h 56"/>
                  <a:gd name="T40" fmla="*/ 415502035 w 64"/>
                  <a:gd name="T41" fmla="*/ 98166656 h 56"/>
                  <a:gd name="T42" fmla="*/ 458484450 w 64"/>
                  <a:gd name="T43" fmla="*/ 49083328 h 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4" h="56">
                    <a:moveTo>
                      <a:pt x="64" y="7"/>
                    </a:moveTo>
                    <a:cubicBezTo>
                      <a:pt x="63" y="7"/>
                      <a:pt x="60" y="9"/>
                      <a:pt x="57" y="9"/>
                    </a:cubicBezTo>
                    <a:cubicBezTo>
                      <a:pt x="59" y="8"/>
                      <a:pt x="61" y="4"/>
                      <a:pt x="62" y="1"/>
                    </a:cubicBezTo>
                    <a:cubicBezTo>
                      <a:pt x="60" y="3"/>
                      <a:pt x="56" y="4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2" y="2"/>
                      <a:pt x="48" y="0"/>
                      <a:pt x="44" y="0"/>
                    </a:cubicBezTo>
                    <a:cubicBezTo>
                      <a:pt x="37" y="0"/>
                      <a:pt x="31" y="6"/>
                      <a:pt x="31" y="14"/>
                    </a:cubicBezTo>
                    <a:cubicBezTo>
                      <a:pt x="31" y="15"/>
                      <a:pt x="31" y="16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22" y="17"/>
                      <a:pt x="10" y="12"/>
                      <a:pt x="4" y="3"/>
                    </a:cubicBezTo>
                    <a:cubicBezTo>
                      <a:pt x="0" y="10"/>
                      <a:pt x="3" y="18"/>
                      <a:pt x="8" y="21"/>
                    </a:cubicBezTo>
                    <a:cubicBezTo>
                      <a:pt x="6" y="22"/>
                      <a:pt x="3" y="21"/>
                      <a:pt x="2" y="20"/>
                    </a:cubicBezTo>
                    <a:cubicBezTo>
                      <a:pt x="2" y="25"/>
                      <a:pt x="4" y="31"/>
                      <a:pt x="12" y="34"/>
                    </a:cubicBezTo>
                    <a:cubicBezTo>
                      <a:pt x="10" y="35"/>
                      <a:pt x="8" y="34"/>
                      <a:pt x="6" y="34"/>
                    </a:cubicBezTo>
                    <a:cubicBezTo>
                      <a:pt x="7" y="38"/>
                      <a:pt x="12" y="44"/>
                      <a:pt x="18" y="44"/>
                    </a:cubicBezTo>
                    <a:cubicBezTo>
                      <a:pt x="16" y="46"/>
                      <a:pt x="9" y="51"/>
                      <a:pt x="0" y="50"/>
                    </a:cubicBezTo>
                    <a:cubicBezTo>
                      <a:pt x="6" y="54"/>
                      <a:pt x="13" y="56"/>
                      <a:pt x="21" y="56"/>
                    </a:cubicBezTo>
                    <a:cubicBezTo>
                      <a:pt x="42" y="56"/>
                      <a:pt x="58" y="37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0" y="13"/>
                      <a:pt x="62" y="10"/>
                      <a:pt x="64" y="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 defTabSz="342900"/>
                <a:endParaRPr lang="en-US" sz="1350">
                  <a:solidFill>
                    <a:srgbClr val="000000"/>
                  </a:solidFill>
                  <a:latin typeface="Verdana" panose="020B0604030504040204"/>
                </a:endParaRPr>
              </a:p>
            </p:txBody>
          </p:sp>
        </p:grpSp>
        <p:grpSp>
          <p:nvGrpSpPr>
            <p:cNvPr id="21" name="Group 40">
              <a:extLst>
                <a:ext uri="{FF2B5EF4-FFF2-40B4-BE49-F238E27FC236}">
                  <a16:creationId xmlns:a16="http://schemas.microsoft.com/office/drawing/2014/main" id="{59861093-5D8A-B4A1-5741-9AA2057EEE37}"/>
                </a:ext>
              </a:extLst>
            </p:cNvPr>
            <p:cNvGrpSpPr/>
            <p:nvPr/>
          </p:nvGrpSpPr>
          <p:grpSpPr>
            <a:xfrm>
              <a:off x="560559" y="3977285"/>
              <a:ext cx="172200" cy="172200"/>
              <a:chOff x="470535" y="3492943"/>
              <a:chExt cx="229600" cy="229600"/>
            </a:xfrm>
          </p:grpSpPr>
          <p:sp>
            <p:nvSpPr>
              <p:cNvPr id="22" name="Rounded Rectangle 41">
                <a:extLst>
                  <a:ext uri="{FF2B5EF4-FFF2-40B4-BE49-F238E27FC236}">
                    <a16:creationId xmlns:a16="http://schemas.microsoft.com/office/drawing/2014/main" id="{E87E41E8-4BC8-4A70-7092-E0422F788819}"/>
                  </a:ext>
                </a:extLst>
              </p:cNvPr>
              <p:cNvSpPr/>
              <p:nvPr/>
            </p:nvSpPr>
            <p:spPr>
              <a:xfrm>
                <a:off x="470535" y="3492943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grpSp>
            <p:nvGrpSpPr>
              <p:cNvPr id="23" name="Group 1216">
                <a:extLst>
                  <a:ext uri="{FF2B5EF4-FFF2-40B4-BE49-F238E27FC236}">
                    <a16:creationId xmlns:a16="http://schemas.microsoft.com/office/drawing/2014/main" id="{ED90FAE7-7796-BAA1-1285-2EB12B224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32" y="3551431"/>
                <a:ext cx="101582" cy="101580"/>
                <a:chOff x="8400256" y="3573016"/>
                <a:chExt cx="423863" cy="422275"/>
              </a:xfrm>
              <a:solidFill>
                <a:schemeClr val="bg2"/>
              </a:solidFill>
            </p:grpSpPr>
            <p:sp>
              <p:nvSpPr>
                <p:cNvPr id="24" name="Oval 315">
                  <a:extLst>
                    <a:ext uri="{FF2B5EF4-FFF2-40B4-BE49-F238E27FC236}">
                      <a16:creationId xmlns:a16="http://schemas.microsoft.com/office/drawing/2014/main" id="{3E12AE9D-E473-6278-A63C-66AB8800B8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0256" y="3573016"/>
                  <a:ext cx="103188" cy="10160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5" name="Rectangle 316">
                  <a:extLst>
                    <a:ext uri="{FF2B5EF4-FFF2-40B4-BE49-F238E27FC236}">
                      <a16:creationId xmlns:a16="http://schemas.microsoft.com/office/drawing/2014/main" id="{973275E6-D859-52FA-8587-FD44B140F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8194" y="3714304"/>
                  <a:ext cx="87313" cy="28098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" name="Freeform 317">
                  <a:extLst>
                    <a:ext uri="{FF2B5EF4-FFF2-40B4-BE49-F238E27FC236}">
                      <a16:creationId xmlns:a16="http://schemas.microsoft.com/office/drawing/2014/main" id="{147335F5-7153-48B9-6FE0-F7958691B0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1069" y="3706366"/>
                  <a:ext cx="273050" cy="288925"/>
                </a:xfrm>
                <a:custGeom>
                  <a:avLst/>
                  <a:gdLst>
                    <a:gd name="T0" fmla="*/ 232890753 w 196"/>
                    <a:gd name="T1" fmla="*/ 0 h 207"/>
                    <a:gd name="T2" fmla="*/ 118386679 w 196"/>
                    <a:gd name="T3" fmla="*/ 62342199 h 207"/>
                    <a:gd name="T4" fmla="*/ 116446073 w 196"/>
                    <a:gd name="T5" fmla="*/ 62342199 h 207"/>
                    <a:gd name="T6" fmla="*/ 116446073 w 196"/>
                    <a:gd name="T7" fmla="*/ 9741099 h 207"/>
                    <a:gd name="T8" fmla="*/ 0 w 196"/>
                    <a:gd name="T9" fmla="*/ 9741099 h 207"/>
                    <a:gd name="T10" fmla="*/ 0 w 196"/>
                    <a:gd name="T11" fmla="*/ 403273699 h 207"/>
                    <a:gd name="T12" fmla="*/ 122267889 w 196"/>
                    <a:gd name="T13" fmla="*/ 403273699 h 207"/>
                    <a:gd name="T14" fmla="*/ 122267889 w 196"/>
                    <a:gd name="T15" fmla="*/ 208455898 h 207"/>
                    <a:gd name="T16" fmla="*/ 194075860 w 196"/>
                    <a:gd name="T17" fmla="*/ 107150698 h 207"/>
                    <a:gd name="T18" fmla="*/ 258121409 w 196"/>
                    <a:gd name="T19" fmla="*/ 212351500 h 207"/>
                    <a:gd name="T20" fmla="*/ 258121409 w 196"/>
                    <a:gd name="T21" fmla="*/ 403273699 h 207"/>
                    <a:gd name="T22" fmla="*/ 380389298 w 196"/>
                    <a:gd name="T23" fmla="*/ 403273699 h 207"/>
                    <a:gd name="T24" fmla="*/ 380389298 w 196"/>
                    <a:gd name="T25" fmla="*/ 187025200 h 207"/>
                    <a:gd name="T26" fmla="*/ 232890753 w 196"/>
                    <a:gd name="T27" fmla="*/ 0 h 2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96" h="207">
                      <a:moveTo>
                        <a:pt x="120" y="0"/>
                      </a:moveTo>
                      <a:cubicBezTo>
                        <a:pt x="90" y="0"/>
                        <a:pt x="69" y="16"/>
                        <a:pt x="61" y="32"/>
                      </a:cubicBezTo>
                      <a:cubicBezTo>
                        <a:pt x="60" y="32"/>
                        <a:pt x="60" y="32"/>
                        <a:pt x="60" y="32"/>
                      </a:cubicBezTo>
                      <a:cubicBezTo>
                        <a:pt x="60" y="5"/>
                        <a:pt x="60" y="5"/>
                        <a:pt x="6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07"/>
                        <a:pt x="0" y="207"/>
                        <a:pt x="0" y="207"/>
                      </a:cubicBezTo>
                      <a:cubicBezTo>
                        <a:pt x="63" y="207"/>
                        <a:pt x="63" y="207"/>
                        <a:pt x="63" y="207"/>
                      </a:cubicBezTo>
                      <a:cubicBezTo>
                        <a:pt x="63" y="107"/>
                        <a:pt x="63" y="107"/>
                        <a:pt x="63" y="107"/>
                      </a:cubicBezTo>
                      <a:cubicBezTo>
                        <a:pt x="63" y="81"/>
                        <a:pt x="68" y="55"/>
                        <a:pt x="100" y="55"/>
                      </a:cubicBezTo>
                      <a:cubicBezTo>
                        <a:pt x="133" y="55"/>
                        <a:pt x="133" y="85"/>
                        <a:pt x="133" y="109"/>
                      </a:cubicBezTo>
                      <a:cubicBezTo>
                        <a:pt x="133" y="207"/>
                        <a:pt x="133" y="207"/>
                        <a:pt x="133" y="207"/>
                      </a:cubicBezTo>
                      <a:cubicBezTo>
                        <a:pt x="196" y="207"/>
                        <a:pt x="196" y="207"/>
                        <a:pt x="196" y="207"/>
                      </a:cubicBezTo>
                      <a:cubicBezTo>
                        <a:pt x="196" y="96"/>
                        <a:pt x="196" y="96"/>
                        <a:pt x="196" y="96"/>
                      </a:cubicBezTo>
                      <a:cubicBezTo>
                        <a:pt x="196" y="42"/>
                        <a:pt x="184" y="0"/>
                        <a:pt x="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342900"/>
                  <a:endParaRPr lang="en-US" sz="1350">
                    <a:solidFill>
                      <a:srgbClr val="000000"/>
                    </a:solidFill>
                    <a:latin typeface="Verdana" panose="020B0604030504040204"/>
                  </a:endParaRPr>
                </a:p>
              </p:txBody>
            </p:sp>
          </p:grpSp>
        </p:grpSp>
      </p:grpSp>
      <p:pic>
        <p:nvPicPr>
          <p:cNvPr id="29" name="Picture 17" descr="A picture containing drawing  Description automatically generated">
            <a:extLst>
              <a:ext uri="{FF2B5EF4-FFF2-40B4-BE49-F238E27FC236}">
                <a16:creationId xmlns:a16="http://schemas.microsoft.com/office/drawing/2014/main" id="{72798266-E175-D346-32A5-453C2A9C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810" y="4011976"/>
            <a:ext cx="1512698" cy="61031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9F21A8-D479-AE3E-C982-46D448C59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276390" y="851877"/>
            <a:ext cx="2128557" cy="1945411"/>
          </a:xfrm>
          <a:prstGeom prst="ellipse">
            <a:avLst/>
          </a:prstGeom>
        </p:spPr>
      </p:pic>
      <p:pic>
        <p:nvPicPr>
          <p:cNvPr id="2" name="Picture 1" descr="Pro DAX with Power BI: Business Intelligence with PowerPivot and SQL Server Analysis Services Tabular">
            <a:extLst>
              <a:ext uri="{FF2B5EF4-FFF2-40B4-BE49-F238E27FC236}">
                <a16:creationId xmlns:a16="http://schemas.microsoft.com/office/drawing/2014/main" id="{2376CC7D-1821-0E08-12A7-C645BBB83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501" y="3198747"/>
            <a:ext cx="998118" cy="142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faster isn't the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was never finding articles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faster than anyone can read. New posts every day, from people worth reading.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Speed-reading more doesn't fix it — it just moves the overwhelm around.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bottleneck is digesting: connecting what I read across hundreds of articles.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need help finding. I needed help digesting.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28803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0" y="1554480"/>
            <a:ext cx="64008" cy="22860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7830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89320" y="2670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articles, and counting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3054096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handful of authors I trust — not the whole internet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curated corpus, not an archive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reflects a deliberate choice of who to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8862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30632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is the point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an encyclopedia. It mirrors a defend-and-grow map of the topics I rely on.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 is the law; community blogs are commentary.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the corpus sets the ceiling on every answer the hub can give.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18888" y="187452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Webb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135124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18888" y="222656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1351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Meagan Longoria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18888" y="257860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Ilić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9212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29306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8392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Pawar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191256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18888" y="328269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3191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Buhler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543300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8888" y="363474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35433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Quevauvilliers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895344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18888" y="398678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8953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 Rahman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4247388"/>
            <a:ext cx="39319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433882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42473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&amp; Power BI blogs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all lives: Obsidian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plain markdown in a vault I already think 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article is a plain-markdown note in an Obsidian vault.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and write markdown in Obsidian every day — so the corpus lives in the tool I already use to think and write.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store, no lock-in. Just files on disk, synced — the vault is the source of truth.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markdown + Obsidian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and future-proof — readable in any editor, 10 years from now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carries provenance: source, author, date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vectors, graph — is rebuildable from these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reach an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surfaces, two different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this about?”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Meaning-based similarity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articles close in meaning to your question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39776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1645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connects to what?”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the relationships between them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across articles to surface connections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complementary — neither alone is enough. The rest of the talk shows why.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foundation: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meaning into geometry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turns an article into a point in a high-dimensional space.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points mean similar meaning — not similar words.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becomes a point too. Retrieval is simply: what's nearest?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060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embeddings read 8K tokens — full articles, not just the first paragraph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text always maps to the same point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embedding-model choice matters more than most people realise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vector search hits its ceiling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powerful — until the question is about relationships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the corpus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868680"/>
          </a:xfrm>
          <a:prstGeom prst="roundRect">
            <a:avLst>
              <a:gd name="adj" fmla="val 5263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vault_indexer.py \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--query "Direct Lake guardrails"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language; get the nearest articles back, ranked.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is not relationship. Vector search finds articles about a topic — it can't tell you how two concepts connect across articles.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mismatch: “dax” vs “DAX”; a reframing article that never uses your words is invisible to it.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ceiling is exactly what motivates the graph layer.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graph layer: entities &amp; relationships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knowledge graph represents that a vector store can't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things: Direct Lake, calculation groups, semantic models, Tabular Editor.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“X depends on Y”, “A is an alternative to B”.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Cross-article bridges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the corpus only implies — stated nowhere, spread across several posts.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relationship-shaped questions a vector store structurally cannot reach.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graph gets built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extraction, merged into one growing 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80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article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Obsidian vault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&amp; relationships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350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27B, running locally via Ollama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734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one graph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026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LightRAG unifies entities across articles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4107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Batch-and-resume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batches; stop and resume any 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2468880" cy="260604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64008" cy="26060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645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down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94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compute-heavy — minutes per article. The design assumes compute is scarce.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a modest laptop. It just runs slower.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models — right tool per job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and extraction are different tasks, so they use different models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— the embedding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each article into a vector — meaning as geometry, for similarity search.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the same text always returns the exact same vector.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CPU-friendly — nomic-embed-text v1.5, 768 dimensions, 8K tokens.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 — the extraction model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articles and pulls out the entities and relationships that form the graph.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generative model — heavier, and runs locally through Ollama.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Stochastic: re-running samples again rather than converging on one truth.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exploring the knowledge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LightRAG server and opening the graph in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LightRAG server + Web UI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91440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lightrag-server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~/knowledgehub-lightrag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lightrag-server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Opens at http://127.0.0.1:9621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graph, made visible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as nodes, relationships as edges — the structure Gemma extracted, laid out in the browser.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≈66,000 entities and ≈84,000 relationships across ≈7,000 articles.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entity to walk its neighbours — the same traversal the retrieve tool makes.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and graph are complementary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side by side on the full corpus — neither dominates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97480" y="1417320"/>
            <a:ext cx="274320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2788920" cy="457200"/>
          </a:xfrm>
          <a:prstGeom prst="rect">
            <a:avLst/>
          </a:prstGeom>
          <a:solidFill>
            <a:srgbClr val="1A274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07208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(ChromaDB)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50408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 (LightRAG)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27432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40680" y="1874520"/>
            <a:ext cx="278892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07208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specifics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50408" y="1874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relationships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233172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233172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07208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X say about Y”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50408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connects X and Y”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97480" y="2788920"/>
            <a:ext cx="274320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40680" y="2788920"/>
            <a:ext cx="2788920" cy="457200"/>
          </a:xfrm>
          <a:prstGeom prst="rect">
            <a:avLst/>
          </a:prstGeom>
          <a:solidFill>
            <a:srgbClr val="EEF2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07208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concepts relate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50408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one-off details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42900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64008" cy="105156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36393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3877056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architecture question, run through both. Each surfaced articles the other missed — and feeding the graph's context to the companion added three Fabric-specific considerations the model didn't reach on its own.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architecture, end to 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 →  two indexers  →  MCP  →  thinking companion</a:t>
            </a:r>
            <a:endParaRPr lang="en-US" sz="1300" dirty="0"/>
          </a:p>
        </p:txBody>
      </p:sp>
      <p:pic>
        <p:nvPicPr>
          <p:cNvPr id="5" name="Image 0" descr="/home/claude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84124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bridge: a read-only MCP server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manual terminal step to a native tool call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160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used to be manual: run a query in the terminal, paste the context into the chat.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retrieval a native tool call the companion can make itself.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retrieves; the companion synthesises. Purely local — no cloud, no secrets.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920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read-only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783080"/>
            <a:ext cx="3749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92040" y="1783080"/>
            <a:ext cx="64008" cy="11430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17627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context + the articles the graph didn't reference — the value is the subtraction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3090672"/>
            <a:ext cx="3749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3090672"/>
            <a:ext cx="64008" cy="6400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3209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graph_stats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48386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relationship / article counts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3895344"/>
            <a:ext cx="3749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3895344"/>
            <a:ext cx="64008" cy="64008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40142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list_indexed_sources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428853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article tally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Live: retrieval as a native tool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inside Claude Desktop — no terminal, no paste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Claude Desktop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520440" cy="91440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should I consider 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Direct Lake guardrails?”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A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Claude calls retrieve()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 locally; Claude synthesises and cites.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 to native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run lightrag_query.py in a terminal, copy the context, paste it into the chat.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Claude calls retrieve itself — graph context plus the articles the graph didn't reference.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watch it in the browser: the server's Retrieval tab does the same retrieval, no script.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only retrieves; the companion does the reasoning.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Opus 4.8 does the answering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model's capability to the question's complexity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Knowledge Hub  ·  Data TGIF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matches complexity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harder the question, the more capable the model should be.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Synthesising across the grounded corpus — conflicting sources, trade-offs — is the hard part. That's Opus 4.8's job.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lookup, like a visual's property name, wouldn't need that depth.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edge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Haiku 4.5 could answer it, a plain web search probably could too.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hub doesn't earn its keep on trivia — it earns it on the hard, synthesis-heavy questions.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task; don't pay for capability the question doesn't need.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it honest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adds grounding — it doesn't make the model infallible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laundering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answer over a wrong retrieval is still wrong. Grounding is not the same as truth.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5727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stay 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graph run in parallel — each covers the other's blind spot.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vs intelligence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never dumb without the corpus. The corpus adds citable, dated sources — equal partners.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2880360"/>
            <a:ext cx="64008" cy="137160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36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0815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extraction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53872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Gemma doesn't approach truth — it samples again. A known, named limit.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note type: the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Obsidian's link system is an ideal home for the questions, too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vault stores articles. The natural next step is to store the questions.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becomes a markdown note that links — Obsidian-style — to the articles and entities it touched.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those links become a second, human-curated layer over the machine-extracted graph.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64008" cy="26974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6916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Obsidian links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2788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note links to its sources, so the answer's provenance is built in</a:t>
            </a:r>
            <a:endParaRPr lang="en-US" sz="12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interlink with each other and with articles</a:t>
            </a:r>
            <a:endParaRPr lang="en-US" sz="120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of questions is itself a knowledge 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Knowledge Hub is heading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don't rebuild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“DirectLake” / “Direct lake” into one entity via the LightRAG API — incrementally, no full rebuild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 the curation lens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substrate to spot fragmentation — one entity spelled three ways — and flag what needs merging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trust levels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Per-author, per-topic weighting that influences how conflicting sources are synthesised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to Fabric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extraction substrate, landed as Delta tables — a graph colleagues can 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 a corpus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of questions becomes a first-class, linkable part of the vault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Curate, don't accumulate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isn't more articles. It's a corpus worth reasoning over — and a companion that reasons over it honestly, and cites its sources.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corpus × 10: imagine your own trusted sources, structured this 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takes both — and who's accountable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grounds, the companion reasons — and the decision stays mine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both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without a companion is a better search box. The companion without the hub is fluent but ungrounded.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supplies dated, citable sources; reasoning turns them into an answer.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partners — neither alone is enough.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4008" cy="278892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is mine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helps with the reading AND the reasoning; I decide, and I own the outcome.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an F2048 today and find six months on that an F32 would have done? That's on me — not the companion's fault.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sharpens the call. It doesn't transfer the responsibility.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readings- more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A56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minceddata.net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blog, with a growing series of the knowledge hub:</a:t>
            </a:r>
            <a:b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minceddata.net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The+knowledge+hub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Building+a+Personal+Knowledge+Hub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44D7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public  repo that helps to get you started with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-based articles:</a:t>
            </a:r>
          </a:p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https://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github.com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tomatminceddata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/RSS-feed-sync</a:t>
            </a:r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  <p:pic>
        <p:nvPicPr>
          <p:cNvPr id="36" name="Picture 35">
            <a:hlinkClick r:id="rId2"/>
            <a:extLst>
              <a:ext uri="{FF2B5EF4-FFF2-40B4-BE49-F238E27FC236}">
                <a16:creationId xmlns:a16="http://schemas.microsoft.com/office/drawing/2014/main" id="{951B7387-96F9-8B9B-313F-106C259A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9" y="1408716"/>
            <a:ext cx="484632" cy="469487"/>
          </a:xfrm>
          <a:prstGeom prst="rect">
            <a:avLst/>
          </a:prstGeom>
        </p:spPr>
      </p:pic>
      <p:pic>
        <p:nvPicPr>
          <p:cNvPr id="37" name="Picture 36" descr="Image result for GitHub Logo Download">
            <a:hlinkClick r:id="rId4"/>
            <a:extLst>
              <a:ext uri="{FF2B5EF4-FFF2-40B4-BE49-F238E27FC236}">
                <a16:creationId xmlns:a16="http://schemas.microsoft.com/office/drawing/2014/main" id="{54D1CB71-31AD-2832-52BB-AEC8018E7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23" y="2093124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minceddata.net  —  the “Knowledge Hub” series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on LinkedIn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Kay Sauter &amp; the Data TGIF community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— the retrieval side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ideas behind the rabbit holes — none of it Fabric-specific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turned into a list of numbers that captures its meaning, so similar ideas sit close together in space.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context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word-pieces a model reads, and how many it takes in at once — the hub’s embedder handles about 8K.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that holds embeddings and finds the nearest ones to a query fast. ChromaDB plays this role here.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in meaning rather than wording — so “DAX” and “calculation language” can match with no shared words.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fetch relevant text first, then answer from it — grounding the answer in sources.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— graphs, models &amp; glue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 — still nothing Power BI-specific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facts: things connected by relationships, capturing how concepts link, not just what one article says.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6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6654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066544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thing pulled from the text — a feature, person, product or concept. These are the nodes of the graph.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(edge)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between two entities — “X depends on Y,” “A is an alternative to B.” The lines of the graph.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4198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419856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reads and writes language; here it extracts entities and reasons over what’s retrieved.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an open standard for a model to call external tools uniformly; the hub exposes retrieval as one.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few common mix-ups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vs. agent, and where the Copilot brand fits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5389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not an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89888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only exposes tools over a standard protocol; it decides nothing. The agent is what calls those tools to reach a goal — here, the companion.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74320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 brand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43200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product — it’s Microsoft’s umbrella name across M365, GitHub, Power BI and more. It tells you the family, not the specific tool.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07822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4440" y="40965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≈ Copilot Studio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4096512"/>
            <a:ext cx="4251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 analogy: both are where you wire a model up to tools and data. MCP servers play the role connectors and actions do in Copilot Studio.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520" y="4828032"/>
            <a:ext cx="75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2503</Words>
  <Application>Microsoft Macintosh PowerPoint</Application>
  <PresentationFormat>On-screen Show (16:9)</PresentationFormat>
  <Paragraphs>348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Consolas</vt:lpstr>
      <vt:lpstr>Courier New</vt:lpstr>
      <vt:lpstr>Trebuchet MS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Thomas 'Tom' Martens</cp:lastModifiedBy>
  <cp:revision>3</cp:revision>
  <dcterms:created xsi:type="dcterms:W3CDTF">2026-06-18T18:59:22Z</dcterms:created>
  <dcterms:modified xsi:type="dcterms:W3CDTF">2026-06-20T17:00:54Z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a6d409-389a-443a-9140-f8c0d12e1685_Enabled">
    <vt:lpwstr>true</vt:lpwstr>
  </property>
  <property fmtid="{D5CDD505-2E9C-101B-9397-08002B2CF9AE}" pid="3" name="MSIP_Label_7ea6d409-389a-443a-9140-f8c0d12e1685_SetDate">
    <vt:lpwstr>2026-06-18T19:07:13Z</vt:lpwstr>
  </property>
  <property fmtid="{D5CDD505-2E9C-101B-9397-08002B2CF9AE}" pid="4" name="MSIP_Label_7ea6d409-389a-443a-9140-f8c0d12e1685_Method">
    <vt:lpwstr>Standard</vt:lpwstr>
  </property>
  <property fmtid="{D5CDD505-2E9C-101B-9397-08002B2CF9AE}" pid="5" name="MSIP_Label_7ea6d409-389a-443a-9140-f8c0d12e1685_Name">
    <vt:lpwstr>C0 - public</vt:lpwstr>
  </property>
  <property fmtid="{D5CDD505-2E9C-101B-9397-08002B2CF9AE}" pid="6" name="MSIP_Label_7ea6d409-389a-443a-9140-f8c0d12e1685_SiteId">
    <vt:lpwstr>f62b8f20-f16e-4a6e-9b1f-6e2d2e6ac089</vt:lpwstr>
  </property>
  <property fmtid="{D5CDD505-2E9C-101B-9397-08002B2CF9AE}" pid="7" name="MSIP_Label_7ea6d409-389a-443a-9140-f8c0d12e1685_ActionId">
    <vt:lpwstr>904a4e7b-b7d0-438c-b8af-7c31c3285f59</vt:lpwstr>
  </property>
  <property fmtid="{D5CDD505-2E9C-101B-9397-08002B2CF9AE}" pid="8" name="MSIP_Label_7ea6d409-389a-443a-9140-f8c0d12e1685_ContentBits">
    <vt:lpwstr>0</vt:lpwstr>
  </property>
  <property fmtid="{D5CDD505-2E9C-101B-9397-08002B2CF9AE}" pid="9" name="MSIP_Label_7ea6d409-389a-443a-9140-f8c0d12e1685_Tag">
    <vt:lpwstr>50, 3, 0, 1</vt:lpwstr>
  </property>
</Properties>
</file>