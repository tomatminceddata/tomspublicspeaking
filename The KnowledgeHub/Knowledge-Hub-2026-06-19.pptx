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7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80" r:id="rId12"/>
    <p:sldId id="265" r:id="rId13"/>
    <p:sldId id="266" r:id="rId14"/>
    <p:sldId id="267" r:id="rId15"/>
    <p:sldId id="268" r:id="rId16"/>
    <p:sldId id="269" r:id="rId17"/>
    <p:sldId id="281" r:id="rId18"/>
    <p:sldId id="270" r:id="rId19"/>
    <p:sldId id="271" r:id="rId20"/>
    <p:sldId id="272" r:id="rId21"/>
    <p:sldId id="273" r:id="rId22"/>
    <p:sldId id="274" r:id="rId23"/>
    <p:sldId id="275" r:id="rId24"/>
    <p:sldId id="277" r:id="rId25"/>
    <p:sldId id="278" r:id="rId26"/>
    <p:sldId id="279" r:id="rId2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F01CDE7-59F6-7C4D-88AE-56F73677B3DB}" v="3" dt="2026-06-18T19:13:34.5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18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omas 'Tom' Martens" userId="35ccf0d4-9e71-4d15-bebb-7c78661c64b3" providerId="ADAL" clId="{E03DE0C9-265C-5EB4-8022-4A26346716CD}"/>
    <pc:docChg chg="custSel mod addSld modSld sldOrd">
      <pc:chgData name="Thomas 'Tom' Martens" userId="35ccf0d4-9e71-4d15-bebb-7c78661c64b3" providerId="ADAL" clId="{E03DE0C9-265C-5EB4-8022-4A26346716CD}" dt="2026-06-18T19:17:23.500" v="119" actId="20577"/>
      <pc:docMkLst>
        <pc:docMk/>
      </pc:docMkLst>
      <pc:sldChg chg="modSp mod">
        <pc:chgData name="Thomas 'Tom' Martens" userId="35ccf0d4-9e71-4d15-bebb-7c78661c64b3" providerId="ADAL" clId="{E03DE0C9-265C-5EB4-8022-4A26346716CD}" dt="2026-06-18T19:17:23.500" v="119" actId="20577"/>
        <pc:sldMkLst>
          <pc:docMk/>
          <pc:sldMk cId="0" sldId="274"/>
        </pc:sldMkLst>
        <pc:spChg chg="mod">
          <ac:chgData name="Thomas 'Tom' Martens" userId="35ccf0d4-9e71-4d15-bebb-7c78661c64b3" providerId="ADAL" clId="{E03DE0C9-265C-5EB4-8022-4A26346716CD}" dt="2026-06-18T19:17:23.500" v="119" actId="20577"/>
          <ac:spMkLst>
            <pc:docMk/>
            <pc:sldMk cId="0" sldId="274"/>
            <ac:spMk id="16" creationId="{00000000-0000-0000-0000-000000000000}"/>
          </ac:spMkLst>
        </pc:spChg>
      </pc:sldChg>
      <pc:sldChg chg="addSp delSp modSp add mod ord">
        <pc:chgData name="Thomas 'Tom' Martens" userId="35ccf0d4-9e71-4d15-bebb-7c78661c64b3" providerId="ADAL" clId="{E03DE0C9-265C-5EB4-8022-4A26346716CD}" dt="2026-06-18T19:16:15.747" v="75" actId="14100"/>
        <pc:sldMkLst>
          <pc:docMk/>
          <pc:sldMk cId="396920530" sldId="276"/>
        </pc:sldMkLst>
        <pc:spChg chg="del mod">
          <ac:chgData name="Thomas 'Tom' Martens" userId="35ccf0d4-9e71-4d15-bebb-7c78661c64b3" providerId="ADAL" clId="{E03DE0C9-265C-5EB4-8022-4A26346716CD}" dt="2026-06-18T19:14:00.651" v="67" actId="478"/>
          <ac:spMkLst>
            <pc:docMk/>
            <pc:sldMk cId="396920530" sldId="276"/>
            <ac:spMk id="2" creationId="{239F9680-137E-2D57-8884-E227D82D1D95}"/>
          </ac:spMkLst>
        </pc:spChg>
        <pc:spChg chg="del">
          <ac:chgData name="Thomas 'Tom' Martens" userId="35ccf0d4-9e71-4d15-bebb-7c78661c64b3" providerId="ADAL" clId="{E03DE0C9-265C-5EB4-8022-4A26346716CD}" dt="2026-06-18T19:07:23.378" v="12" actId="478"/>
          <ac:spMkLst>
            <pc:docMk/>
            <pc:sldMk cId="396920530" sldId="276"/>
            <ac:spMk id="3" creationId="{34052825-4F09-3C12-2DCA-9D41739EBF50}"/>
          </ac:spMkLst>
        </pc:spChg>
        <pc:spChg chg="del">
          <ac:chgData name="Thomas 'Tom' Martens" userId="35ccf0d4-9e71-4d15-bebb-7c78661c64b3" providerId="ADAL" clId="{E03DE0C9-265C-5EB4-8022-4A26346716CD}" dt="2026-06-18T19:07:23.378" v="12" actId="478"/>
          <ac:spMkLst>
            <pc:docMk/>
            <pc:sldMk cId="396920530" sldId="276"/>
            <ac:spMk id="5" creationId="{BB297C97-31C7-B6F5-A58F-274A46F8FF6C}"/>
          </ac:spMkLst>
        </pc:spChg>
        <pc:spChg chg="del">
          <ac:chgData name="Thomas 'Tom' Martens" userId="35ccf0d4-9e71-4d15-bebb-7c78661c64b3" providerId="ADAL" clId="{E03DE0C9-265C-5EB4-8022-4A26346716CD}" dt="2026-06-18T19:07:23.378" v="12" actId="478"/>
          <ac:spMkLst>
            <pc:docMk/>
            <pc:sldMk cId="396920530" sldId="276"/>
            <ac:spMk id="6" creationId="{C9892EF9-4367-F4AB-DC3A-4AB0F3A9FB3D}"/>
          </ac:spMkLst>
        </pc:spChg>
        <pc:spChg chg="del">
          <ac:chgData name="Thomas 'Tom' Martens" userId="35ccf0d4-9e71-4d15-bebb-7c78661c64b3" providerId="ADAL" clId="{E03DE0C9-265C-5EB4-8022-4A26346716CD}" dt="2026-06-18T19:07:23.378" v="12" actId="478"/>
          <ac:spMkLst>
            <pc:docMk/>
            <pc:sldMk cId="396920530" sldId="276"/>
            <ac:spMk id="7" creationId="{8D1B2EAA-C714-E376-416A-B5333FBE4BE9}"/>
          </ac:spMkLst>
        </pc:spChg>
        <pc:spChg chg="del">
          <ac:chgData name="Thomas 'Tom' Martens" userId="35ccf0d4-9e71-4d15-bebb-7c78661c64b3" providerId="ADAL" clId="{E03DE0C9-265C-5EB4-8022-4A26346716CD}" dt="2026-06-18T19:07:23.378" v="12" actId="478"/>
          <ac:spMkLst>
            <pc:docMk/>
            <pc:sldMk cId="396920530" sldId="276"/>
            <ac:spMk id="8" creationId="{6EFF3D2B-1BED-842B-4066-DC2ABC7E64C2}"/>
          </ac:spMkLst>
        </pc:spChg>
        <pc:spChg chg="del">
          <ac:chgData name="Thomas 'Tom' Martens" userId="35ccf0d4-9e71-4d15-bebb-7c78661c64b3" providerId="ADAL" clId="{E03DE0C9-265C-5EB4-8022-4A26346716CD}" dt="2026-06-18T19:07:23.378" v="12" actId="478"/>
          <ac:spMkLst>
            <pc:docMk/>
            <pc:sldMk cId="396920530" sldId="276"/>
            <ac:spMk id="9" creationId="{7F3EC89B-6B40-B2DC-A0B5-C89D9B79140C}"/>
          </ac:spMkLst>
        </pc:spChg>
        <pc:spChg chg="del">
          <ac:chgData name="Thomas 'Tom' Martens" userId="35ccf0d4-9e71-4d15-bebb-7c78661c64b3" providerId="ADAL" clId="{E03DE0C9-265C-5EB4-8022-4A26346716CD}" dt="2026-06-18T19:07:23.378" v="12" actId="478"/>
          <ac:spMkLst>
            <pc:docMk/>
            <pc:sldMk cId="396920530" sldId="276"/>
            <ac:spMk id="10" creationId="{868DB8A4-6C50-B3D6-D5F2-321F55206887}"/>
          </ac:spMkLst>
        </pc:spChg>
        <pc:spChg chg="add mod">
          <ac:chgData name="Thomas 'Tom' Martens" userId="35ccf0d4-9e71-4d15-bebb-7c78661c64b3" providerId="ADAL" clId="{E03DE0C9-265C-5EB4-8022-4A26346716CD}" dt="2026-06-18T19:08:34.233" v="13"/>
          <ac:spMkLst>
            <pc:docMk/>
            <pc:sldMk cId="396920530" sldId="276"/>
            <ac:spMk id="12" creationId="{36AD202A-1F96-7A90-08FD-9B71FD211D6F}"/>
          </ac:spMkLst>
        </pc:spChg>
        <pc:spChg chg="add mod">
          <ac:chgData name="Thomas 'Tom' Martens" userId="35ccf0d4-9e71-4d15-bebb-7c78661c64b3" providerId="ADAL" clId="{E03DE0C9-265C-5EB4-8022-4A26346716CD}" dt="2026-06-18T19:08:34.233" v="13"/>
          <ac:spMkLst>
            <pc:docMk/>
            <pc:sldMk cId="396920530" sldId="276"/>
            <ac:spMk id="13" creationId="{C89EA98D-74AD-E120-1139-08FC53E21876}"/>
          </ac:spMkLst>
        </pc:spChg>
        <pc:spChg chg="add mod">
          <ac:chgData name="Thomas 'Tom' Martens" userId="35ccf0d4-9e71-4d15-bebb-7c78661c64b3" providerId="ADAL" clId="{E03DE0C9-265C-5EB4-8022-4A26346716CD}" dt="2026-06-18T19:09:41.321" v="50" actId="20577"/>
          <ac:spMkLst>
            <pc:docMk/>
            <pc:sldMk cId="396920530" sldId="276"/>
            <ac:spMk id="14" creationId="{E2B92BD7-A442-1D40-FCB7-FF354CC500B7}"/>
          </ac:spMkLst>
        </pc:spChg>
        <pc:spChg chg="add mod">
          <ac:chgData name="Thomas 'Tom' Martens" userId="35ccf0d4-9e71-4d15-bebb-7c78661c64b3" providerId="ADAL" clId="{E03DE0C9-265C-5EB4-8022-4A26346716CD}" dt="2026-06-18T19:08:34.233" v="13"/>
          <ac:spMkLst>
            <pc:docMk/>
            <pc:sldMk cId="396920530" sldId="276"/>
            <ac:spMk id="15" creationId="{9DC03715-3CAC-11A6-A0D4-6478B1597AF9}"/>
          </ac:spMkLst>
        </pc:spChg>
        <pc:spChg chg="add del mod">
          <ac:chgData name="Thomas 'Tom' Martens" userId="35ccf0d4-9e71-4d15-bebb-7c78661c64b3" providerId="ADAL" clId="{E03DE0C9-265C-5EB4-8022-4A26346716CD}" dt="2026-06-18T19:13:50.022" v="66" actId="478"/>
          <ac:spMkLst>
            <pc:docMk/>
            <pc:sldMk cId="396920530" sldId="276"/>
            <ac:spMk id="16" creationId="{E798DF5C-9E4A-A889-06C1-C91633334884}"/>
          </ac:spMkLst>
        </pc:spChg>
        <pc:spChg chg="mod">
          <ac:chgData name="Thomas 'Tom' Martens" userId="35ccf0d4-9e71-4d15-bebb-7c78661c64b3" providerId="ADAL" clId="{E03DE0C9-265C-5EB4-8022-4A26346716CD}" dt="2026-06-18T19:08:34.233" v="13"/>
          <ac:spMkLst>
            <pc:docMk/>
            <pc:sldMk cId="396920530" sldId="276"/>
            <ac:spMk id="19" creationId="{2DFCC151-DD72-2766-2D1D-601AACC174A9}"/>
          </ac:spMkLst>
        </pc:spChg>
        <pc:spChg chg="mod">
          <ac:chgData name="Thomas 'Tom' Martens" userId="35ccf0d4-9e71-4d15-bebb-7c78661c64b3" providerId="ADAL" clId="{E03DE0C9-265C-5EB4-8022-4A26346716CD}" dt="2026-06-18T19:08:34.233" v="13"/>
          <ac:spMkLst>
            <pc:docMk/>
            <pc:sldMk cId="396920530" sldId="276"/>
            <ac:spMk id="22" creationId="{E87E41E8-4BC8-4A70-7092-E0422F788819}"/>
          </ac:spMkLst>
        </pc:spChg>
        <pc:spChg chg="mod">
          <ac:chgData name="Thomas 'Tom' Martens" userId="35ccf0d4-9e71-4d15-bebb-7c78661c64b3" providerId="ADAL" clId="{E03DE0C9-265C-5EB4-8022-4A26346716CD}" dt="2026-06-18T19:08:34.233" v="13"/>
          <ac:spMkLst>
            <pc:docMk/>
            <pc:sldMk cId="396920530" sldId="276"/>
            <ac:spMk id="24" creationId="{3E12AE9D-E473-6278-A63C-66AB8800B8D4}"/>
          </ac:spMkLst>
        </pc:spChg>
        <pc:spChg chg="mod">
          <ac:chgData name="Thomas 'Tom' Martens" userId="35ccf0d4-9e71-4d15-bebb-7c78661c64b3" providerId="ADAL" clId="{E03DE0C9-265C-5EB4-8022-4A26346716CD}" dt="2026-06-18T19:08:34.233" v="13"/>
          <ac:spMkLst>
            <pc:docMk/>
            <pc:sldMk cId="396920530" sldId="276"/>
            <ac:spMk id="26" creationId="{147335F5-7153-48B9-6FE0-F7958691B081}"/>
          </ac:spMkLst>
        </pc:spChg>
        <pc:spChg chg="mod">
          <ac:chgData name="Thomas 'Tom' Martens" userId="35ccf0d4-9e71-4d15-bebb-7c78661c64b3" providerId="ADAL" clId="{E03DE0C9-265C-5EB4-8022-4A26346716CD}" dt="2026-06-18T19:08:34.233" v="13"/>
          <ac:spMkLst>
            <pc:docMk/>
            <pc:sldMk cId="396920530" sldId="276"/>
            <ac:spMk id="28" creationId="{57F3E133-4205-C790-21B2-6636BB7BE80C}"/>
          </ac:spMkLst>
        </pc:spChg>
        <pc:picChg chg="add mod">
          <ac:chgData name="Thomas 'Tom' Martens" userId="35ccf0d4-9e71-4d15-bebb-7c78661c64b3" providerId="ADAL" clId="{E03DE0C9-265C-5EB4-8022-4A26346716CD}" dt="2026-06-18T19:16:06.132" v="73" actId="1076"/>
          <ac:picMkLst>
            <pc:docMk/>
            <pc:sldMk cId="396920530" sldId="276"/>
            <ac:picMk id="2" creationId="{2376CC7D-1821-0E08-12A7-C645BBB83059}"/>
          </ac:picMkLst>
        </pc:picChg>
        <pc:picChg chg="del">
          <ac:chgData name="Thomas 'Tom' Martens" userId="35ccf0d4-9e71-4d15-bebb-7c78661c64b3" providerId="ADAL" clId="{E03DE0C9-265C-5EB4-8022-4A26346716CD}" dt="2026-06-18T19:09:45.915" v="51" actId="478"/>
          <ac:picMkLst>
            <pc:docMk/>
            <pc:sldMk cId="396920530" sldId="276"/>
            <ac:picMk id="17" creationId="{9F78FC21-E53E-CBBC-2741-C455057B6414}"/>
          </ac:picMkLst>
        </pc:picChg>
        <pc:picChg chg="del">
          <ac:chgData name="Thomas 'Tom' Martens" userId="35ccf0d4-9e71-4d15-bebb-7c78661c64b3" providerId="ADAL" clId="{E03DE0C9-265C-5EB4-8022-4A26346716CD}" dt="2026-06-18T19:14:10.966" v="68" actId="478"/>
          <ac:picMkLst>
            <pc:docMk/>
            <pc:sldMk cId="396920530" sldId="276"/>
            <ac:picMk id="30" creationId="{8672CB92-131F-7BA6-CC96-8A539683A4D4}"/>
          </ac:picMkLst>
        </pc:picChg>
        <pc:picChg chg="add del mod">
          <ac:chgData name="Thomas 'Tom' Martens" userId="35ccf0d4-9e71-4d15-bebb-7c78661c64b3" providerId="ADAL" clId="{E03DE0C9-265C-5EB4-8022-4A26346716CD}" dt="2026-06-18T19:12:17.725" v="58" actId="478"/>
          <ac:picMkLst>
            <pc:docMk/>
            <pc:sldMk cId="396920530" sldId="276"/>
            <ac:picMk id="32" creationId="{1EA30A8C-9D81-851A-381F-BD3643744334}"/>
          </ac:picMkLst>
        </pc:picChg>
        <pc:picChg chg="add mod">
          <ac:chgData name="Thomas 'Tom' Martens" userId="35ccf0d4-9e71-4d15-bebb-7c78661c64b3" providerId="ADAL" clId="{E03DE0C9-265C-5EB4-8022-4A26346716CD}" dt="2026-06-18T19:16:15.747" v="75" actId="14100"/>
          <ac:picMkLst>
            <pc:docMk/>
            <pc:sldMk cId="396920530" sldId="276"/>
            <ac:picMk id="34" creationId="{559F21A8-D479-AE3E-C982-46D448C5977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8752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89C06-A739-6A71-DB64-4FD9AC8CB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C0F1F8-5823-252B-421C-335A2605A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AADEDB-40F6-C909-5F16-D688E5BF6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26735-1E75-6C13-CA57-5A2E25DEB3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6717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e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1097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164592"/>
            <a:ext cx="1371600" cy="54864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 the Knowledge Hub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233172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reading faster isn't the answer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971800"/>
            <a:ext cx="18288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31546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local-first RAG and knowledge graph over a curated Microsoft Fabric &amp; Power BI corpus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F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31520" y="4663440"/>
            <a:ext cx="7680960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Martens</a:t>
            </a:r>
            <a:b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Created: 2026-06-19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8B9BD-EBBE-7AD2-E319-C6BF94A8A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7D4DFEED-A305-4AB9-B29B-7D34C52E8F18}"/>
              </a:ext>
            </a:extLst>
          </p:cNvPr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0">
            <a:extLst>
              <a:ext uri="{FF2B5EF4-FFF2-40B4-BE49-F238E27FC236}">
                <a16:creationId xmlns:a16="http://schemas.microsoft.com/office/drawing/2014/main" id="{36AD202A-1F96-7A90-08FD-9B71FD211D6F}"/>
              </a:ext>
            </a:extLst>
          </p:cNvPr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92A9B9"/>
          </a:solidFill>
          <a:ln w="12700">
            <a:solidFill>
              <a:srgbClr val="92A9B9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C89EA98D-74AD-E120-1139-08FC53E21876}"/>
              </a:ext>
            </a:extLst>
          </p:cNvPr>
          <p:cNvSpPr/>
          <p:nvPr/>
        </p:nvSpPr>
        <p:spPr>
          <a:xfrm>
            <a:off x="320040" y="14630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Tom Martens</a:t>
            </a:r>
            <a:endParaRPr lang="en-US" sz="3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E2B92BD7-A442-1D40-FCB7-FF354CC500B7}"/>
              </a:ext>
            </a:extLst>
          </p:cNvPr>
          <p:cNvSpPr/>
          <p:nvPr/>
        </p:nvSpPr>
        <p:spPr>
          <a:xfrm>
            <a:off x="320040" y="2148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Architect @ Munich Re </a:t>
            </a:r>
            <a:b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</a:br>
            <a:r>
              <a:rPr 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(and a little bit of free lancing)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5" name="Text 3">
            <a:extLst>
              <a:ext uri="{FF2B5EF4-FFF2-40B4-BE49-F238E27FC236}">
                <a16:creationId xmlns:a16="http://schemas.microsoft.com/office/drawing/2014/main" id="{9DC03715-3CAC-11A6-A0D4-6478B1597AF9}"/>
              </a:ext>
            </a:extLst>
          </p:cNvPr>
          <p:cNvSpPr/>
          <p:nvPr/>
        </p:nvSpPr>
        <p:spPr>
          <a:xfrm>
            <a:off x="320040" y="265176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 years of experience designing analytical solutions using the Microsoft data platform</a:t>
            </a:r>
            <a:endParaRPr 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822A6AA-7C0F-D0E2-79EE-6D516D2D7B0A}"/>
              </a:ext>
            </a:extLst>
          </p:cNvPr>
          <p:cNvGrpSpPr/>
          <p:nvPr/>
        </p:nvGrpSpPr>
        <p:grpSpPr>
          <a:xfrm>
            <a:off x="317864" y="4091589"/>
            <a:ext cx="3417081" cy="640080"/>
            <a:chOff x="560559" y="3840480"/>
            <a:chExt cx="3417081" cy="640080"/>
          </a:xfrm>
        </p:grpSpPr>
        <p:sp>
          <p:nvSpPr>
            <p:cNvPr id="19" name="Text 4">
              <a:extLst>
                <a:ext uri="{FF2B5EF4-FFF2-40B4-BE49-F238E27FC236}">
                  <a16:creationId xmlns:a16="http://schemas.microsoft.com/office/drawing/2014/main" id="{2DFCC151-DD72-2766-2D1D-601AACC174A9}"/>
                </a:ext>
              </a:extLst>
            </p:cNvPr>
            <p:cNvSpPr/>
            <p:nvPr/>
          </p:nvSpPr>
          <p:spPr>
            <a:xfrm>
              <a:off x="836908" y="3840480"/>
              <a:ext cx="3140732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/tommartens68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marL="0" indent="0" algn="l">
                <a:buNone/>
              </a:pPr>
              <a:r>
                <a:rPr lang="en-US" sz="12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@tommartens68</a:t>
              </a:r>
              <a:endPara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grpSp>
          <p:nvGrpSpPr>
            <p:cNvPr id="20" name="Group 37">
              <a:extLst>
                <a:ext uri="{FF2B5EF4-FFF2-40B4-BE49-F238E27FC236}">
                  <a16:creationId xmlns:a16="http://schemas.microsoft.com/office/drawing/2014/main" id="{1518DE47-05B0-D60D-5722-37517B9D7D97}"/>
                </a:ext>
              </a:extLst>
            </p:cNvPr>
            <p:cNvGrpSpPr/>
            <p:nvPr/>
          </p:nvGrpSpPr>
          <p:grpSpPr>
            <a:xfrm>
              <a:off x="560559" y="4188782"/>
              <a:ext cx="172200" cy="172200"/>
              <a:chOff x="470537" y="3886355"/>
              <a:chExt cx="229600" cy="229600"/>
            </a:xfrm>
          </p:grpSpPr>
          <p:sp>
            <p:nvSpPr>
              <p:cNvPr id="27" name="Rounded Rectangle 38">
                <a:extLst>
                  <a:ext uri="{FF2B5EF4-FFF2-40B4-BE49-F238E27FC236}">
                    <a16:creationId xmlns:a16="http://schemas.microsoft.com/office/drawing/2014/main" id="{C6D83224-AB42-6EA6-21C3-15988B81605F}"/>
                  </a:ext>
                </a:extLst>
              </p:cNvPr>
              <p:cNvSpPr/>
              <p:nvPr/>
            </p:nvSpPr>
            <p:spPr>
              <a:xfrm>
                <a:off x="470537" y="3886355"/>
                <a:ext cx="229600" cy="229600"/>
              </a:xfrm>
              <a:prstGeom prst="roundRect">
                <a:avLst/>
              </a:prstGeom>
              <a:solidFill>
                <a:schemeClr val="tx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/>
                <a:endParaRPr lang="en-US" sz="1350" dirty="0">
                  <a:solidFill>
                    <a:srgbClr val="FFFFFF"/>
                  </a:solidFill>
                  <a:latin typeface="Verdana" panose="020B0604030504040204"/>
                </a:endParaRPr>
              </a:p>
            </p:txBody>
          </p:sp>
          <p:sp>
            <p:nvSpPr>
              <p:cNvPr id="28" name="Freeform 383">
                <a:extLst>
                  <a:ext uri="{FF2B5EF4-FFF2-40B4-BE49-F238E27FC236}">
                    <a16:creationId xmlns:a16="http://schemas.microsoft.com/office/drawing/2014/main" id="{57F3E133-4205-C790-21B2-6636BB7BE80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37770" y="3958471"/>
                <a:ext cx="103392" cy="89503"/>
              </a:xfrm>
              <a:custGeom>
                <a:avLst/>
                <a:gdLst>
                  <a:gd name="T0" fmla="*/ 458484450 w 64"/>
                  <a:gd name="T1" fmla="*/ 49083328 h 56"/>
                  <a:gd name="T2" fmla="*/ 408336961 w 64"/>
                  <a:gd name="T3" fmla="*/ 63107136 h 56"/>
                  <a:gd name="T4" fmla="*/ 444156978 w 64"/>
                  <a:gd name="T5" fmla="*/ 7011904 h 56"/>
                  <a:gd name="T6" fmla="*/ 386847091 w 64"/>
                  <a:gd name="T7" fmla="*/ 28047616 h 56"/>
                  <a:gd name="T8" fmla="*/ 386847091 w 64"/>
                  <a:gd name="T9" fmla="*/ 28047616 h 56"/>
                  <a:gd name="T10" fmla="*/ 315207056 w 64"/>
                  <a:gd name="T11" fmla="*/ 0 h 56"/>
                  <a:gd name="T12" fmla="*/ 222077151 w 64"/>
                  <a:gd name="T13" fmla="*/ 98166656 h 56"/>
                  <a:gd name="T14" fmla="*/ 229242225 w 64"/>
                  <a:gd name="T15" fmla="*/ 119202368 h 56"/>
                  <a:gd name="T16" fmla="*/ 229242225 w 64"/>
                  <a:gd name="T17" fmla="*/ 119202368 h 56"/>
                  <a:gd name="T18" fmla="*/ 28654944 w 64"/>
                  <a:gd name="T19" fmla="*/ 21035712 h 56"/>
                  <a:gd name="T20" fmla="*/ 57309887 w 64"/>
                  <a:gd name="T21" fmla="*/ 147249984 h 56"/>
                  <a:gd name="T22" fmla="*/ 14327472 w 64"/>
                  <a:gd name="T23" fmla="*/ 140238080 h 56"/>
                  <a:gd name="T24" fmla="*/ 85964831 w 64"/>
                  <a:gd name="T25" fmla="*/ 238404736 h 56"/>
                  <a:gd name="T26" fmla="*/ 42982415 w 64"/>
                  <a:gd name="T27" fmla="*/ 238404736 h 56"/>
                  <a:gd name="T28" fmla="*/ 128949923 w 64"/>
                  <a:gd name="T29" fmla="*/ 308523776 h 56"/>
                  <a:gd name="T30" fmla="*/ 0 w 64"/>
                  <a:gd name="T31" fmla="*/ 350595200 h 56"/>
                  <a:gd name="T32" fmla="*/ 150439792 w 64"/>
                  <a:gd name="T33" fmla="*/ 392666624 h 56"/>
                  <a:gd name="T34" fmla="*/ 415502035 w 64"/>
                  <a:gd name="T35" fmla="*/ 98166656 h 56"/>
                  <a:gd name="T36" fmla="*/ 415502035 w 64"/>
                  <a:gd name="T37" fmla="*/ 98166656 h 56"/>
                  <a:gd name="T38" fmla="*/ 415502035 w 64"/>
                  <a:gd name="T39" fmla="*/ 98166656 h 56"/>
                  <a:gd name="T40" fmla="*/ 415502035 w 64"/>
                  <a:gd name="T41" fmla="*/ 98166656 h 56"/>
                  <a:gd name="T42" fmla="*/ 458484450 w 64"/>
                  <a:gd name="T43" fmla="*/ 49083328 h 56"/>
                  <a:gd name="T44" fmla="*/ 0 60000 65536"/>
                  <a:gd name="T45" fmla="*/ 0 60000 65536"/>
                  <a:gd name="T46" fmla="*/ 0 60000 65536"/>
                  <a:gd name="T47" fmla="*/ 0 60000 65536"/>
                  <a:gd name="T48" fmla="*/ 0 60000 65536"/>
                  <a:gd name="T49" fmla="*/ 0 60000 65536"/>
                  <a:gd name="T50" fmla="*/ 0 60000 65536"/>
                  <a:gd name="T51" fmla="*/ 0 60000 65536"/>
                  <a:gd name="T52" fmla="*/ 0 60000 65536"/>
                  <a:gd name="T53" fmla="*/ 0 60000 65536"/>
                  <a:gd name="T54" fmla="*/ 0 60000 65536"/>
                  <a:gd name="T55" fmla="*/ 0 60000 65536"/>
                  <a:gd name="T56" fmla="*/ 0 60000 65536"/>
                  <a:gd name="T57" fmla="*/ 0 60000 65536"/>
                  <a:gd name="T58" fmla="*/ 0 60000 65536"/>
                  <a:gd name="T59" fmla="*/ 0 60000 65536"/>
                  <a:gd name="T60" fmla="*/ 0 60000 65536"/>
                  <a:gd name="T61" fmla="*/ 0 60000 65536"/>
                  <a:gd name="T62" fmla="*/ 0 60000 65536"/>
                  <a:gd name="T63" fmla="*/ 0 60000 65536"/>
                  <a:gd name="T64" fmla="*/ 0 60000 65536"/>
                  <a:gd name="T65" fmla="*/ 0 60000 65536"/>
                </a:gdLst>
                <a:ahLst/>
                <a:cxnLst>
                  <a:cxn ang="T44">
                    <a:pos x="T0" y="T1"/>
                  </a:cxn>
                  <a:cxn ang="T45">
                    <a:pos x="T2" y="T3"/>
                  </a:cxn>
                  <a:cxn ang="T46">
                    <a:pos x="T4" y="T5"/>
                  </a:cxn>
                  <a:cxn ang="T47">
                    <a:pos x="T6" y="T7"/>
                  </a:cxn>
                  <a:cxn ang="T48">
                    <a:pos x="T8" y="T9"/>
                  </a:cxn>
                  <a:cxn ang="T49">
                    <a:pos x="T10" y="T11"/>
                  </a:cxn>
                  <a:cxn ang="T50">
                    <a:pos x="T12" y="T13"/>
                  </a:cxn>
                  <a:cxn ang="T51">
                    <a:pos x="T14" y="T15"/>
                  </a:cxn>
                  <a:cxn ang="T52">
                    <a:pos x="T16" y="T17"/>
                  </a:cxn>
                  <a:cxn ang="T53">
                    <a:pos x="T18" y="T19"/>
                  </a:cxn>
                  <a:cxn ang="T54">
                    <a:pos x="T20" y="T21"/>
                  </a:cxn>
                  <a:cxn ang="T55">
                    <a:pos x="T22" y="T23"/>
                  </a:cxn>
                  <a:cxn ang="T56">
                    <a:pos x="T24" y="T25"/>
                  </a:cxn>
                  <a:cxn ang="T57">
                    <a:pos x="T26" y="T27"/>
                  </a:cxn>
                  <a:cxn ang="T58">
                    <a:pos x="T28" y="T29"/>
                  </a:cxn>
                  <a:cxn ang="T59">
                    <a:pos x="T30" y="T31"/>
                  </a:cxn>
                  <a:cxn ang="T60">
                    <a:pos x="T32" y="T33"/>
                  </a:cxn>
                  <a:cxn ang="T61">
                    <a:pos x="T34" y="T35"/>
                  </a:cxn>
                  <a:cxn ang="T62">
                    <a:pos x="T36" y="T37"/>
                  </a:cxn>
                  <a:cxn ang="T63">
                    <a:pos x="T38" y="T39"/>
                  </a:cxn>
                  <a:cxn ang="T64">
                    <a:pos x="T40" y="T41"/>
                  </a:cxn>
                  <a:cxn ang="T65">
                    <a:pos x="T42" y="T43"/>
                  </a:cxn>
                </a:cxnLst>
                <a:rect l="0" t="0" r="r" b="b"/>
                <a:pathLst>
                  <a:path w="64" h="56">
                    <a:moveTo>
                      <a:pt x="64" y="7"/>
                    </a:moveTo>
                    <a:cubicBezTo>
                      <a:pt x="63" y="7"/>
                      <a:pt x="60" y="9"/>
                      <a:pt x="57" y="9"/>
                    </a:cubicBezTo>
                    <a:cubicBezTo>
                      <a:pt x="59" y="8"/>
                      <a:pt x="61" y="4"/>
                      <a:pt x="62" y="1"/>
                    </a:cubicBezTo>
                    <a:cubicBezTo>
                      <a:pt x="60" y="3"/>
                      <a:pt x="56" y="4"/>
                      <a:pt x="54" y="4"/>
                    </a:cubicBezTo>
                    <a:cubicBezTo>
                      <a:pt x="54" y="4"/>
                      <a:pt x="54" y="4"/>
                      <a:pt x="54" y="4"/>
                    </a:cubicBezTo>
                    <a:cubicBezTo>
                      <a:pt x="52" y="2"/>
                      <a:pt x="48" y="0"/>
                      <a:pt x="44" y="0"/>
                    </a:cubicBezTo>
                    <a:cubicBezTo>
                      <a:pt x="37" y="0"/>
                      <a:pt x="31" y="6"/>
                      <a:pt x="31" y="14"/>
                    </a:cubicBezTo>
                    <a:cubicBezTo>
                      <a:pt x="31" y="15"/>
                      <a:pt x="31" y="16"/>
                      <a:pt x="32" y="17"/>
                    </a:cubicBezTo>
                    <a:cubicBezTo>
                      <a:pt x="32" y="17"/>
                      <a:pt x="32" y="17"/>
                      <a:pt x="32" y="17"/>
                    </a:cubicBezTo>
                    <a:cubicBezTo>
                      <a:pt x="22" y="17"/>
                      <a:pt x="10" y="12"/>
                      <a:pt x="4" y="3"/>
                    </a:cubicBezTo>
                    <a:cubicBezTo>
                      <a:pt x="0" y="10"/>
                      <a:pt x="3" y="18"/>
                      <a:pt x="8" y="21"/>
                    </a:cubicBezTo>
                    <a:cubicBezTo>
                      <a:pt x="6" y="22"/>
                      <a:pt x="3" y="21"/>
                      <a:pt x="2" y="20"/>
                    </a:cubicBezTo>
                    <a:cubicBezTo>
                      <a:pt x="2" y="25"/>
                      <a:pt x="4" y="31"/>
                      <a:pt x="12" y="34"/>
                    </a:cubicBezTo>
                    <a:cubicBezTo>
                      <a:pt x="10" y="35"/>
                      <a:pt x="8" y="34"/>
                      <a:pt x="6" y="34"/>
                    </a:cubicBezTo>
                    <a:cubicBezTo>
                      <a:pt x="7" y="38"/>
                      <a:pt x="12" y="44"/>
                      <a:pt x="18" y="44"/>
                    </a:cubicBezTo>
                    <a:cubicBezTo>
                      <a:pt x="16" y="46"/>
                      <a:pt x="9" y="51"/>
                      <a:pt x="0" y="50"/>
                    </a:cubicBezTo>
                    <a:cubicBezTo>
                      <a:pt x="6" y="54"/>
                      <a:pt x="13" y="56"/>
                      <a:pt x="21" y="56"/>
                    </a:cubicBezTo>
                    <a:cubicBezTo>
                      <a:pt x="42" y="56"/>
                      <a:pt x="58" y="37"/>
                      <a:pt x="58" y="14"/>
                    </a:cubicBezTo>
                    <a:cubicBezTo>
                      <a:pt x="58" y="14"/>
                      <a:pt x="58" y="14"/>
                      <a:pt x="58" y="14"/>
                    </a:cubicBezTo>
                    <a:cubicBezTo>
                      <a:pt x="58" y="14"/>
                      <a:pt x="58" y="14"/>
                      <a:pt x="58" y="14"/>
                    </a:cubicBezTo>
                    <a:cubicBezTo>
                      <a:pt x="58" y="14"/>
                      <a:pt x="58" y="14"/>
                      <a:pt x="58" y="14"/>
                    </a:cubicBezTo>
                    <a:cubicBezTo>
                      <a:pt x="60" y="13"/>
                      <a:pt x="62" y="10"/>
                      <a:pt x="64" y="7"/>
                    </a:cubicBezTo>
                    <a:close/>
                  </a:path>
                </a:pathLst>
              </a:custGeom>
              <a:solidFill>
                <a:schemeClr val="bg2"/>
              </a:solidFill>
              <a:ln>
                <a:noFill/>
              </a:ln>
            </p:spPr>
            <p:txBody>
              <a:bodyPr/>
              <a:lstStyle/>
              <a:p>
                <a:pPr defTabSz="342900"/>
                <a:endParaRPr lang="en-US" sz="1350">
                  <a:solidFill>
                    <a:srgbClr val="000000"/>
                  </a:solidFill>
                  <a:latin typeface="Verdana" panose="020B0604030504040204"/>
                </a:endParaRPr>
              </a:p>
            </p:txBody>
          </p:sp>
        </p:grpSp>
        <p:grpSp>
          <p:nvGrpSpPr>
            <p:cNvPr id="21" name="Group 40">
              <a:extLst>
                <a:ext uri="{FF2B5EF4-FFF2-40B4-BE49-F238E27FC236}">
                  <a16:creationId xmlns:a16="http://schemas.microsoft.com/office/drawing/2014/main" id="{59861093-5D8A-B4A1-5741-9AA2057EEE37}"/>
                </a:ext>
              </a:extLst>
            </p:cNvPr>
            <p:cNvGrpSpPr/>
            <p:nvPr/>
          </p:nvGrpSpPr>
          <p:grpSpPr>
            <a:xfrm>
              <a:off x="560559" y="3977285"/>
              <a:ext cx="172200" cy="172200"/>
              <a:chOff x="470535" y="3492943"/>
              <a:chExt cx="229600" cy="229600"/>
            </a:xfrm>
          </p:grpSpPr>
          <p:sp>
            <p:nvSpPr>
              <p:cNvPr id="22" name="Rounded Rectangle 41">
                <a:extLst>
                  <a:ext uri="{FF2B5EF4-FFF2-40B4-BE49-F238E27FC236}">
                    <a16:creationId xmlns:a16="http://schemas.microsoft.com/office/drawing/2014/main" id="{E87E41E8-4BC8-4A70-7092-E0422F788819}"/>
                  </a:ext>
                </a:extLst>
              </p:cNvPr>
              <p:cNvSpPr/>
              <p:nvPr/>
            </p:nvSpPr>
            <p:spPr>
              <a:xfrm>
                <a:off x="470535" y="3492943"/>
                <a:ext cx="229600" cy="229600"/>
              </a:xfrm>
              <a:prstGeom prst="roundRect">
                <a:avLst/>
              </a:prstGeom>
              <a:solidFill>
                <a:schemeClr val="tx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 defTabSz="342900"/>
                <a:endParaRPr lang="en-US" sz="1350">
                  <a:solidFill>
                    <a:srgbClr val="FFFFFF"/>
                  </a:solidFill>
                  <a:latin typeface="Verdana" panose="020B0604030504040204"/>
                </a:endParaRPr>
              </a:p>
            </p:txBody>
          </p:sp>
          <p:grpSp>
            <p:nvGrpSpPr>
              <p:cNvPr id="23" name="Group 1216">
                <a:extLst>
                  <a:ext uri="{FF2B5EF4-FFF2-40B4-BE49-F238E27FC236}">
                    <a16:creationId xmlns:a16="http://schemas.microsoft.com/office/drawing/2014/main" id="{ED90FAE7-7796-BAA1-1285-2EB12B22428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538132" y="3551431"/>
                <a:ext cx="101582" cy="101580"/>
                <a:chOff x="8400256" y="3573016"/>
                <a:chExt cx="423863" cy="422275"/>
              </a:xfrm>
              <a:solidFill>
                <a:schemeClr val="bg2"/>
              </a:solidFill>
            </p:grpSpPr>
            <p:sp>
              <p:nvSpPr>
                <p:cNvPr id="24" name="Oval 315">
                  <a:extLst>
                    <a:ext uri="{FF2B5EF4-FFF2-40B4-BE49-F238E27FC236}">
                      <a16:creationId xmlns:a16="http://schemas.microsoft.com/office/drawing/2014/main" id="{3E12AE9D-E473-6278-A63C-66AB8800B8D4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400256" y="3573016"/>
                  <a:ext cx="103188" cy="101600"/>
                </a:xfrm>
                <a:prstGeom prst="ellipse">
                  <a:avLst/>
                </a:pr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>
                    <a:defRPr>
                      <a:solidFill>
                        <a:schemeClr val="tx1"/>
                      </a:solidFill>
                      <a:latin typeface="Open Sans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Open Sans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Open Sans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Open Sans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Open Sans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Open Sans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Open Sans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Open Sans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Open Sans" charset="0"/>
                    </a:defRPr>
                  </a:lvl9pPr>
                </a:lstStyle>
                <a:p>
                  <a:pPr defTabSz="342900"/>
                  <a:endParaRPr lang="en-AU" altLang="x-none" sz="1350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5" name="Rectangle 316">
                  <a:extLst>
                    <a:ext uri="{FF2B5EF4-FFF2-40B4-BE49-F238E27FC236}">
                      <a16:creationId xmlns:a16="http://schemas.microsoft.com/office/drawing/2014/main" id="{973275E6-D859-52FA-8587-FD44B140F610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8408194" y="3714304"/>
                  <a:ext cx="87313" cy="280987"/>
                </a:xfrm>
                <a:prstGeom prst="rect">
                  <a:avLst/>
                </a:pr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/>
                <a:lstStyle>
                  <a:lvl1pPr>
                    <a:defRPr>
                      <a:solidFill>
                        <a:schemeClr val="tx1"/>
                      </a:solidFill>
                      <a:latin typeface="Open Sans" charset="0"/>
                    </a:defRPr>
                  </a:lvl1pPr>
                  <a:lvl2pPr marL="742950" indent="-285750">
                    <a:defRPr>
                      <a:solidFill>
                        <a:schemeClr val="tx1"/>
                      </a:solidFill>
                      <a:latin typeface="Open Sans" charset="0"/>
                    </a:defRPr>
                  </a:lvl2pPr>
                  <a:lvl3pPr marL="1143000" indent="-228600">
                    <a:defRPr>
                      <a:solidFill>
                        <a:schemeClr val="tx1"/>
                      </a:solidFill>
                      <a:latin typeface="Open Sans" charset="0"/>
                    </a:defRPr>
                  </a:lvl3pPr>
                  <a:lvl4pPr marL="1600200" indent="-228600">
                    <a:defRPr>
                      <a:solidFill>
                        <a:schemeClr val="tx1"/>
                      </a:solidFill>
                      <a:latin typeface="Open Sans" charset="0"/>
                    </a:defRPr>
                  </a:lvl4pPr>
                  <a:lvl5pPr marL="2057400" indent="-228600">
                    <a:defRPr>
                      <a:solidFill>
                        <a:schemeClr val="tx1"/>
                      </a:solidFill>
                      <a:latin typeface="Open Sans" charset="0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Open Sans" charset="0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Open Sans" charset="0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Open Sans" charset="0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>
                      <a:solidFill>
                        <a:schemeClr val="tx1"/>
                      </a:solidFill>
                      <a:latin typeface="Open Sans" charset="0"/>
                    </a:defRPr>
                  </a:lvl9pPr>
                </a:lstStyle>
                <a:p>
                  <a:pPr defTabSz="342900"/>
                  <a:endParaRPr lang="en-AU" altLang="x-none" sz="1350">
                    <a:solidFill>
                      <a:srgbClr val="000000"/>
                    </a:solidFill>
                  </a:endParaRPr>
                </a:p>
              </p:txBody>
            </p:sp>
            <p:sp>
              <p:nvSpPr>
                <p:cNvPr id="26" name="Freeform 317">
                  <a:extLst>
                    <a:ext uri="{FF2B5EF4-FFF2-40B4-BE49-F238E27FC236}">
                      <a16:creationId xmlns:a16="http://schemas.microsoft.com/office/drawing/2014/main" id="{147335F5-7153-48B9-6FE0-F7958691B08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8551069" y="3706366"/>
                  <a:ext cx="273050" cy="288925"/>
                </a:xfrm>
                <a:custGeom>
                  <a:avLst/>
                  <a:gdLst>
                    <a:gd name="T0" fmla="*/ 232890753 w 196"/>
                    <a:gd name="T1" fmla="*/ 0 h 207"/>
                    <a:gd name="T2" fmla="*/ 118386679 w 196"/>
                    <a:gd name="T3" fmla="*/ 62342199 h 207"/>
                    <a:gd name="T4" fmla="*/ 116446073 w 196"/>
                    <a:gd name="T5" fmla="*/ 62342199 h 207"/>
                    <a:gd name="T6" fmla="*/ 116446073 w 196"/>
                    <a:gd name="T7" fmla="*/ 9741099 h 207"/>
                    <a:gd name="T8" fmla="*/ 0 w 196"/>
                    <a:gd name="T9" fmla="*/ 9741099 h 207"/>
                    <a:gd name="T10" fmla="*/ 0 w 196"/>
                    <a:gd name="T11" fmla="*/ 403273699 h 207"/>
                    <a:gd name="T12" fmla="*/ 122267889 w 196"/>
                    <a:gd name="T13" fmla="*/ 403273699 h 207"/>
                    <a:gd name="T14" fmla="*/ 122267889 w 196"/>
                    <a:gd name="T15" fmla="*/ 208455898 h 207"/>
                    <a:gd name="T16" fmla="*/ 194075860 w 196"/>
                    <a:gd name="T17" fmla="*/ 107150698 h 207"/>
                    <a:gd name="T18" fmla="*/ 258121409 w 196"/>
                    <a:gd name="T19" fmla="*/ 212351500 h 207"/>
                    <a:gd name="T20" fmla="*/ 258121409 w 196"/>
                    <a:gd name="T21" fmla="*/ 403273699 h 207"/>
                    <a:gd name="T22" fmla="*/ 380389298 w 196"/>
                    <a:gd name="T23" fmla="*/ 403273699 h 207"/>
                    <a:gd name="T24" fmla="*/ 380389298 w 196"/>
                    <a:gd name="T25" fmla="*/ 187025200 h 207"/>
                    <a:gd name="T26" fmla="*/ 232890753 w 196"/>
                    <a:gd name="T27" fmla="*/ 0 h 207"/>
                    <a:gd name="T28" fmla="*/ 0 60000 65536"/>
                    <a:gd name="T29" fmla="*/ 0 60000 65536"/>
                    <a:gd name="T30" fmla="*/ 0 60000 65536"/>
                    <a:gd name="T31" fmla="*/ 0 60000 65536"/>
                    <a:gd name="T32" fmla="*/ 0 60000 65536"/>
                    <a:gd name="T33" fmla="*/ 0 60000 65536"/>
                    <a:gd name="T34" fmla="*/ 0 60000 65536"/>
                    <a:gd name="T35" fmla="*/ 0 60000 65536"/>
                    <a:gd name="T36" fmla="*/ 0 60000 65536"/>
                    <a:gd name="T37" fmla="*/ 0 60000 65536"/>
                    <a:gd name="T38" fmla="*/ 0 60000 65536"/>
                    <a:gd name="T39" fmla="*/ 0 60000 65536"/>
                    <a:gd name="T40" fmla="*/ 0 60000 65536"/>
                    <a:gd name="T41" fmla="*/ 0 60000 65536"/>
                  </a:gdLst>
                  <a:ahLst/>
                  <a:cxnLst>
                    <a:cxn ang="T28">
                      <a:pos x="T0" y="T1"/>
                    </a:cxn>
                    <a:cxn ang="T29">
                      <a:pos x="T2" y="T3"/>
                    </a:cxn>
                    <a:cxn ang="T30">
                      <a:pos x="T4" y="T5"/>
                    </a:cxn>
                    <a:cxn ang="T31">
                      <a:pos x="T6" y="T7"/>
                    </a:cxn>
                    <a:cxn ang="T32">
                      <a:pos x="T8" y="T9"/>
                    </a:cxn>
                    <a:cxn ang="T33">
                      <a:pos x="T10" y="T11"/>
                    </a:cxn>
                    <a:cxn ang="T34">
                      <a:pos x="T12" y="T13"/>
                    </a:cxn>
                    <a:cxn ang="T35">
                      <a:pos x="T14" y="T15"/>
                    </a:cxn>
                    <a:cxn ang="T36">
                      <a:pos x="T16" y="T17"/>
                    </a:cxn>
                    <a:cxn ang="T37">
                      <a:pos x="T18" y="T19"/>
                    </a:cxn>
                    <a:cxn ang="T38">
                      <a:pos x="T20" y="T21"/>
                    </a:cxn>
                    <a:cxn ang="T39">
                      <a:pos x="T22" y="T23"/>
                    </a:cxn>
                    <a:cxn ang="T40">
                      <a:pos x="T24" y="T25"/>
                    </a:cxn>
                    <a:cxn ang="T41">
                      <a:pos x="T26" y="T27"/>
                    </a:cxn>
                  </a:cxnLst>
                  <a:rect l="0" t="0" r="r" b="b"/>
                  <a:pathLst>
                    <a:path w="196" h="207">
                      <a:moveTo>
                        <a:pt x="120" y="0"/>
                      </a:moveTo>
                      <a:cubicBezTo>
                        <a:pt x="90" y="0"/>
                        <a:pt x="69" y="16"/>
                        <a:pt x="61" y="32"/>
                      </a:cubicBezTo>
                      <a:cubicBezTo>
                        <a:pt x="60" y="32"/>
                        <a:pt x="60" y="32"/>
                        <a:pt x="60" y="32"/>
                      </a:cubicBezTo>
                      <a:cubicBezTo>
                        <a:pt x="60" y="5"/>
                        <a:pt x="60" y="5"/>
                        <a:pt x="60" y="5"/>
                      </a:cubicBezTo>
                      <a:cubicBezTo>
                        <a:pt x="0" y="5"/>
                        <a:pt x="0" y="5"/>
                        <a:pt x="0" y="5"/>
                      </a:cubicBezTo>
                      <a:cubicBezTo>
                        <a:pt x="0" y="207"/>
                        <a:pt x="0" y="207"/>
                        <a:pt x="0" y="207"/>
                      </a:cubicBezTo>
                      <a:cubicBezTo>
                        <a:pt x="63" y="207"/>
                        <a:pt x="63" y="207"/>
                        <a:pt x="63" y="207"/>
                      </a:cubicBezTo>
                      <a:cubicBezTo>
                        <a:pt x="63" y="107"/>
                        <a:pt x="63" y="107"/>
                        <a:pt x="63" y="107"/>
                      </a:cubicBezTo>
                      <a:cubicBezTo>
                        <a:pt x="63" y="81"/>
                        <a:pt x="68" y="55"/>
                        <a:pt x="100" y="55"/>
                      </a:cubicBezTo>
                      <a:cubicBezTo>
                        <a:pt x="133" y="55"/>
                        <a:pt x="133" y="85"/>
                        <a:pt x="133" y="109"/>
                      </a:cubicBezTo>
                      <a:cubicBezTo>
                        <a:pt x="133" y="207"/>
                        <a:pt x="133" y="207"/>
                        <a:pt x="133" y="207"/>
                      </a:cubicBezTo>
                      <a:cubicBezTo>
                        <a:pt x="196" y="207"/>
                        <a:pt x="196" y="207"/>
                        <a:pt x="196" y="207"/>
                      </a:cubicBezTo>
                      <a:cubicBezTo>
                        <a:pt x="196" y="96"/>
                        <a:pt x="196" y="96"/>
                        <a:pt x="196" y="96"/>
                      </a:cubicBezTo>
                      <a:cubicBezTo>
                        <a:pt x="196" y="42"/>
                        <a:pt x="184" y="0"/>
                        <a:pt x="12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/>
                <a:lstStyle/>
                <a:p>
                  <a:pPr defTabSz="342900"/>
                  <a:endParaRPr lang="en-US" sz="1350">
                    <a:solidFill>
                      <a:srgbClr val="000000"/>
                    </a:solidFill>
                    <a:latin typeface="Verdana" panose="020B0604030504040204"/>
                  </a:endParaRPr>
                </a:p>
              </p:txBody>
            </p:sp>
          </p:grpSp>
        </p:grpSp>
      </p:grpSp>
      <p:pic>
        <p:nvPicPr>
          <p:cNvPr id="29" name="Picture 17" descr="A picture containing drawing  Description automatically generated">
            <a:extLst>
              <a:ext uri="{FF2B5EF4-FFF2-40B4-BE49-F238E27FC236}">
                <a16:creationId xmlns:a16="http://schemas.microsoft.com/office/drawing/2014/main" id="{72798266-E175-D346-32A5-453C2A9C2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4810" y="4011976"/>
            <a:ext cx="1512698" cy="61031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559F21A8-D479-AE3E-C982-46D448C5977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6276390" y="851877"/>
            <a:ext cx="2128557" cy="1945411"/>
          </a:xfrm>
          <a:prstGeom prst="ellipse">
            <a:avLst/>
          </a:prstGeom>
        </p:spPr>
      </p:pic>
      <p:pic>
        <p:nvPicPr>
          <p:cNvPr id="2" name="Picture 1" descr="Pro DAX with Power BI: Business Intelligence with PowerPivot and SQL Server Analysis Services Tabular">
            <a:extLst>
              <a:ext uri="{FF2B5EF4-FFF2-40B4-BE49-F238E27FC236}">
                <a16:creationId xmlns:a16="http://schemas.microsoft.com/office/drawing/2014/main" id="{2376CC7D-1821-0E08-12A7-C645BBB830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5501" y="3198747"/>
            <a:ext cx="998118" cy="142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205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 faster isn't the answer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bottleneck was never finding articles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493776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moves faster than anyone can read. New posts every day, from people worth reading.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Speed-reading more doesn't fix it — it just moves the overwhelm around.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bottleneck is digesting: connecting what I read across hundreds of articles.</a:t>
            </a:r>
            <a:endParaRPr lang="en-US" sz="14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didn't need help finding. I needed help digesting.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760720" y="1554480"/>
            <a:ext cx="28803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760720" y="1554480"/>
            <a:ext cx="64008" cy="228600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89320" y="1783080"/>
            <a:ext cx="2606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~7,000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5989320" y="2670048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articles, and counting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89320" y="3054096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handful of authors I trust — not the whole internet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curated corpus, not an archive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reflects a deliberate choice of who to trust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3886200" cy="3063240"/>
          </a:xfrm>
          <a:prstGeom prst="roundRect">
            <a:avLst>
              <a:gd name="adj" fmla="val 20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64008" cy="3063240"/>
          </a:xfrm>
          <a:prstGeom prst="roundRect">
            <a:avLst>
              <a:gd name="adj" fmla="val 4285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77240" y="1554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 is the point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1965960"/>
            <a:ext cx="33832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not an encyclopedia. It mirrors a defend-and-grow map of the topics I rely on.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learn.microsoft.com is the law; community blogs are commentary.</a:t>
            </a:r>
            <a:endParaRPr lang="en-US" sz="12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the corpus sets the ceiling on every answer the hub can give.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09160" y="13716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in it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09160" y="1783080"/>
            <a:ext cx="39319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818888" y="1874520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74920" y="1783080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 Webb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709160" y="2135124"/>
            <a:ext cx="39319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18888" y="2226564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74920" y="2135124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Meagan Longoria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487168"/>
            <a:ext cx="39319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818888" y="2578608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074920" y="248716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Nikola Ilić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709160" y="2839212"/>
            <a:ext cx="39319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18888" y="2930652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074920" y="2839212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Sandeep Pawar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709160" y="3191256"/>
            <a:ext cx="39319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818888" y="3282696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074920" y="3191256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Kurt Buhler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709160" y="3543300"/>
            <a:ext cx="39319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818888" y="3634740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74920" y="3543300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Gilbert Quevauvilliers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709160" y="3895344"/>
            <a:ext cx="39319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818888" y="3986784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074920" y="3895344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Raki Rahman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709160" y="4247388"/>
            <a:ext cx="393192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818888" y="4338828"/>
            <a:ext cx="128016" cy="128016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074920" y="4247388"/>
            <a:ext cx="34747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&amp; Power BI blogs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it all lives: Obsidian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corpus is plain markdown in a vault I already think in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article is a plain-markdown note in an Obsidian vault.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read and write markdown in Obsidian every day — so the corpus lives in the tool I already use to think and write.</a:t>
            </a:r>
            <a:endParaRPr lang="en-US" sz="14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proprietary store, no lock-in. Just files on disk, synced — the vault is the source of truth.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40680" y="1463040"/>
            <a:ext cx="3200400" cy="26974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64008" cy="269748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669280" y="169164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172200" y="169164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markdown + Obsidian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0" y="2286000"/>
            <a:ext cx="27889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Human-readable and future-proof — readable in any editor, 10 years from now</a:t>
            </a:r>
            <a:endParaRPr lang="en-US" sz="1200" dirty="0"/>
          </a:p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Frontmatter carries provenance: source, author, date</a:t>
            </a:r>
            <a:endParaRPr lang="en-US" sz="120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downstream — vectors, graph — is rebuildable from these files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ways to reach an answer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retrieval surfaces, two different questions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4008" cy="246888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6459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search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2402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is this about?”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Meaning-based similarity</a:t>
            </a:r>
            <a:endParaRPr lang="en-US" sz="125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articles close in meaning to your question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39776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663440" y="1417320"/>
            <a:ext cx="64008" cy="246888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92040" y="16459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92040" y="1645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5394960" y="1645920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892040" y="224028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FF6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connects to what?”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92040" y="2697480"/>
            <a:ext cx="3520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and the relationships between them</a:t>
            </a:r>
            <a:endParaRPr lang="en-US" sz="125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across articles to surface connections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02920" y="4114800"/>
            <a:ext cx="8138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complementary — neither alone is enough. The rest of the talk shows why.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foundation: vector search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meaning into geometry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embedding turns an article into a point in a high-dimensional space.</a:t>
            </a:r>
            <a:endParaRPr lang="en-US" sz="145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Nearby points mean similar meaning — not similar words.</a:t>
            </a:r>
            <a:endParaRPr lang="en-US" sz="145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becomes a point too. Retrieval is simply: what's nearest?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40680" y="1463040"/>
            <a:ext cx="3200400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64008" cy="260604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669280" y="169164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172200" y="169164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model matters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0" y="2286000"/>
            <a:ext cx="278892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embeddings read 8K tokens — full articles, not just the first paragraph</a:t>
            </a:r>
            <a:endParaRPr lang="en-US" sz="1200" dirty="0"/>
          </a:p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same text always maps to the same point</a:t>
            </a:r>
            <a:endParaRPr lang="en-US" sz="120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embedding-model choice matters more than most people realise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vector search hits its ceiling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is powerful — until the question is about relationships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26974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4008" cy="269748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1234440" cy="329184"/>
          </a:xfrm>
          <a:prstGeom prst="roundRect">
            <a:avLst>
              <a:gd name="adj" fmla="val 138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search over the corpus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3520440" cy="868680"/>
          </a:xfrm>
          <a:prstGeom prst="roundRect">
            <a:avLst>
              <a:gd name="adj" fmla="val 5263"/>
            </a:avLst>
          </a:prstGeom>
          <a:solidFill>
            <a:srgbClr val="0F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606040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7FE3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vault_indexer.py \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7FE3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--query "Direct Lake guardrails"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3520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language; get the nearest articles back, ranked.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09160" y="14173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ceiling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39319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Similarity is not relationship. Vector search finds articles about a topic — it can't tell you how two concepts connect across articles.</a:t>
            </a:r>
            <a:endParaRPr lang="en-US" sz="1350" dirty="0"/>
          </a:p>
          <a:p>
            <a:pPr marL="342900" indent="-3429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mismatch: “dax” vs “DAX”; a reframing article that never uses your words is invisible to it.</a:t>
            </a:r>
            <a:endParaRPr lang="en-US" sz="135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350" b="1" dirty="0">
                <a:solidFill>
                  <a:srgbClr val="FF6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ceiling is exactly what motivates the graph layer.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graph layer: entities &amp; relationships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knowledge graph represents that a vector store can't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4023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64008" cy="137160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5727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77240" y="2029968"/>
            <a:ext cx="3566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named things: Direct Lake, calculation groups, semantic models, Tabular Editor.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17720" y="1371600"/>
            <a:ext cx="4023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1371600"/>
            <a:ext cx="64008" cy="137160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46320" y="162763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6276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∞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49240" y="15727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92040" y="2029968"/>
            <a:ext cx="3566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connect: “X depends on Y”, “A is an alternative to B”.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" y="2880360"/>
            <a:ext cx="4023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2920" y="2880360"/>
            <a:ext cx="64008" cy="1371600"/>
          </a:xfrm>
          <a:prstGeom prst="roundRect">
            <a:avLst>
              <a:gd name="adj" fmla="val 4285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13639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3136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08152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Cross-article bridges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777240" y="3538728"/>
            <a:ext cx="3566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the corpus only implies — stated nowhere, spread across several posts.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617720" y="2880360"/>
            <a:ext cx="4023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17720" y="2880360"/>
            <a:ext cx="64008" cy="1371600"/>
          </a:xfrm>
          <a:prstGeom prst="roundRect">
            <a:avLst>
              <a:gd name="adj" fmla="val 42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13639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3136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49240" y="308152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4892040" y="3538728"/>
            <a:ext cx="3566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relationship-shaped questions a vector store structurally cannot reach.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the graph gets built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extraction, merged into one growing graph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0" cy="457200"/>
          </a:xfrm>
          <a:prstGeom prst="ellipse">
            <a:avLst/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88720" y="1380744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each article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88720" y="1673352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from the Obsidian vault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093976"/>
            <a:ext cx="457200" cy="457200"/>
          </a:xfrm>
          <a:prstGeom prst="ellipse">
            <a:avLst/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48640" y="2093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57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 &amp; relationships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2350008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3 27B, running locally via Ollama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770632"/>
            <a:ext cx="457200" cy="457200"/>
          </a:xfrm>
          <a:prstGeom prst="ellipse">
            <a:avLst/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48640" y="27706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2734056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into one graph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188720" y="3026664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LightRAG unifies entities across articles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447288"/>
            <a:ext cx="457200" cy="457200"/>
          </a:xfrm>
          <a:prstGeom prst="ellipse">
            <a:avLst/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4864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88720" y="341071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Batch-and-resume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88720" y="37033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batches; stop and resume any time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72200" y="1417320"/>
            <a:ext cx="2468880" cy="260604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72200" y="1417320"/>
            <a:ext cx="64008" cy="260604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400800" y="16459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400800" y="1645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903720" y="1645920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Scales down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0" y="2194560"/>
            <a:ext cx="20116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is compute-heavy — minutes per article. The design assumes compute is scarce.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0" y="320040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 on a modest laptop. It just runs slower.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Two models — right tool per job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and extraction are different tasks, so they use different models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4828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Knowledge Hub  ·  Data TGIF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4008" cy="278892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66420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Nomic — the embedding model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31520" y="22402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each article into a vector — meaning as geometry, for similarity search.</a:t>
            </a:r>
            <a:endParaRPr lang="en-US" sz="1250" dirty="0"/>
          </a:p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Deterministic: the same text always returns the exact same vector.</a:t>
            </a:r>
            <a:endParaRPr lang="en-US" sz="125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and CPU-friendly — nomic-embed-text v1.5, 768 dimensions, 8K tokens.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417320"/>
            <a:ext cx="39776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64008" cy="278892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92040" y="16459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1645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4960" y="166420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Gemma 3 27B — the extraction model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92040" y="22402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articles and pulls out the entities and relationships that form the graph.</a:t>
            </a:r>
            <a:endParaRPr lang="en-US" sz="1250" dirty="0"/>
          </a:p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generative model — heavier, and runs locally through Ollama.</a:t>
            </a:r>
            <a:endParaRPr lang="en-US" sz="125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50" b="1" dirty="0">
                <a:solidFill>
                  <a:srgbClr val="FF6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Stochastic: re-running samples again rather than converging on one truth.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Live: exploring the knowledge graph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the LightRAG server and opening the graph in the browser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26974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4008" cy="269748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1234440" cy="329184"/>
          </a:xfrm>
          <a:prstGeom prst="roundRect">
            <a:avLst>
              <a:gd name="adj" fmla="val 13889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LightRAG server + Web UI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3520440" cy="914400"/>
          </a:xfrm>
          <a:prstGeom prst="roundRect">
            <a:avLst>
              <a:gd name="adj" fmla="val 5000"/>
            </a:avLst>
          </a:prstGeom>
          <a:solidFill>
            <a:srgbClr val="0F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6060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FE3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conda activate lightrag-server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FE3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~/knowledgehub-lightrag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FE3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lightrag-server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35661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Read-only. Opens at http://127.0.0.1:9621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09160" y="14173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graph, made visible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39319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 as nodes, relationships as edges — the structure Gemma extracted, laid out in the browser.</a:t>
            </a:r>
            <a:endParaRPr lang="en-US" sz="1350" dirty="0"/>
          </a:p>
          <a:p>
            <a:pPr marL="342900" indent="-3429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≈66,000 entities and ≈84,000 relationships across ≈7,000 articles.</a:t>
            </a:r>
            <a:endParaRPr lang="en-US" sz="135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 entity to walk its neighbours — the same traversal the retrieve tool makes.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Vector and graph are complementary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side by side on the full corpus — neither dominates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2194560" cy="457200"/>
          </a:xfrm>
          <a:prstGeom prst="rect">
            <a:avLst/>
          </a:prstGeom>
          <a:solidFill>
            <a:srgbClr val="1A2744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697480" y="1417320"/>
            <a:ext cx="2743200" cy="457200"/>
          </a:xfrm>
          <a:prstGeom prst="rect">
            <a:avLst/>
          </a:prstGeom>
          <a:solidFill>
            <a:srgbClr val="1A2744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40680" y="1417320"/>
            <a:ext cx="2788920" cy="457200"/>
          </a:xfrm>
          <a:prstGeom prst="rect">
            <a:avLst/>
          </a:prstGeom>
          <a:solidFill>
            <a:srgbClr val="1A2744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12648" y="14173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07208" y="1417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 (ChromaDB)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550408" y="14173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A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 (LightRAG)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1874520"/>
            <a:ext cx="21945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697480" y="1874520"/>
            <a:ext cx="2743200" cy="457200"/>
          </a:xfrm>
          <a:prstGeom prst="rect">
            <a:avLst/>
          </a:prstGeom>
          <a:solidFill>
            <a:srgbClr val="EEF2F6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440680" y="1874520"/>
            <a:ext cx="2788920" cy="457200"/>
          </a:xfrm>
          <a:prstGeom prst="rect">
            <a:avLst/>
          </a:prstGeom>
          <a:solidFill>
            <a:srgbClr val="EEF2F6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2648" y="18745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807208" y="18745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specifics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550408" y="18745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 + relationships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2331720"/>
            <a:ext cx="21945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697480" y="2331720"/>
            <a:ext cx="2743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40680" y="2331720"/>
            <a:ext cx="2788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12648" y="23317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07208" y="23317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does X say about Y”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550408" y="23317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connects X and Y”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02920" y="2788920"/>
            <a:ext cx="21945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2697480" y="2788920"/>
            <a:ext cx="2743200" cy="457200"/>
          </a:xfrm>
          <a:prstGeom prst="rect">
            <a:avLst/>
          </a:prstGeom>
          <a:solidFill>
            <a:srgbClr val="EEF2F6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440680" y="2788920"/>
            <a:ext cx="2788920" cy="457200"/>
          </a:xfrm>
          <a:prstGeom prst="rect">
            <a:avLst/>
          </a:prstGeom>
          <a:solidFill>
            <a:srgbClr val="EEF2F6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12648" y="278892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Misses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807208" y="27889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concepts relate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550408" y="278892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one-off details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02920" y="3429000"/>
            <a:ext cx="81381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" y="3429000"/>
            <a:ext cx="64008" cy="1051560"/>
          </a:xfrm>
          <a:prstGeom prst="roundRect">
            <a:avLst>
              <a:gd name="adj" fmla="val 4285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31520" y="363931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36393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34440" y="361188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finding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34440" y="3877056"/>
            <a:ext cx="7178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architecture question, run through both. Each surfaced articles the other missed — and feeding the graph's context to the companion added three Fabric-specific considerations the model didn't reach on its own.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architecture, end to end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Articles  →  two indexers  →  MCP  →  thinking companion</a:t>
            </a:r>
            <a:endParaRPr lang="en-US" sz="1300" dirty="0"/>
          </a:p>
        </p:txBody>
      </p:sp>
      <p:pic>
        <p:nvPicPr>
          <p:cNvPr id="5" name="Image 0" descr="/home/claude/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41248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bridge: a read-only MCP server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manual terminal step to a native tool call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41605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used to be manual: run a query in the terminal, paste the context into the chat.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MCP server makes retrieval a native tool call the companion can make itself.</a:t>
            </a:r>
            <a:endParaRPr lang="en-US" sz="14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only retrieves; the companion synthesises. Purely local — no cloud, no secrets.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892040" y="13716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read-only tools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92040" y="1783080"/>
            <a:ext cx="374904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892040" y="1783080"/>
            <a:ext cx="64008" cy="114300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120640" y="1901952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94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retrieve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20640" y="2176272"/>
            <a:ext cx="333756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context + the articles the graph didn't reference — the value is the subtraction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92040" y="3090672"/>
            <a:ext cx="374904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892040" y="3090672"/>
            <a:ext cx="64008" cy="64008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120640" y="3209544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3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graph_stats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20640" y="3483864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/ relationship / article counts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92040" y="3895344"/>
            <a:ext cx="374904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892040" y="3895344"/>
            <a:ext cx="64008" cy="640080"/>
          </a:xfrm>
          <a:prstGeom prst="roundRect">
            <a:avLst>
              <a:gd name="adj" fmla="val 4285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120640" y="4014216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list_indexed_sources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20640" y="4288536"/>
            <a:ext cx="333756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per-source article tally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Live: retrieval as a native tool call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MCP server inside Claude Desktop — no terminal, no paste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26974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4008" cy="269748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1234440" cy="329184"/>
          </a:xfrm>
          <a:prstGeom prst="roundRect">
            <a:avLst>
              <a:gd name="adj" fmla="val 13889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12344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148840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Claude Desktop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3520440" cy="914400"/>
          </a:xfrm>
          <a:prstGeom prst="roundRect">
            <a:avLst>
              <a:gd name="adj" fmla="val 5000"/>
            </a:avLst>
          </a:prstGeom>
          <a:solidFill>
            <a:srgbClr val="0F1A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26060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FA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“What should I consider for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A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Direct Lake guardrails?”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FA0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Claude calls retrieve()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3566160"/>
            <a:ext cx="35204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runs locally; Claude synthesises and cites.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09160" y="14173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script to native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709160" y="1828800"/>
            <a:ext cx="393192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run lightrag_query.py in a terminal, copy the context, paste it into the chat.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Claude calls retrieve itself — graph context plus the articles the graph didn't reference.</a:t>
            </a:r>
            <a:endParaRPr lang="en-US" sz="1300" dirty="0"/>
          </a:p>
          <a:p>
            <a:pPr marL="342900" indent="-342900">
              <a:lnSpc>
                <a:spcPct val="103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watch it in the browser: the server's Retrieval tab does the same retrieval, no script.</a:t>
            </a:r>
            <a:endParaRPr lang="en-US" sz="1300" dirty="0"/>
          </a:p>
          <a:p>
            <a:pPr marL="342900" indent="-342900">
              <a:lnSpc>
                <a:spcPct val="103000"/>
              </a:lnSpc>
              <a:buSzPct val="100000"/>
              <a:buChar char="•"/>
            </a:pPr>
            <a:r>
              <a:rPr lang="en-US" sz="1300" b="1" dirty="0">
                <a:solidFill>
                  <a:srgbClr val="FF6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MCP only retrieves; the companion does the reasoning.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Opus 4.8 does the answering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model's capability to the question's complexity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482803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Knowledge Hub  ·  Data TGIF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4008" cy="278892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66420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matches complexity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31520" y="22402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harder the question, the more capable the model should be.</a:t>
            </a:r>
            <a:endParaRPr lang="en-US" sz="1250" dirty="0"/>
          </a:p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Synthesising across the grounded corpus — conflicting sources, trade-offs — is the hard part. That's Opus 4.8's job.</a:t>
            </a:r>
            <a:endParaRPr lang="en-US" sz="125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lookup, like a visual's property name, wouldn't need that depth.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417320"/>
            <a:ext cx="39776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64008" cy="278892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92040" y="16459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1645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4960" y="166420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edge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92040" y="22402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Haiku 4.5 could answer it, a plain web search probably could too.</a:t>
            </a:r>
            <a:endParaRPr lang="en-US" sz="1250" dirty="0"/>
          </a:p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hub doesn't earn its keep on trivia — it earns it on the hard, synthesis-heavy questions.</a:t>
            </a:r>
            <a:endParaRPr lang="en-US" sz="125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50" b="1" dirty="0">
                <a:solidFill>
                  <a:srgbClr val="FF6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model to the task; don't pay for capability the question doesn't need.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Keeping it honest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hub adds grounding — it doesn't make the model infallible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4023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64008" cy="137160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62763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6276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5727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laundering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029968"/>
            <a:ext cx="3566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confident answer over a wrong retrieval is still wrong. Grounding is not the same as truth.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17720" y="1371600"/>
            <a:ext cx="4023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17720" y="1371600"/>
            <a:ext cx="64008" cy="137160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46320" y="162763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16276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49240" y="157276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layers stay on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92040" y="2029968"/>
            <a:ext cx="3566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and graph run in parallel — each covers the other's blind spot.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880360"/>
            <a:ext cx="4023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2920" y="2880360"/>
            <a:ext cx="64008" cy="1371600"/>
          </a:xfrm>
          <a:prstGeom prst="roundRect">
            <a:avLst>
              <a:gd name="adj" fmla="val 4285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313639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3136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08152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vs intelligence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77240" y="3538728"/>
            <a:ext cx="3566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was never dumb without the corpus. The corpus adds citable, dated sources — equal partners.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17720" y="2880360"/>
            <a:ext cx="402336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17720" y="2880360"/>
            <a:ext cx="64008" cy="1371600"/>
          </a:xfrm>
          <a:prstGeom prst="roundRect">
            <a:avLst>
              <a:gd name="adj" fmla="val 42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846320" y="313639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846320" y="31363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349240" y="3081528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Stochastic extraction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92040" y="3538728"/>
            <a:ext cx="356616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Gemma doesn't approach truth — it samples again. A known, named limit.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next note type: the question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Obsidian's link system is an ideal home for the questions, too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371600"/>
            <a:ext cx="457200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the vault stores articles. The natural next step is to store the questions.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question becomes a markdown note that links — Obsidian-style — to the articles and entities it touched.</a:t>
            </a:r>
            <a:endParaRPr lang="en-US" sz="14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time those links become a second, human-curated layer over the machine-extracted graph.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40680" y="1463040"/>
            <a:ext cx="3200400" cy="26974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440680" y="1463040"/>
            <a:ext cx="64008" cy="269748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669280" y="169164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0" y="1691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[[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172200" y="1691640"/>
            <a:ext cx="23317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Obsidian links fit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669280" y="2286000"/>
            <a:ext cx="2788920" cy="1783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note links to its sources, so the answer's provenance is built in</a:t>
            </a:r>
            <a:endParaRPr lang="en-US" sz="1200" dirty="0"/>
          </a:p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interlink with each other and with articles</a:t>
            </a:r>
            <a:endParaRPr lang="en-US" sz="120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of questions is itself a knowledge graph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Knowledge Hub is heading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453896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4538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389888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Merge, don't rebuild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06240" y="1389888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“DirectLake” / “Direct lake” into one entity via the LightRAG API — incrementally, no full rebuild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048256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2048256"/>
            <a:ext cx="64008" cy="54864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13055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130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2066544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as the curation lens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06240" y="2066544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the substrate to spot fragmentation — one entity spelled three ways — and flag what needs merging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724912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2920" y="2724912"/>
            <a:ext cx="64008" cy="548640"/>
          </a:xfrm>
          <a:prstGeom prst="roundRect">
            <a:avLst>
              <a:gd name="adj" fmla="val 4285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280720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2807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2743200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trust levels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06240" y="2743200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Per-author, per-topic weighting that influences how conflicting sources are synthesised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401568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02920" y="3401568"/>
            <a:ext cx="64008" cy="548640"/>
          </a:xfrm>
          <a:prstGeom prst="roundRect">
            <a:avLst>
              <a:gd name="adj" fmla="val 42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31520" y="3483864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31520" y="34838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34440" y="3419856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path to Fabric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06240" y="3419856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extraction substrate, landed as Delta tables — a graph colleagues can query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4078224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" y="4078224"/>
            <a:ext cx="64008" cy="54864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31520" y="41605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34440" y="4096512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as a corpus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206240" y="4096512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of questions becomes a first-class, linkable part of the vault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1097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Curate, don't accumulate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1828800" cy="36576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9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 isn't more articles. It's a corpus worth reasoning over — and a companion that reasons over it honestly, and cites its sources.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731520" y="3703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corpus × 10: imagine your own trusted sources, structured this way.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 takes both — and who's accountable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hub grounds, the companion reasons — and the decision stays mine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39776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64008" cy="278892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6459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645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66420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needs both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31520" y="22402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hub without a companion is a better search box. The companion without the hub is fluent but ungrounded.</a:t>
            </a:r>
            <a:endParaRPr lang="en-US" sz="1250" dirty="0"/>
          </a:p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supplies dated, citable sources; reasoning turns them into an answer.</a:t>
            </a:r>
            <a:endParaRPr lang="en-US" sz="125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partners — neither alone is enough.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417320"/>
            <a:ext cx="3977640" cy="2788920"/>
          </a:xfrm>
          <a:prstGeom prst="roundRect">
            <a:avLst>
              <a:gd name="adj" fmla="val 22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663440" y="1417320"/>
            <a:ext cx="64008" cy="278892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92040" y="16459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92040" y="1645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94960" y="1664208"/>
            <a:ext cx="3017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accountability is mine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892040" y="2240280"/>
            <a:ext cx="35204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companion helps with the reading AND the reasoning; I decide, and I own the outcome.</a:t>
            </a:r>
            <a:endParaRPr lang="en-US" sz="1250" dirty="0"/>
          </a:p>
          <a:p>
            <a:pPr marL="342900" indent="-3429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an F2048 today and find six months on that an F32 would have done? That's on me — not the companion's fault.</a:t>
            </a:r>
            <a:endParaRPr lang="en-US" sz="1250" dirty="0"/>
          </a:p>
          <a:p>
            <a:pPr marL="342900" indent="-342900">
              <a:lnSpc>
                <a:spcPct val="104000"/>
              </a:lnSpc>
              <a:buSzPct val="100000"/>
              <a:buChar char="•"/>
            </a:pPr>
            <a:r>
              <a:rPr lang="en-US" sz="1250" b="1" dirty="0">
                <a:solidFill>
                  <a:srgbClr val="FF63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sharpens the call. It doesn't transfer the responsibility.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321040" y="4828032"/>
            <a:ext cx="411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0"/>
            <a:ext cx="2286000" cy="109728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31520" y="132588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2240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live demo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77240" y="29718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minceddata.net  —  the “Knowledge Hub” series</a:t>
            </a:r>
            <a:endParaRPr lang="en-US" sz="1500" dirty="0"/>
          </a:p>
          <a:p>
            <a:pPr marL="342900" indent="-3429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me on LinkedIn</a:t>
            </a:r>
            <a:endParaRPr lang="en-US" sz="1500" dirty="0"/>
          </a:p>
          <a:p>
            <a:pPr marL="342900" indent="-342900">
              <a:lnSpc>
                <a:spcPct val="105000"/>
              </a:lnSpc>
              <a:buSzPct val="100000"/>
              <a:buChar char="•"/>
            </a:pPr>
            <a:r>
              <a:rPr lang="en-US" sz="15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Thanks to Kay Sauter &amp; the Data TGIF community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F1A2E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Glossary — the retrieval side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ideas behind the rabbit holes — none of it Fabric-specific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453896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4538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389888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06240" y="1389888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turned into a list of numbers that captures its meaning, so similar ideas sit close together in space.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048256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2048256"/>
            <a:ext cx="64008" cy="54864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13055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130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2066544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&amp; context window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06240" y="2066544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word-pieces a model reads, and how many it takes in at once — the hub’s embedder handles about 8K.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724912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2920" y="2724912"/>
            <a:ext cx="64008" cy="548640"/>
          </a:xfrm>
          <a:prstGeom prst="roundRect">
            <a:avLst>
              <a:gd name="adj" fmla="val 4285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280720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2807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2743200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store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06240" y="2743200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database that holds embeddings and finds the nearest ones to a query fast. ChromaDB plays this role here.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401568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02920" y="3401568"/>
            <a:ext cx="64008" cy="548640"/>
          </a:xfrm>
          <a:prstGeom prst="roundRect">
            <a:avLst>
              <a:gd name="adj" fmla="val 42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31520" y="3483864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31520" y="34838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34440" y="3419856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similarity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06240" y="3419856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Closeness in meaning rather than wording — so “DAX” and “calculation language” can match with no shared words.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4078224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" y="4078224"/>
            <a:ext cx="64008" cy="54864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31520" y="41605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34440" y="4096512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206240" y="4096512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Generation: fetch relevant text first, then answer from it — grounding the answer in sources.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82520" y="4828032"/>
            <a:ext cx="75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Glossary — graphs, models &amp; glue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pieces connect — still nothing Power BI-specific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453896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4538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389888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06240" y="1389888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network of facts: things connected by relationships, capturing how concepts link, not just what one article says.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048256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2920" y="2048256"/>
            <a:ext cx="64008" cy="548640"/>
          </a:xfrm>
          <a:prstGeom prst="roundRect">
            <a:avLst>
              <a:gd name="adj" fmla="val 4285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31520" y="2130552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FF634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31520" y="213055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2066544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206240" y="2066544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thing pulled from the text — a feature, person, product or concept. These are the nodes of the graph.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724912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2920" y="2724912"/>
            <a:ext cx="64008" cy="548640"/>
          </a:xfrm>
          <a:prstGeom prst="roundRect">
            <a:avLst>
              <a:gd name="adj" fmla="val 4285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280720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2807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2743200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 (edge)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06240" y="2743200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between two entities — “X depends on Y,” “A is an alternative to B.” The lines of the graph.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3401568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02920" y="3401568"/>
            <a:ext cx="64008" cy="548640"/>
          </a:xfrm>
          <a:prstGeom prst="roundRect">
            <a:avLst>
              <a:gd name="adj" fmla="val 4285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31520" y="3483864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31520" y="34838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234440" y="3419856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06240" y="3419856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Language Model — reads and writes language; here it extracts entities and reasons over what’s retrieved.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4078224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" y="4078224"/>
            <a:ext cx="64008" cy="54864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31520" y="41605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34440" y="4096512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206240" y="4096512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— an open standard for a model to call external tools uniformly; the hub exposes retrieval as one.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82520" y="4828032"/>
            <a:ext cx="75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7432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few common mix-ups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02920" y="841248"/>
            <a:ext cx="8138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vs. agent, and where the Copilot brand fits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64008" cy="54864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1453896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31520" y="14538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389888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is not an agent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06240" y="1389888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MCP server only exposes tools over a standard protocol; it decides nothing. The agent is what calls those tools to reach a goal — here, the companion.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724912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2920" y="2724912"/>
            <a:ext cx="64008" cy="548640"/>
          </a:xfrm>
          <a:prstGeom prst="roundRect">
            <a:avLst>
              <a:gd name="adj" fmla="val 4285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731520" y="2807208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31520" y="28072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2743200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is a brand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206240" y="2743200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one product — it’s Microsoft’s umbrella name across M365, GitHub, Power BI and more. It tells you the family, not the specific tool.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4078224"/>
            <a:ext cx="813816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blurRad="762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2920" y="4078224"/>
            <a:ext cx="64008" cy="548640"/>
          </a:xfrm>
          <a:prstGeom prst="roundRect">
            <a:avLst>
              <a:gd name="adj" fmla="val 4285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731520" y="4160520"/>
            <a:ext cx="384048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31520" y="4160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234440" y="4096512"/>
            <a:ext cx="28803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Desktop ≈ Copilot Studio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206240" y="4096512"/>
            <a:ext cx="425196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loose analogy: both are where you wire a model up to tools and data. MCP servers play the role connectors and actions do in Copilot Studio.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982520" y="4828032"/>
            <a:ext cx="750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2434</Words>
  <Application>Microsoft Macintosh PowerPoint</Application>
  <PresentationFormat>On-screen Show (16:9)</PresentationFormat>
  <Paragraphs>339</Paragraphs>
  <Slides>26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3" baseType="lpstr">
      <vt:lpstr>Arial</vt:lpstr>
      <vt:lpstr>Calibri</vt:lpstr>
      <vt:lpstr>Consolas</vt:lpstr>
      <vt:lpstr>Courier New</vt:lpstr>
      <vt:lpstr>Trebuchet MS</vt:lpstr>
      <vt:lpstr>Verdana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Thomas 'Tom' Martens</cp:lastModifiedBy>
  <cp:revision>2</cp:revision>
  <dcterms:created xsi:type="dcterms:W3CDTF">2026-06-18T18:59:22Z</dcterms:created>
  <dcterms:modified xsi:type="dcterms:W3CDTF">2026-06-19T23:49:34Z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ea6d409-389a-443a-9140-f8c0d12e1685_Enabled">
    <vt:lpwstr>true</vt:lpwstr>
  </property>
  <property fmtid="{D5CDD505-2E9C-101B-9397-08002B2CF9AE}" pid="3" name="MSIP_Label_7ea6d409-389a-443a-9140-f8c0d12e1685_SetDate">
    <vt:lpwstr>2026-06-18T19:07:13Z</vt:lpwstr>
  </property>
  <property fmtid="{D5CDD505-2E9C-101B-9397-08002B2CF9AE}" pid="4" name="MSIP_Label_7ea6d409-389a-443a-9140-f8c0d12e1685_Method">
    <vt:lpwstr>Standard</vt:lpwstr>
  </property>
  <property fmtid="{D5CDD505-2E9C-101B-9397-08002B2CF9AE}" pid="5" name="MSIP_Label_7ea6d409-389a-443a-9140-f8c0d12e1685_Name">
    <vt:lpwstr>C0 - public</vt:lpwstr>
  </property>
  <property fmtid="{D5CDD505-2E9C-101B-9397-08002B2CF9AE}" pid="6" name="MSIP_Label_7ea6d409-389a-443a-9140-f8c0d12e1685_SiteId">
    <vt:lpwstr>f62b8f20-f16e-4a6e-9b1f-6e2d2e6ac089</vt:lpwstr>
  </property>
  <property fmtid="{D5CDD505-2E9C-101B-9397-08002B2CF9AE}" pid="7" name="MSIP_Label_7ea6d409-389a-443a-9140-f8c0d12e1685_ActionId">
    <vt:lpwstr>904a4e7b-b7d0-438c-b8af-7c31c3285f59</vt:lpwstr>
  </property>
  <property fmtid="{D5CDD505-2E9C-101B-9397-08002B2CF9AE}" pid="8" name="MSIP_Label_7ea6d409-389a-443a-9140-f8c0d12e1685_ContentBits">
    <vt:lpwstr>0</vt:lpwstr>
  </property>
  <property fmtid="{D5CDD505-2E9C-101B-9397-08002B2CF9AE}" pid="9" name="MSIP_Label_7ea6d409-389a-443a-9140-f8c0d12e1685_Tag">
    <vt:lpwstr>50, 3, 0, 1</vt:lpwstr>
  </property>
</Properties>
</file>