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F34180-BCE0-F146-813A-3459444E2C8A}" v="12" dt="2026-05-10T06:43:15.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52"/>
    <p:restoredTop sz="94610"/>
  </p:normalViewPr>
  <p:slideViewPr>
    <p:cSldViewPr snapToGrid="0" snapToObjects="1">
      <p:cViewPr varScale="1">
        <p:scale>
          <a:sx n="156" d="100"/>
          <a:sy n="156"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Tom' Martens" userId="35ccf0d4-9e71-4d15-bebb-7c78661c64b3" providerId="ADAL" clId="{8EB38B34-1C63-550C-B0CD-9C132AC5822A}"/>
    <pc:docChg chg="undo custSel mod addSld delSld modSld sldOrd">
      <pc:chgData name="Thomas 'Tom' Martens" userId="35ccf0d4-9e71-4d15-bebb-7c78661c64b3" providerId="ADAL" clId="{8EB38B34-1C63-550C-B0CD-9C132AC5822A}" dt="2026-05-10T08:32:43.815" v="264" actId="20577"/>
      <pc:docMkLst>
        <pc:docMk/>
      </pc:docMkLst>
      <pc:sldChg chg="modSp mod ord">
        <pc:chgData name="Thomas 'Tom' Martens" userId="35ccf0d4-9e71-4d15-bebb-7c78661c64b3" providerId="ADAL" clId="{8EB38B34-1C63-550C-B0CD-9C132AC5822A}" dt="2026-05-10T05:12:54.242" v="148" actId="20577"/>
        <pc:sldMkLst>
          <pc:docMk/>
          <pc:sldMk cId="0" sldId="256"/>
        </pc:sldMkLst>
        <pc:spChg chg="mod">
          <ac:chgData name="Thomas 'Tom' Martens" userId="35ccf0d4-9e71-4d15-bebb-7c78661c64b3" providerId="ADAL" clId="{8EB38B34-1C63-550C-B0CD-9C132AC5822A}" dt="2026-05-10T05:12:54.242" v="148" actId="20577"/>
          <ac:spMkLst>
            <pc:docMk/>
            <pc:sldMk cId="0" sldId="256"/>
            <ac:spMk id="7" creationId="{00000000-0000-0000-0000-000000000000}"/>
          </ac:spMkLst>
        </pc:spChg>
      </pc:sldChg>
      <pc:sldChg chg="modSp mod">
        <pc:chgData name="Thomas 'Tom' Martens" userId="35ccf0d4-9e71-4d15-bebb-7c78661c64b3" providerId="ADAL" clId="{8EB38B34-1C63-550C-B0CD-9C132AC5822A}" dt="2026-05-10T05:13:09.980" v="153" actId="20577"/>
        <pc:sldMkLst>
          <pc:docMk/>
          <pc:sldMk cId="0" sldId="257"/>
        </pc:sldMkLst>
        <pc:spChg chg="mod">
          <ac:chgData name="Thomas 'Tom' Martens" userId="35ccf0d4-9e71-4d15-bebb-7c78661c64b3" providerId="ADAL" clId="{8EB38B34-1C63-550C-B0CD-9C132AC5822A}" dt="2026-05-10T05:13:09.980" v="153" actId="20577"/>
          <ac:spMkLst>
            <pc:docMk/>
            <pc:sldMk cId="0" sldId="257"/>
            <ac:spMk id="4" creationId="{00000000-0000-0000-0000-000000000000}"/>
          </ac:spMkLst>
        </pc:spChg>
      </pc:sldChg>
      <pc:sldChg chg="modSp mod">
        <pc:chgData name="Thomas 'Tom' Martens" userId="35ccf0d4-9e71-4d15-bebb-7c78661c64b3" providerId="ADAL" clId="{8EB38B34-1C63-550C-B0CD-9C132AC5822A}" dt="2026-05-10T05:13:23.618" v="158" actId="20577"/>
        <pc:sldMkLst>
          <pc:docMk/>
          <pc:sldMk cId="0" sldId="258"/>
        </pc:sldMkLst>
        <pc:spChg chg="mod">
          <ac:chgData name="Thomas 'Tom' Martens" userId="35ccf0d4-9e71-4d15-bebb-7c78661c64b3" providerId="ADAL" clId="{8EB38B34-1C63-550C-B0CD-9C132AC5822A}" dt="2026-05-10T05:13:23.618" v="158" actId="20577"/>
          <ac:spMkLst>
            <pc:docMk/>
            <pc:sldMk cId="0" sldId="258"/>
            <ac:spMk id="4" creationId="{00000000-0000-0000-0000-000000000000}"/>
          </ac:spMkLst>
        </pc:spChg>
      </pc:sldChg>
      <pc:sldChg chg="modSp mod">
        <pc:chgData name="Thomas 'Tom' Martens" userId="35ccf0d4-9e71-4d15-bebb-7c78661c64b3" providerId="ADAL" clId="{8EB38B34-1C63-550C-B0CD-9C132AC5822A}" dt="2026-05-10T05:13:34.389" v="163" actId="20577"/>
        <pc:sldMkLst>
          <pc:docMk/>
          <pc:sldMk cId="0" sldId="259"/>
        </pc:sldMkLst>
        <pc:spChg chg="mod">
          <ac:chgData name="Thomas 'Tom' Martens" userId="35ccf0d4-9e71-4d15-bebb-7c78661c64b3" providerId="ADAL" clId="{8EB38B34-1C63-550C-B0CD-9C132AC5822A}" dt="2026-05-10T05:13:34.389" v="163" actId="20577"/>
          <ac:spMkLst>
            <pc:docMk/>
            <pc:sldMk cId="0" sldId="259"/>
            <ac:spMk id="4" creationId="{00000000-0000-0000-0000-000000000000}"/>
          </ac:spMkLst>
        </pc:spChg>
      </pc:sldChg>
      <pc:sldChg chg="modSp mod">
        <pc:chgData name="Thomas 'Tom' Martens" userId="35ccf0d4-9e71-4d15-bebb-7c78661c64b3" providerId="ADAL" clId="{8EB38B34-1C63-550C-B0CD-9C132AC5822A}" dt="2026-05-10T05:13:51.665" v="168" actId="20577"/>
        <pc:sldMkLst>
          <pc:docMk/>
          <pc:sldMk cId="0" sldId="260"/>
        </pc:sldMkLst>
        <pc:spChg chg="mod">
          <ac:chgData name="Thomas 'Tom' Martens" userId="35ccf0d4-9e71-4d15-bebb-7c78661c64b3" providerId="ADAL" clId="{8EB38B34-1C63-550C-B0CD-9C132AC5822A}" dt="2026-05-10T05:13:51.665" v="168" actId="20577"/>
          <ac:spMkLst>
            <pc:docMk/>
            <pc:sldMk cId="0" sldId="260"/>
            <ac:spMk id="4" creationId="{00000000-0000-0000-0000-000000000000}"/>
          </ac:spMkLst>
        </pc:spChg>
      </pc:sldChg>
      <pc:sldChg chg="modSp mod">
        <pc:chgData name="Thomas 'Tom' Martens" userId="35ccf0d4-9e71-4d15-bebb-7c78661c64b3" providerId="ADAL" clId="{8EB38B34-1C63-550C-B0CD-9C132AC5822A}" dt="2026-05-10T05:14:05.332" v="173" actId="20577"/>
        <pc:sldMkLst>
          <pc:docMk/>
          <pc:sldMk cId="0" sldId="261"/>
        </pc:sldMkLst>
        <pc:spChg chg="mod">
          <ac:chgData name="Thomas 'Tom' Martens" userId="35ccf0d4-9e71-4d15-bebb-7c78661c64b3" providerId="ADAL" clId="{8EB38B34-1C63-550C-B0CD-9C132AC5822A}" dt="2026-05-10T05:14:05.332" v="173" actId="20577"/>
          <ac:spMkLst>
            <pc:docMk/>
            <pc:sldMk cId="0" sldId="261"/>
            <ac:spMk id="4" creationId="{00000000-0000-0000-0000-000000000000}"/>
          </ac:spMkLst>
        </pc:spChg>
      </pc:sldChg>
      <pc:sldChg chg="modSp mod">
        <pc:chgData name="Thomas 'Tom' Martens" userId="35ccf0d4-9e71-4d15-bebb-7c78661c64b3" providerId="ADAL" clId="{8EB38B34-1C63-550C-B0CD-9C132AC5822A}" dt="2026-05-10T05:14:22.353" v="178" actId="20577"/>
        <pc:sldMkLst>
          <pc:docMk/>
          <pc:sldMk cId="0" sldId="262"/>
        </pc:sldMkLst>
        <pc:spChg chg="mod">
          <ac:chgData name="Thomas 'Tom' Martens" userId="35ccf0d4-9e71-4d15-bebb-7c78661c64b3" providerId="ADAL" clId="{8EB38B34-1C63-550C-B0CD-9C132AC5822A}" dt="2026-05-10T05:14:22.353" v="178" actId="20577"/>
          <ac:spMkLst>
            <pc:docMk/>
            <pc:sldMk cId="0" sldId="262"/>
            <ac:spMk id="4" creationId="{00000000-0000-0000-0000-000000000000}"/>
          </ac:spMkLst>
        </pc:spChg>
      </pc:sldChg>
      <pc:sldChg chg="modSp mod">
        <pc:chgData name="Thomas 'Tom' Martens" userId="35ccf0d4-9e71-4d15-bebb-7c78661c64b3" providerId="ADAL" clId="{8EB38B34-1C63-550C-B0CD-9C132AC5822A}" dt="2026-05-10T05:14:49.593" v="183" actId="20577"/>
        <pc:sldMkLst>
          <pc:docMk/>
          <pc:sldMk cId="0" sldId="263"/>
        </pc:sldMkLst>
        <pc:spChg chg="mod">
          <ac:chgData name="Thomas 'Tom' Martens" userId="35ccf0d4-9e71-4d15-bebb-7c78661c64b3" providerId="ADAL" clId="{8EB38B34-1C63-550C-B0CD-9C132AC5822A}" dt="2026-05-10T05:14:49.593" v="183" actId="20577"/>
          <ac:spMkLst>
            <pc:docMk/>
            <pc:sldMk cId="0" sldId="263"/>
            <ac:spMk id="4" creationId="{00000000-0000-0000-0000-000000000000}"/>
          </ac:spMkLst>
        </pc:spChg>
      </pc:sldChg>
      <pc:sldChg chg="modSp mod">
        <pc:chgData name="Thomas 'Tom' Martens" userId="35ccf0d4-9e71-4d15-bebb-7c78661c64b3" providerId="ADAL" clId="{8EB38B34-1C63-550C-B0CD-9C132AC5822A}" dt="2026-05-10T05:15:02.403" v="188" actId="20577"/>
        <pc:sldMkLst>
          <pc:docMk/>
          <pc:sldMk cId="0" sldId="264"/>
        </pc:sldMkLst>
        <pc:spChg chg="mod">
          <ac:chgData name="Thomas 'Tom' Martens" userId="35ccf0d4-9e71-4d15-bebb-7c78661c64b3" providerId="ADAL" clId="{8EB38B34-1C63-550C-B0CD-9C132AC5822A}" dt="2026-05-10T05:15:02.403" v="188" actId="20577"/>
          <ac:spMkLst>
            <pc:docMk/>
            <pc:sldMk cId="0" sldId="264"/>
            <ac:spMk id="4" creationId="{00000000-0000-0000-0000-000000000000}"/>
          </ac:spMkLst>
        </pc:spChg>
      </pc:sldChg>
      <pc:sldChg chg="modSp mod">
        <pc:chgData name="Thomas 'Tom' Martens" userId="35ccf0d4-9e71-4d15-bebb-7c78661c64b3" providerId="ADAL" clId="{8EB38B34-1C63-550C-B0CD-9C132AC5822A}" dt="2026-05-09T05:46:04.547" v="49" actId="20577"/>
        <pc:sldMkLst>
          <pc:docMk/>
          <pc:sldMk cId="0" sldId="265"/>
        </pc:sldMkLst>
        <pc:spChg chg="mod">
          <ac:chgData name="Thomas 'Tom' Martens" userId="35ccf0d4-9e71-4d15-bebb-7c78661c64b3" providerId="ADAL" clId="{8EB38B34-1C63-550C-B0CD-9C132AC5822A}" dt="2026-05-09T05:46:04.547" v="49" actId="20577"/>
          <ac:spMkLst>
            <pc:docMk/>
            <pc:sldMk cId="0" sldId="265"/>
            <ac:spMk id="4" creationId="{00000000-0000-0000-0000-000000000000}"/>
          </ac:spMkLst>
        </pc:spChg>
      </pc:sldChg>
      <pc:sldChg chg="modSp mod">
        <pc:chgData name="Thomas 'Tom' Martens" userId="35ccf0d4-9e71-4d15-bebb-7c78661c64b3" providerId="ADAL" clId="{8EB38B34-1C63-550C-B0CD-9C132AC5822A}" dt="2026-05-10T05:15:17.941" v="193" actId="20577"/>
        <pc:sldMkLst>
          <pc:docMk/>
          <pc:sldMk cId="0" sldId="266"/>
        </pc:sldMkLst>
        <pc:spChg chg="mod">
          <ac:chgData name="Thomas 'Tom' Martens" userId="35ccf0d4-9e71-4d15-bebb-7c78661c64b3" providerId="ADAL" clId="{8EB38B34-1C63-550C-B0CD-9C132AC5822A}" dt="2026-05-10T05:15:17.941" v="193" actId="20577"/>
          <ac:spMkLst>
            <pc:docMk/>
            <pc:sldMk cId="0" sldId="266"/>
            <ac:spMk id="4" creationId="{00000000-0000-0000-0000-000000000000}"/>
          </ac:spMkLst>
        </pc:spChg>
      </pc:sldChg>
      <pc:sldChg chg="modSp mod">
        <pc:chgData name="Thomas 'Tom' Martens" userId="35ccf0d4-9e71-4d15-bebb-7c78661c64b3" providerId="ADAL" clId="{8EB38B34-1C63-550C-B0CD-9C132AC5822A}" dt="2026-05-10T08:32:43.815" v="264" actId="20577"/>
        <pc:sldMkLst>
          <pc:docMk/>
          <pc:sldMk cId="0" sldId="267"/>
        </pc:sldMkLst>
        <pc:spChg chg="mod">
          <ac:chgData name="Thomas 'Tom' Martens" userId="35ccf0d4-9e71-4d15-bebb-7c78661c64b3" providerId="ADAL" clId="{8EB38B34-1C63-550C-B0CD-9C132AC5822A}" dt="2026-05-10T05:15:28.950" v="198" actId="20577"/>
          <ac:spMkLst>
            <pc:docMk/>
            <pc:sldMk cId="0" sldId="267"/>
            <ac:spMk id="4" creationId="{00000000-0000-0000-0000-000000000000}"/>
          </ac:spMkLst>
        </pc:spChg>
        <pc:spChg chg="mod">
          <ac:chgData name="Thomas 'Tom' Martens" userId="35ccf0d4-9e71-4d15-bebb-7c78661c64b3" providerId="ADAL" clId="{8EB38B34-1C63-550C-B0CD-9C132AC5822A}" dt="2026-05-10T08:32:43.815" v="264" actId="20577"/>
          <ac:spMkLst>
            <pc:docMk/>
            <pc:sldMk cId="0" sldId="267"/>
            <ac:spMk id="30" creationId="{00000000-0000-0000-0000-000000000000}"/>
          </ac:spMkLst>
        </pc:spChg>
      </pc:sldChg>
      <pc:sldChg chg="modSp mod">
        <pc:chgData name="Thomas 'Tom' Martens" userId="35ccf0d4-9e71-4d15-bebb-7c78661c64b3" providerId="ADAL" clId="{8EB38B34-1C63-550C-B0CD-9C132AC5822A}" dt="2026-05-10T05:15:39.399" v="203" actId="20577"/>
        <pc:sldMkLst>
          <pc:docMk/>
          <pc:sldMk cId="0" sldId="268"/>
        </pc:sldMkLst>
        <pc:spChg chg="mod">
          <ac:chgData name="Thomas 'Tom' Martens" userId="35ccf0d4-9e71-4d15-bebb-7c78661c64b3" providerId="ADAL" clId="{8EB38B34-1C63-550C-B0CD-9C132AC5822A}" dt="2026-05-10T05:15:39.399" v="203" actId="20577"/>
          <ac:spMkLst>
            <pc:docMk/>
            <pc:sldMk cId="0" sldId="268"/>
            <ac:spMk id="4" creationId="{00000000-0000-0000-0000-000000000000}"/>
          </ac:spMkLst>
        </pc:spChg>
      </pc:sldChg>
      <pc:sldChg chg="modSp mod">
        <pc:chgData name="Thomas 'Tom' Martens" userId="35ccf0d4-9e71-4d15-bebb-7c78661c64b3" providerId="ADAL" clId="{8EB38B34-1C63-550C-B0CD-9C132AC5822A}" dt="2026-05-10T05:15:50.817" v="210" actId="20577"/>
        <pc:sldMkLst>
          <pc:docMk/>
          <pc:sldMk cId="0" sldId="269"/>
        </pc:sldMkLst>
        <pc:spChg chg="mod">
          <ac:chgData name="Thomas 'Tom' Martens" userId="35ccf0d4-9e71-4d15-bebb-7c78661c64b3" providerId="ADAL" clId="{8EB38B34-1C63-550C-B0CD-9C132AC5822A}" dt="2026-05-10T05:15:50.817" v="210" actId="20577"/>
          <ac:spMkLst>
            <pc:docMk/>
            <pc:sldMk cId="0" sldId="269"/>
            <ac:spMk id="4" creationId="{00000000-0000-0000-0000-000000000000}"/>
          </ac:spMkLst>
        </pc:spChg>
      </pc:sldChg>
      <pc:sldChg chg="modSp mod">
        <pc:chgData name="Thomas 'Tom' Martens" userId="35ccf0d4-9e71-4d15-bebb-7c78661c64b3" providerId="ADAL" clId="{8EB38B34-1C63-550C-B0CD-9C132AC5822A}" dt="2026-05-10T05:16:05.308" v="215" actId="20577"/>
        <pc:sldMkLst>
          <pc:docMk/>
          <pc:sldMk cId="0" sldId="270"/>
        </pc:sldMkLst>
        <pc:spChg chg="mod">
          <ac:chgData name="Thomas 'Tom' Martens" userId="35ccf0d4-9e71-4d15-bebb-7c78661c64b3" providerId="ADAL" clId="{8EB38B34-1C63-550C-B0CD-9C132AC5822A}" dt="2026-05-10T05:16:05.308" v="215" actId="20577"/>
          <ac:spMkLst>
            <pc:docMk/>
            <pc:sldMk cId="0" sldId="270"/>
            <ac:spMk id="4" creationId="{00000000-0000-0000-0000-000000000000}"/>
          </ac:spMkLst>
        </pc:spChg>
      </pc:sldChg>
      <pc:sldChg chg="modSp mod">
        <pc:chgData name="Thomas 'Tom' Martens" userId="35ccf0d4-9e71-4d15-bebb-7c78661c64b3" providerId="ADAL" clId="{8EB38B34-1C63-550C-B0CD-9C132AC5822A}" dt="2026-05-10T05:16:26.162" v="222" actId="20577"/>
        <pc:sldMkLst>
          <pc:docMk/>
          <pc:sldMk cId="0" sldId="272"/>
        </pc:sldMkLst>
        <pc:spChg chg="mod">
          <ac:chgData name="Thomas 'Tom' Martens" userId="35ccf0d4-9e71-4d15-bebb-7c78661c64b3" providerId="ADAL" clId="{8EB38B34-1C63-550C-B0CD-9C132AC5822A}" dt="2026-05-10T05:16:26.162" v="222" actId="20577"/>
          <ac:spMkLst>
            <pc:docMk/>
            <pc:sldMk cId="0" sldId="272"/>
            <ac:spMk id="4" creationId="{00000000-0000-0000-0000-000000000000}"/>
          </ac:spMkLst>
        </pc:spChg>
      </pc:sldChg>
      <pc:sldChg chg="modSp mod">
        <pc:chgData name="Thomas 'Tom' Martens" userId="35ccf0d4-9e71-4d15-bebb-7c78661c64b3" providerId="ADAL" clId="{8EB38B34-1C63-550C-B0CD-9C132AC5822A}" dt="2026-05-10T05:16:36.795" v="227" actId="20577"/>
        <pc:sldMkLst>
          <pc:docMk/>
          <pc:sldMk cId="0" sldId="273"/>
        </pc:sldMkLst>
        <pc:spChg chg="mod">
          <ac:chgData name="Thomas 'Tom' Martens" userId="35ccf0d4-9e71-4d15-bebb-7c78661c64b3" providerId="ADAL" clId="{8EB38B34-1C63-550C-B0CD-9C132AC5822A}" dt="2026-05-10T05:16:36.795" v="227" actId="20577"/>
          <ac:spMkLst>
            <pc:docMk/>
            <pc:sldMk cId="0" sldId="273"/>
            <ac:spMk id="4" creationId="{00000000-0000-0000-0000-000000000000}"/>
          </ac:spMkLst>
        </pc:spChg>
        <pc:spChg chg="mod">
          <ac:chgData name="Thomas 'Tom' Martens" userId="35ccf0d4-9e71-4d15-bebb-7c78661c64b3" providerId="ADAL" clId="{8EB38B34-1C63-550C-B0CD-9C132AC5822A}" dt="2026-05-09T06:02:59.619" v="133" actId="20577"/>
          <ac:spMkLst>
            <pc:docMk/>
            <pc:sldMk cId="0" sldId="273"/>
            <ac:spMk id="8" creationId="{00000000-0000-0000-0000-000000000000}"/>
          </ac:spMkLst>
        </pc:spChg>
      </pc:sldChg>
      <pc:sldChg chg="modSp mod">
        <pc:chgData name="Thomas 'Tom' Martens" userId="35ccf0d4-9e71-4d15-bebb-7c78661c64b3" providerId="ADAL" clId="{8EB38B34-1C63-550C-B0CD-9C132AC5822A}" dt="2026-05-10T05:16:47.733" v="232" actId="20577"/>
        <pc:sldMkLst>
          <pc:docMk/>
          <pc:sldMk cId="0" sldId="274"/>
        </pc:sldMkLst>
        <pc:spChg chg="mod">
          <ac:chgData name="Thomas 'Tom' Martens" userId="35ccf0d4-9e71-4d15-bebb-7c78661c64b3" providerId="ADAL" clId="{8EB38B34-1C63-550C-B0CD-9C132AC5822A}" dt="2026-05-10T05:16:47.733" v="232" actId="20577"/>
          <ac:spMkLst>
            <pc:docMk/>
            <pc:sldMk cId="0" sldId="274"/>
            <ac:spMk id="4" creationId="{00000000-0000-0000-0000-000000000000}"/>
          </ac:spMkLst>
        </pc:spChg>
      </pc:sldChg>
      <pc:sldChg chg="add del setBg">
        <pc:chgData name="Thomas 'Tom' Martens" userId="35ccf0d4-9e71-4d15-bebb-7c78661c64b3" providerId="ADAL" clId="{8EB38B34-1C63-550C-B0CD-9C132AC5822A}" dt="2026-05-10T08:31:56.214" v="249" actId="2696"/>
        <pc:sldMkLst>
          <pc:docMk/>
          <pc:sldMk cId="0" sldId="275"/>
        </pc:sldMkLst>
      </pc:sldChg>
      <pc:sldChg chg="add del">
        <pc:chgData name="Thomas 'Tom' Martens" userId="35ccf0d4-9e71-4d15-bebb-7c78661c64b3" providerId="ADAL" clId="{8EB38B34-1C63-550C-B0CD-9C132AC5822A}" dt="2026-05-10T08:31:49.331" v="248" actId="2696"/>
        <pc:sldMkLst>
          <pc:docMk/>
          <pc:sldMk cId="0" sldId="276"/>
        </pc:sldMkLst>
      </pc:sldChg>
      <pc:sldChg chg="modSp add del mod">
        <pc:chgData name="Thomas 'Tom' Martens" userId="35ccf0d4-9e71-4d15-bebb-7c78661c64b3" providerId="ADAL" clId="{8EB38B34-1C63-550C-B0CD-9C132AC5822A}" dt="2026-05-10T08:31:45.331" v="247" actId="2696"/>
        <pc:sldMkLst>
          <pc:docMk/>
          <pc:sldMk cId="0" sldId="277"/>
        </pc:sldMkLst>
        <pc:spChg chg="mod">
          <ac:chgData name="Thomas 'Tom' Martens" userId="35ccf0d4-9e71-4d15-bebb-7c78661c64b3" providerId="ADAL" clId="{8EB38B34-1C63-550C-B0CD-9C132AC5822A}" dt="2026-05-10T06:42:46.760" v="240" actId="1076"/>
          <ac:spMkLst>
            <pc:docMk/>
            <pc:sldMk cId="0" sldId="277"/>
            <ac:spMk id="4" creationId="{00000000-0000-0000-0000-000000000000}"/>
          </ac:spMkLst>
        </pc:spChg>
        <pc:spChg chg="mod">
          <ac:chgData name="Thomas 'Tom' Martens" userId="35ccf0d4-9e71-4d15-bebb-7c78661c64b3" providerId="ADAL" clId="{8EB38B34-1C63-550C-B0CD-9C132AC5822A}" dt="2026-05-10T06:42:49.431" v="243" actId="1076"/>
          <ac:spMkLst>
            <pc:docMk/>
            <pc:sldMk cId="0" sldId="277"/>
            <ac:spMk id="9" creationId="{00000000-0000-0000-0000-000000000000}"/>
          </ac:spMkLst>
        </pc:spChg>
        <pc:spChg chg="mod">
          <ac:chgData name="Thomas 'Tom' Martens" userId="35ccf0d4-9e71-4d15-bebb-7c78661c64b3" providerId="ADAL" clId="{8EB38B34-1C63-550C-B0CD-9C132AC5822A}" dt="2026-05-10T06:43:15.051" v="246"/>
          <ac:spMkLst>
            <pc:docMk/>
            <pc:sldMk cId="0" sldId="277"/>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696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confidence and pace. This is a 45-minute slot — a sprint, not a marathon.
Greet the audience briefly, name the talk, name yourself, then move on.
Do NOT spend 90 seconds on biography. The four questions of the abstract should be on screen within 60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does two things: sets expectations for the rhythm and surfaces the thesis.
Don't dwell. 30 seconds. The audience will refer back to it mentally; you don't need to teach it.
Note act 3 is the heart — coral circle. The audience will see where the energy goes.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reading the abstract's four questions, posed as real governance pain — not rhetorical hand-waving.
Pace: deliberate but not slow. The audience needs to nod by question 2 or 3.
Avoid: any war stories from Munich Re. The point is universality.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shift. You're moving from problem to thesis in 60 seconds.
The three numbers aren't precise — they make the point that the wall arrives somewhere around modest scale.
Land hard on the closing line — 'the PBIR folder itself is the answer' — that's the bridge to Act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act. The reframe lands in the first sentence after the divider; the rest reinforces.
Don't over-explain JSON. Half the audience already knows; the other half just needs the gist.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PBIP muted (the past), PBIR vivid (the present).
The coral arrow is the moment — 'this changed everything for what we can do as governance practitioners'.
Land the bottom line: 'this is a dataset, not a file'. Pause. Move 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live moment: 'open Finder, drag the report folder onto screen, point at one visual.json, read three lines aloud'.
If the live demo isn't possible (online stage friction), the tree on this slide IS the live moment.
Don't read the whole tree out. Highlight visual.json as the atomic unit and move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energy peaks. Slow your breathing, lift your voice slightly.
Audiences feel a section divider — let them. Don't rush off it.
The next slide names four design choices in 90 seconds, then we go live.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total — about 22 seconds per card. Don't elaborate; deliver crisp answers and move.
These four slides earn their place by reinforcing the thesis. Each answer is a why-this-design-choice, not a feature pitch.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for the demo — the largest single block in the talk.
BACKUP: pre-recorded version queued up locally in case live fails. One Cmd-Tab away.
Pacing: 3 minutes loading + walking the model. 2 minutes per query × 4 queries = 8 min. 1 minute slack.
If running long, drop the 4th query — never drop the model walk.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live demo runs short, this slide gives you a 30-second visual recap.
If running long, you can skip the 4th query (slicers) — it's the most fiddly to demo.
The point of this slide is the phrase 'different inventories, same lens'. Same Power Query, different shape of question.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ONLY if the live demo skipped the slicer query. Otherwise, gloss past it — the live result is more compelling.
The narrative: a governance team set 'single-select default All' as the standard. Two reports drifted. PBIR X-Ray surfaces it in one query.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Brief.
The audience trusts you more after this slide than before it. Naming limits is a strength move, not a weakness.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per limit, then 30 seconds on the closing line about why each is a feature.
The closing italic line is the bridge to Q&amp;A — 'and yes, I'd love your questions about any of these'.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No live audience-driven query exploration — that was the 60-min Act 5, gone in this cut.
Let the moderator surface questions. DO NOT watch chat yourself. The temptation is worse at 45 minutes than at 60.
If a question requires more than 90 seconds to answer, offer to follow up on LinkedIn.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sentence the audience leaves with. Slow your delivery here — let the words land.
Don't add adornment. The slide is the thesis; you are reinforcing it, not paraphrasing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on the Tenant Lens sibling — don't oversell it. The audience came for X-Ray.
Close on 'thank you' in coral — small, warm, brand-consistent.
Then stop talking. Let the audience applaud. Don't fill silence with thank-you-thank-you.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 not part of the main talk flow.
Use only if a pressing Q&amp;A question lands on architecture, OR after the conference when the deck is uploaded to the GitHub repo.
Each item is a real architectural decision in the PBIR X-Ray solution that a Power BI beginner would not have thought to make. Ranked roughly by depth of the learning cliff (01 = most architecturally important; 10 = a small but telling detail).
If asked verbally to elaborate on one: pick the item, name the file it lives in (most are in expressions.tmdl or the ConditionalFormattingRules / SchemaCoverageAudit table queries), and describe the failure mode it prevents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 not part of the main talk flow.
Closes the loop on the UnusedObjectsFinder_pbir item from slide 18.
The point: today's thin solution (Table.Distinct over ModelReferences_pbir) is correct *for the architecture it lives in*. The architecture is one report per model. When that changes — shared semantic model with multiple thin reports — the question “is this object unused?” becomes a multi-report question, and no single report's PBIR folder contains the answer.
Failure mode if asked verbally: 'remove a measure because Report A doesn’t use it, break Report B that does.'
What changes in code: walk multiple report folders (fn_pbir_ReportData becomes a function over a list of paths), union their ModelReferences output, then anti-join against a model inventory. The primitives stay; the aggregation is new.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436"/>
        </a:solidFill>
        <a:effectLst/>
      </p:bgPr>
    </p:bg>
    <p:spTree>
      <p:nvGrpSpPr>
        <p:cNvPr id="1" name=""/>
        <p:cNvGrpSpPr/>
        <p:nvPr/>
      </p:nvGrpSpPr>
      <p:grpSpPr>
        <a:xfrm>
          <a:off x="0" y="0"/>
          <a:ext cx="0" cy="0"/>
          <a:chOff x="0" y="0"/>
          <a:chExt cx="0" cy="0"/>
        </a:xfrm>
      </p:grpSpPr>
      <p:sp>
        <p:nvSpPr>
          <p:cNvPr id="2" name="Shape 0"/>
          <p:cNvSpPr/>
          <p:nvPr/>
        </p:nvSpPr>
        <p:spPr>
          <a:xfrm>
            <a:off x="548640" y="548640"/>
            <a:ext cx="292608" cy="292608"/>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950976" y="621792"/>
            <a:ext cx="219456" cy="219456"/>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2103120"/>
            <a:ext cx="11091672" cy="457200"/>
          </a:xfrm>
          <a:prstGeom prst="rect">
            <a:avLst/>
          </a:prstGeom>
          <a:noFill/>
          <a:ln/>
        </p:spPr>
        <p:txBody>
          <a:bodyPr wrap="square" lIns="0" tIns="0" rIns="0" bIns="0" rtlCol="0" anchor="ctr"/>
          <a:lstStyle/>
          <a:p>
            <a:pPr marL="0" indent="0">
              <a:buNone/>
            </a:pPr>
            <a:r>
              <a:rPr lang="en-US" sz="1600" b="1" kern="0" spc="800" dirty="0">
                <a:solidFill>
                  <a:srgbClr val="72D4DC"/>
                </a:solidFill>
                <a:latin typeface="Source Code Pro" pitchFamily="34" charset="0"/>
                <a:ea typeface="Source Code Pro" pitchFamily="34" charset="-122"/>
                <a:cs typeface="Source Code Pro" pitchFamily="34" charset="-120"/>
              </a:rPr>
              <a:t>POWER BI X-RAY</a:t>
            </a:r>
            <a:endParaRPr lang="en-US" sz="1600" dirty="0"/>
          </a:p>
        </p:txBody>
      </p:sp>
      <p:sp>
        <p:nvSpPr>
          <p:cNvPr id="5" name="Text 3"/>
          <p:cNvSpPr/>
          <p:nvPr/>
        </p:nvSpPr>
        <p:spPr>
          <a:xfrm>
            <a:off x="548640" y="2606040"/>
            <a:ext cx="11091672" cy="2377440"/>
          </a:xfrm>
          <a:prstGeom prst="rect">
            <a:avLst/>
          </a:prstGeom>
          <a:noFill/>
          <a:ln/>
        </p:spPr>
        <p:txBody>
          <a:bodyPr wrap="square" lIns="0" tIns="0" rIns="0" bIns="0" rtlCol="0" anchor="t"/>
          <a:lstStyle/>
          <a:p>
            <a:pPr marL="0" indent="0">
              <a:lnSpc>
                <a:spcPct val="100000"/>
              </a:lnSpc>
              <a:buNone/>
            </a:pPr>
            <a:r>
              <a:rPr lang="en-US" sz="6400" b="1" kern="0" spc="100" dirty="0">
                <a:solidFill>
                  <a:srgbClr val="FFFFFF"/>
                </a:solidFill>
                <a:latin typeface="Source Code Pro" pitchFamily="34" charset="0"/>
                <a:ea typeface="Source Code Pro" pitchFamily="34" charset="-122"/>
                <a:cs typeface="Source Code Pro" pitchFamily="34" charset="-120"/>
              </a:rPr>
              <a:t>A lens to your</a:t>
            </a:r>
            <a:endParaRPr lang="en-US" sz="6400" dirty="0"/>
          </a:p>
          <a:p>
            <a:pPr marL="0" indent="0">
              <a:lnSpc>
                <a:spcPct val="100000"/>
              </a:lnSpc>
              <a:buNone/>
            </a:pPr>
            <a:r>
              <a:rPr lang="en-US" sz="6400" b="1" kern="0" spc="100" dirty="0">
                <a:solidFill>
                  <a:srgbClr val="FFFFFF"/>
                </a:solidFill>
                <a:latin typeface="Source Code Pro" pitchFamily="34" charset="0"/>
                <a:ea typeface="Source Code Pro" pitchFamily="34" charset="-122"/>
                <a:cs typeface="Source Code Pro" pitchFamily="34" charset="-120"/>
              </a:rPr>
              <a:t>Power BI reports.</a:t>
            </a:r>
            <a:endParaRPr lang="en-US" sz="6400" dirty="0"/>
          </a:p>
        </p:txBody>
      </p:sp>
      <p:sp>
        <p:nvSpPr>
          <p:cNvPr id="6" name="Shape 4"/>
          <p:cNvSpPr/>
          <p:nvPr/>
        </p:nvSpPr>
        <p:spPr>
          <a:xfrm>
            <a:off x="548640" y="5029200"/>
            <a:ext cx="731520" cy="54864"/>
          </a:xfrm>
          <a:prstGeom prst="rect">
            <a:avLst/>
          </a:prstGeom>
          <a:solidFill>
            <a:srgbClr val="FF6348"/>
          </a:solidFill>
          <a:ln w="12700">
            <a:solidFill>
              <a:srgbClr val="FF6348"/>
            </a:solidFill>
            <a:prstDash val="solid"/>
          </a:ln>
        </p:spPr>
        <p:txBody>
          <a:bodyPr/>
          <a:lstStyle/>
          <a:p>
            <a:endParaRPr lang="en-DE"/>
          </a:p>
        </p:txBody>
      </p:sp>
      <p:sp>
        <p:nvSpPr>
          <p:cNvPr id="7" name="Text 5"/>
          <p:cNvSpPr/>
          <p:nvPr/>
        </p:nvSpPr>
        <p:spPr>
          <a:xfrm>
            <a:off x="548640" y="5212080"/>
            <a:ext cx="9144000" cy="914400"/>
          </a:xfrm>
          <a:prstGeom prst="rect">
            <a:avLst/>
          </a:prstGeom>
          <a:noFill/>
          <a:ln/>
        </p:spPr>
        <p:txBody>
          <a:bodyPr wrap="square" lIns="0" tIns="0" rIns="0" bIns="0" rtlCol="0" anchor="ctr"/>
          <a:lstStyle/>
          <a:p>
            <a:pPr marL="0" indent="0">
              <a:buNone/>
            </a:pPr>
            <a:r>
              <a:rPr lang="en-US" sz="1600" b="1" dirty="0">
                <a:solidFill>
                  <a:srgbClr val="FFFFFF"/>
                </a:solidFill>
                <a:latin typeface="Source Code Pro" pitchFamily="34" charset="0"/>
                <a:ea typeface="Source Code Pro" pitchFamily="34" charset="-122"/>
                <a:cs typeface="Source Code Pro" pitchFamily="34" charset="-120"/>
              </a:rPr>
              <a:t>Tom Martens</a:t>
            </a:r>
            <a:endParaRPr lang="en-US" sz="1600" dirty="0"/>
          </a:p>
          <a:p>
            <a:pPr marL="0" indent="0">
              <a:buNone/>
            </a:pPr>
            <a:r>
              <a:rPr lang="en-US" sz="1600" dirty="0">
                <a:solidFill>
                  <a:srgbClr val="8B9296"/>
                </a:solidFill>
                <a:latin typeface="Source Code Pro" pitchFamily="34" charset="0"/>
                <a:ea typeface="Source Code Pro" pitchFamily="34" charset="-122"/>
                <a:cs typeface="Source Code Pro" pitchFamily="34" charset="-120"/>
              </a:rPr>
              <a:t>GMACC4  ·  2026-05-09 &amp; 10  ·  45 minutes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2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45 MINUTES</a:t>
            </a:r>
            <a:endParaRPr lang="en-US" sz="1100" dirty="0"/>
          </a:p>
        </p:txBody>
      </p:sp>
      <p:sp>
        <p:nvSpPr>
          <p:cNvPr id="7" name="Text 5"/>
          <p:cNvSpPr/>
          <p:nvPr/>
        </p:nvSpPr>
        <p:spPr>
          <a:xfrm>
            <a:off x="548640" y="1417320"/>
            <a:ext cx="11091672" cy="914400"/>
          </a:xfrm>
          <a:prstGeom prst="rect">
            <a:avLst/>
          </a:prstGeom>
          <a:noFill/>
          <a:ln/>
        </p:spPr>
        <p:txBody>
          <a:bodyPr wrap="square" lIns="0" tIns="0" rIns="0" bIns="0" rtlCol="0" anchor="t"/>
          <a:lstStyle/>
          <a:p>
            <a:pPr marL="0" indent="0">
              <a:buNone/>
            </a:pPr>
            <a:r>
              <a:rPr lang="en-US" sz="3800" b="1" kern="0" spc="100" dirty="0">
                <a:solidFill>
                  <a:srgbClr val="2D3436"/>
                </a:solidFill>
                <a:latin typeface="Source Code Pro" pitchFamily="34" charset="0"/>
                <a:ea typeface="Source Code Pro" pitchFamily="34" charset="-122"/>
                <a:cs typeface="Source Code Pro" pitchFamily="34" charset="-120"/>
              </a:rPr>
              <a:t>Six acts. One thesis.</a:t>
            </a:r>
            <a:endParaRPr lang="en-US" sz="3800" dirty="0"/>
          </a:p>
        </p:txBody>
      </p:sp>
      <p:sp>
        <p:nvSpPr>
          <p:cNvPr id="8" name="Shape 6"/>
          <p:cNvSpPr/>
          <p:nvPr/>
        </p:nvSpPr>
        <p:spPr>
          <a:xfrm>
            <a:off x="548640" y="2423160"/>
            <a:ext cx="384048" cy="384048"/>
          </a:xfrm>
          <a:prstGeom prst="ellipse">
            <a:avLst/>
          </a:prstGeom>
          <a:solidFill>
            <a:srgbClr val="72D4DC"/>
          </a:solidFill>
          <a:ln w="12700">
            <a:solidFill>
              <a:srgbClr val="72D4DC"/>
            </a:solidFill>
            <a:prstDash val="solid"/>
          </a:ln>
        </p:spPr>
        <p:txBody>
          <a:bodyPr/>
          <a:lstStyle/>
          <a:p>
            <a:endParaRPr lang="en-DE"/>
          </a:p>
        </p:txBody>
      </p:sp>
      <p:sp>
        <p:nvSpPr>
          <p:cNvPr id="9" name="Text 7"/>
          <p:cNvSpPr/>
          <p:nvPr/>
        </p:nvSpPr>
        <p:spPr>
          <a:xfrm>
            <a:off x="548640" y="24231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1</a:t>
            </a:r>
            <a:endParaRPr lang="en-US" sz="1600" dirty="0"/>
          </a:p>
        </p:txBody>
      </p:sp>
      <p:sp>
        <p:nvSpPr>
          <p:cNvPr id="10" name="Text 8"/>
          <p:cNvSpPr/>
          <p:nvPr/>
        </p:nvSpPr>
        <p:spPr>
          <a:xfrm>
            <a:off x="1188720" y="2377440"/>
            <a:ext cx="7315200" cy="502920"/>
          </a:xfrm>
          <a:prstGeom prst="rect">
            <a:avLst/>
          </a:prstGeom>
          <a:noFill/>
          <a:ln/>
        </p:spPr>
        <p:txBody>
          <a:bodyPr wrap="square" lIns="0" tIns="0" rIns="0" bIns="0" rtlCol="0" anchor="ctr"/>
          <a:lstStyle/>
          <a:p>
            <a:pPr marL="0" indent="0">
              <a:buNone/>
            </a:pPr>
            <a:r>
              <a:rPr lang="en-US" sz="2200" dirty="0">
                <a:solidFill>
                  <a:srgbClr val="2D3436"/>
                </a:solidFill>
                <a:latin typeface="Source Code Pro" pitchFamily="34" charset="0"/>
                <a:ea typeface="Source Code Pro" pitchFamily="34" charset="-122"/>
                <a:cs typeface="Source Code Pro" pitchFamily="34" charset="-120"/>
              </a:rPr>
              <a:t>The problem</a:t>
            </a:r>
            <a:endParaRPr lang="en-US" sz="2200" dirty="0"/>
          </a:p>
        </p:txBody>
      </p:sp>
      <p:sp>
        <p:nvSpPr>
          <p:cNvPr id="11" name="Text 9"/>
          <p:cNvSpPr/>
          <p:nvPr/>
        </p:nvSpPr>
        <p:spPr>
          <a:xfrm>
            <a:off x="9811512" y="2377440"/>
            <a:ext cx="1828800" cy="502920"/>
          </a:xfrm>
          <a:prstGeom prst="rect">
            <a:avLst/>
          </a:prstGeom>
          <a:noFill/>
          <a:ln/>
        </p:spPr>
        <p:txBody>
          <a:bodyPr wrap="square" lIns="0" tIns="0" rIns="0" bIns="0" rtlCol="0" anchor="ctr"/>
          <a:lstStyle/>
          <a:p>
            <a:pPr marL="0" indent="0" algn="r">
              <a:buNone/>
            </a:pPr>
            <a:r>
              <a:rPr lang="en-US" sz="1600" dirty="0">
                <a:solidFill>
                  <a:srgbClr val="8B9296"/>
                </a:solidFill>
                <a:latin typeface="Source Code Pro" pitchFamily="34" charset="0"/>
                <a:ea typeface="Source Code Pro" pitchFamily="34" charset="-122"/>
                <a:cs typeface="Source Code Pro" pitchFamily="34" charset="-120"/>
              </a:rPr>
              <a:t>5 min</a:t>
            </a:r>
            <a:endParaRPr lang="en-US" sz="1600" dirty="0"/>
          </a:p>
        </p:txBody>
      </p:sp>
      <p:sp>
        <p:nvSpPr>
          <p:cNvPr id="12" name="Shape 10"/>
          <p:cNvSpPr/>
          <p:nvPr/>
        </p:nvSpPr>
        <p:spPr>
          <a:xfrm>
            <a:off x="548640" y="2990088"/>
            <a:ext cx="384048" cy="384048"/>
          </a:xfrm>
          <a:prstGeom prst="ellipse">
            <a:avLst/>
          </a:prstGeom>
          <a:solidFill>
            <a:srgbClr val="72D4DC"/>
          </a:solidFill>
          <a:ln w="12700">
            <a:solidFill>
              <a:srgbClr val="72D4DC"/>
            </a:solidFill>
            <a:prstDash val="solid"/>
          </a:ln>
        </p:spPr>
        <p:txBody>
          <a:bodyPr/>
          <a:lstStyle/>
          <a:p>
            <a:endParaRPr lang="en-DE"/>
          </a:p>
        </p:txBody>
      </p:sp>
      <p:sp>
        <p:nvSpPr>
          <p:cNvPr id="13" name="Text 11"/>
          <p:cNvSpPr/>
          <p:nvPr/>
        </p:nvSpPr>
        <p:spPr>
          <a:xfrm>
            <a:off x="548640" y="299008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2</a:t>
            </a:r>
            <a:endParaRPr lang="en-US" sz="1600" dirty="0"/>
          </a:p>
        </p:txBody>
      </p:sp>
      <p:sp>
        <p:nvSpPr>
          <p:cNvPr id="14" name="Text 12"/>
          <p:cNvSpPr/>
          <p:nvPr/>
        </p:nvSpPr>
        <p:spPr>
          <a:xfrm>
            <a:off x="1188720" y="2944368"/>
            <a:ext cx="7315200" cy="502920"/>
          </a:xfrm>
          <a:prstGeom prst="rect">
            <a:avLst/>
          </a:prstGeom>
          <a:noFill/>
          <a:ln/>
        </p:spPr>
        <p:txBody>
          <a:bodyPr wrap="square" lIns="0" tIns="0" rIns="0" bIns="0" rtlCol="0" anchor="ctr"/>
          <a:lstStyle/>
          <a:p>
            <a:pPr marL="0" indent="0">
              <a:buNone/>
            </a:pPr>
            <a:r>
              <a:rPr lang="en-US" sz="2200" dirty="0">
                <a:solidFill>
                  <a:srgbClr val="2D3436"/>
                </a:solidFill>
                <a:latin typeface="Source Code Pro" pitchFamily="34" charset="0"/>
                <a:ea typeface="Source Code Pro" pitchFamily="34" charset="-122"/>
                <a:cs typeface="Source Code Pro" pitchFamily="34" charset="-120"/>
              </a:rPr>
              <a:t>PBIR as structured data</a:t>
            </a:r>
            <a:endParaRPr lang="en-US" sz="2200" dirty="0"/>
          </a:p>
        </p:txBody>
      </p:sp>
      <p:sp>
        <p:nvSpPr>
          <p:cNvPr id="15" name="Text 13"/>
          <p:cNvSpPr/>
          <p:nvPr/>
        </p:nvSpPr>
        <p:spPr>
          <a:xfrm>
            <a:off x="9811512" y="2944368"/>
            <a:ext cx="1828800" cy="502920"/>
          </a:xfrm>
          <a:prstGeom prst="rect">
            <a:avLst/>
          </a:prstGeom>
          <a:noFill/>
          <a:ln/>
        </p:spPr>
        <p:txBody>
          <a:bodyPr wrap="square" lIns="0" tIns="0" rIns="0" bIns="0" rtlCol="0" anchor="ctr"/>
          <a:lstStyle/>
          <a:p>
            <a:pPr marL="0" indent="0" algn="r">
              <a:buNone/>
            </a:pPr>
            <a:r>
              <a:rPr lang="en-US" sz="1600" dirty="0">
                <a:solidFill>
                  <a:srgbClr val="8B9296"/>
                </a:solidFill>
                <a:latin typeface="Source Code Pro" pitchFamily="34" charset="0"/>
                <a:ea typeface="Source Code Pro" pitchFamily="34" charset="-122"/>
                <a:cs typeface="Source Code Pro" pitchFamily="34" charset="-120"/>
              </a:rPr>
              <a:t>8 min</a:t>
            </a:r>
            <a:endParaRPr lang="en-US" sz="1600" dirty="0"/>
          </a:p>
        </p:txBody>
      </p:sp>
      <p:sp>
        <p:nvSpPr>
          <p:cNvPr id="16" name="Shape 14"/>
          <p:cNvSpPr/>
          <p:nvPr/>
        </p:nvSpPr>
        <p:spPr>
          <a:xfrm>
            <a:off x="548640" y="3557016"/>
            <a:ext cx="384048" cy="384048"/>
          </a:xfrm>
          <a:prstGeom prst="ellipse">
            <a:avLst/>
          </a:prstGeom>
          <a:solidFill>
            <a:srgbClr val="FF6348"/>
          </a:solidFill>
          <a:ln w="12700">
            <a:solidFill>
              <a:srgbClr val="FF6348"/>
            </a:solidFill>
            <a:prstDash val="solid"/>
          </a:ln>
        </p:spPr>
        <p:txBody>
          <a:bodyPr/>
          <a:lstStyle/>
          <a:p>
            <a:endParaRPr lang="en-DE"/>
          </a:p>
        </p:txBody>
      </p:sp>
      <p:sp>
        <p:nvSpPr>
          <p:cNvPr id="17" name="Text 15"/>
          <p:cNvSpPr/>
          <p:nvPr/>
        </p:nvSpPr>
        <p:spPr>
          <a:xfrm>
            <a:off x="548640" y="355701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3</a:t>
            </a:r>
            <a:endParaRPr lang="en-US" sz="1600" dirty="0"/>
          </a:p>
        </p:txBody>
      </p:sp>
      <p:sp>
        <p:nvSpPr>
          <p:cNvPr id="18" name="Text 16"/>
          <p:cNvSpPr/>
          <p:nvPr/>
        </p:nvSpPr>
        <p:spPr>
          <a:xfrm>
            <a:off x="1188720" y="3511296"/>
            <a:ext cx="7315200" cy="502920"/>
          </a:xfrm>
          <a:prstGeom prst="rect">
            <a:avLst/>
          </a:prstGeom>
          <a:noFill/>
          <a:ln/>
        </p:spPr>
        <p:txBody>
          <a:bodyPr wrap="square" lIns="0" tIns="0" rIns="0" bIns="0" rtlCol="0" anchor="ctr"/>
          <a:lstStyle/>
          <a:p>
            <a:pPr marL="0" indent="0">
              <a:buNone/>
            </a:pPr>
            <a:r>
              <a:rPr lang="en-US" sz="2200" b="1" dirty="0">
                <a:solidFill>
                  <a:srgbClr val="2D3436"/>
                </a:solidFill>
                <a:latin typeface="Source Code Pro" pitchFamily="34" charset="0"/>
                <a:ea typeface="Source Code Pro" pitchFamily="34" charset="-122"/>
                <a:cs typeface="Source Code Pro" pitchFamily="34" charset="-120"/>
              </a:rPr>
              <a:t>Power Query as the lens</a:t>
            </a:r>
            <a:endParaRPr lang="en-US" sz="2200" dirty="0"/>
          </a:p>
        </p:txBody>
      </p:sp>
      <p:sp>
        <p:nvSpPr>
          <p:cNvPr id="19" name="Text 17"/>
          <p:cNvSpPr/>
          <p:nvPr/>
        </p:nvSpPr>
        <p:spPr>
          <a:xfrm>
            <a:off x="9811512" y="3511296"/>
            <a:ext cx="1828800" cy="502920"/>
          </a:xfrm>
          <a:prstGeom prst="rect">
            <a:avLst/>
          </a:prstGeom>
          <a:noFill/>
          <a:ln/>
        </p:spPr>
        <p:txBody>
          <a:bodyPr wrap="square" lIns="0" tIns="0" rIns="0" bIns="0" rtlCol="0" anchor="ctr"/>
          <a:lstStyle/>
          <a:p>
            <a:pPr marL="0" indent="0" algn="r">
              <a:buNone/>
            </a:pPr>
            <a:r>
              <a:rPr lang="en-US" sz="1600" dirty="0">
                <a:solidFill>
                  <a:srgbClr val="8B9296"/>
                </a:solidFill>
                <a:latin typeface="Source Code Pro" pitchFamily="34" charset="0"/>
                <a:ea typeface="Source Code Pro" pitchFamily="34" charset="-122"/>
                <a:cs typeface="Source Code Pro" pitchFamily="34" charset="-120"/>
              </a:rPr>
              <a:t>18 min</a:t>
            </a:r>
            <a:endParaRPr lang="en-US" sz="1600" dirty="0"/>
          </a:p>
        </p:txBody>
      </p:sp>
      <p:sp>
        <p:nvSpPr>
          <p:cNvPr id="20" name="Shape 18"/>
          <p:cNvSpPr/>
          <p:nvPr/>
        </p:nvSpPr>
        <p:spPr>
          <a:xfrm>
            <a:off x="548640" y="4123944"/>
            <a:ext cx="384048" cy="384048"/>
          </a:xfrm>
          <a:prstGeom prst="ellipse">
            <a:avLst/>
          </a:prstGeom>
          <a:solidFill>
            <a:srgbClr val="72D4DC"/>
          </a:solidFill>
          <a:ln w="12700">
            <a:solidFill>
              <a:srgbClr val="72D4DC"/>
            </a:solidFill>
            <a:prstDash val="solid"/>
          </a:ln>
        </p:spPr>
        <p:txBody>
          <a:bodyPr/>
          <a:lstStyle/>
          <a:p>
            <a:endParaRPr lang="en-DE"/>
          </a:p>
        </p:txBody>
      </p:sp>
      <p:sp>
        <p:nvSpPr>
          <p:cNvPr id="21" name="Text 19"/>
          <p:cNvSpPr/>
          <p:nvPr/>
        </p:nvSpPr>
        <p:spPr>
          <a:xfrm>
            <a:off x="548640" y="412394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4</a:t>
            </a:r>
            <a:endParaRPr lang="en-US" sz="1600" dirty="0"/>
          </a:p>
        </p:txBody>
      </p:sp>
      <p:sp>
        <p:nvSpPr>
          <p:cNvPr id="22" name="Text 20"/>
          <p:cNvSpPr/>
          <p:nvPr/>
        </p:nvSpPr>
        <p:spPr>
          <a:xfrm>
            <a:off x="1188720" y="4078224"/>
            <a:ext cx="7315200" cy="502920"/>
          </a:xfrm>
          <a:prstGeom prst="rect">
            <a:avLst/>
          </a:prstGeom>
          <a:noFill/>
          <a:ln/>
        </p:spPr>
        <p:txBody>
          <a:bodyPr wrap="square" lIns="0" tIns="0" rIns="0" bIns="0" rtlCol="0" anchor="ctr"/>
          <a:lstStyle/>
          <a:p>
            <a:pPr marL="0" indent="0">
              <a:buNone/>
            </a:pPr>
            <a:r>
              <a:rPr lang="en-US" sz="2200" dirty="0">
                <a:solidFill>
                  <a:srgbClr val="2D3436"/>
                </a:solidFill>
                <a:latin typeface="Source Code Pro" pitchFamily="34" charset="0"/>
                <a:ea typeface="Source Code Pro" pitchFamily="34" charset="-122"/>
                <a:cs typeface="Source Code Pro" pitchFamily="34" charset="-120"/>
              </a:rPr>
              <a:t>Honest limits</a:t>
            </a:r>
            <a:endParaRPr lang="en-US" sz="2200" dirty="0"/>
          </a:p>
        </p:txBody>
      </p:sp>
      <p:sp>
        <p:nvSpPr>
          <p:cNvPr id="23" name="Text 21"/>
          <p:cNvSpPr/>
          <p:nvPr/>
        </p:nvSpPr>
        <p:spPr>
          <a:xfrm>
            <a:off x="9811512" y="4078224"/>
            <a:ext cx="1828800" cy="502920"/>
          </a:xfrm>
          <a:prstGeom prst="rect">
            <a:avLst/>
          </a:prstGeom>
          <a:noFill/>
          <a:ln/>
        </p:spPr>
        <p:txBody>
          <a:bodyPr wrap="square" lIns="0" tIns="0" rIns="0" bIns="0" rtlCol="0" anchor="ctr"/>
          <a:lstStyle/>
          <a:p>
            <a:pPr marL="0" indent="0" algn="r">
              <a:buNone/>
            </a:pPr>
            <a:r>
              <a:rPr lang="en-US" sz="1600" dirty="0">
                <a:solidFill>
                  <a:srgbClr val="8B9296"/>
                </a:solidFill>
                <a:latin typeface="Source Code Pro" pitchFamily="34" charset="0"/>
                <a:ea typeface="Source Code Pro" pitchFamily="34" charset="-122"/>
                <a:cs typeface="Source Code Pro" pitchFamily="34" charset="-120"/>
              </a:rPr>
              <a:t>5 min</a:t>
            </a:r>
            <a:endParaRPr lang="en-US" sz="1600" dirty="0"/>
          </a:p>
        </p:txBody>
      </p:sp>
      <p:sp>
        <p:nvSpPr>
          <p:cNvPr id="24" name="Shape 22"/>
          <p:cNvSpPr/>
          <p:nvPr/>
        </p:nvSpPr>
        <p:spPr>
          <a:xfrm>
            <a:off x="548640" y="4690872"/>
            <a:ext cx="384048" cy="384048"/>
          </a:xfrm>
          <a:prstGeom prst="ellipse">
            <a:avLst/>
          </a:prstGeom>
          <a:solidFill>
            <a:srgbClr val="72D4DC"/>
          </a:solidFill>
          <a:ln w="12700">
            <a:solidFill>
              <a:srgbClr val="72D4DC"/>
            </a:solidFill>
            <a:prstDash val="solid"/>
          </a:ln>
        </p:spPr>
        <p:txBody>
          <a:bodyPr/>
          <a:lstStyle/>
          <a:p>
            <a:endParaRPr lang="en-DE"/>
          </a:p>
        </p:txBody>
      </p:sp>
      <p:sp>
        <p:nvSpPr>
          <p:cNvPr id="25" name="Text 23"/>
          <p:cNvSpPr/>
          <p:nvPr/>
        </p:nvSpPr>
        <p:spPr>
          <a:xfrm>
            <a:off x="548640" y="469087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5</a:t>
            </a:r>
            <a:endParaRPr lang="en-US" sz="1600" dirty="0"/>
          </a:p>
        </p:txBody>
      </p:sp>
      <p:sp>
        <p:nvSpPr>
          <p:cNvPr id="26" name="Text 24"/>
          <p:cNvSpPr/>
          <p:nvPr/>
        </p:nvSpPr>
        <p:spPr>
          <a:xfrm>
            <a:off x="1188720" y="4645152"/>
            <a:ext cx="7315200" cy="502920"/>
          </a:xfrm>
          <a:prstGeom prst="rect">
            <a:avLst/>
          </a:prstGeom>
          <a:noFill/>
          <a:ln/>
        </p:spPr>
        <p:txBody>
          <a:bodyPr wrap="square" lIns="0" tIns="0" rIns="0" bIns="0" rtlCol="0" anchor="ctr"/>
          <a:lstStyle/>
          <a:p>
            <a:pPr marL="0" indent="0">
              <a:buNone/>
            </a:pPr>
            <a:r>
              <a:rPr lang="en-US" sz="2200" dirty="0">
                <a:solidFill>
                  <a:srgbClr val="2D3436"/>
                </a:solidFill>
                <a:latin typeface="Source Code Pro" pitchFamily="34" charset="0"/>
                <a:ea typeface="Source Code Pro" pitchFamily="34" charset="-122"/>
                <a:cs typeface="Source Code Pro" pitchFamily="34" charset="-120"/>
              </a:rPr>
              <a:t>Q&amp;A</a:t>
            </a:r>
            <a:endParaRPr lang="en-US" sz="2200" dirty="0"/>
          </a:p>
        </p:txBody>
      </p:sp>
      <p:sp>
        <p:nvSpPr>
          <p:cNvPr id="27" name="Text 25"/>
          <p:cNvSpPr/>
          <p:nvPr/>
        </p:nvSpPr>
        <p:spPr>
          <a:xfrm>
            <a:off x="9811512" y="4645152"/>
            <a:ext cx="1828800" cy="502920"/>
          </a:xfrm>
          <a:prstGeom prst="rect">
            <a:avLst/>
          </a:prstGeom>
          <a:noFill/>
          <a:ln/>
        </p:spPr>
        <p:txBody>
          <a:bodyPr wrap="square" lIns="0" tIns="0" rIns="0" bIns="0" rtlCol="0" anchor="ctr"/>
          <a:lstStyle/>
          <a:p>
            <a:pPr marL="0" indent="0" algn="r">
              <a:buNone/>
            </a:pPr>
            <a:r>
              <a:rPr lang="en-US" sz="1600" dirty="0">
                <a:solidFill>
                  <a:srgbClr val="8B9296"/>
                </a:solidFill>
                <a:latin typeface="Source Code Pro" pitchFamily="34" charset="0"/>
                <a:ea typeface="Source Code Pro" pitchFamily="34" charset="-122"/>
                <a:cs typeface="Source Code Pro" pitchFamily="34" charset="-120"/>
              </a:rPr>
              <a:t>5 min</a:t>
            </a:r>
            <a:endParaRPr lang="en-US" sz="1600" dirty="0"/>
          </a:p>
        </p:txBody>
      </p:sp>
      <p:sp>
        <p:nvSpPr>
          <p:cNvPr id="28" name="Shape 26"/>
          <p:cNvSpPr/>
          <p:nvPr/>
        </p:nvSpPr>
        <p:spPr>
          <a:xfrm>
            <a:off x="548640" y="5257800"/>
            <a:ext cx="384048" cy="384048"/>
          </a:xfrm>
          <a:prstGeom prst="ellipse">
            <a:avLst/>
          </a:prstGeom>
          <a:solidFill>
            <a:srgbClr val="72D4DC"/>
          </a:solidFill>
          <a:ln w="12700">
            <a:solidFill>
              <a:srgbClr val="72D4DC"/>
            </a:solidFill>
            <a:prstDash val="solid"/>
          </a:ln>
        </p:spPr>
        <p:txBody>
          <a:bodyPr/>
          <a:lstStyle/>
          <a:p>
            <a:endParaRPr lang="en-DE"/>
          </a:p>
        </p:txBody>
      </p:sp>
      <p:sp>
        <p:nvSpPr>
          <p:cNvPr id="29" name="Text 27"/>
          <p:cNvSpPr/>
          <p:nvPr/>
        </p:nvSpPr>
        <p:spPr>
          <a:xfrm>
            <a:off x="548640" y="5257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6</a:t>
            </a:r>
            <a:endParaRPr lang="en-US" sz="1600" dirty="0"/>
          </a:p>
        </p:txBody>
      </p:sp>
      <p:sp>
        <p:nvSpPr>
          <p:cNvPr id="30" name="Text 28"/>
          <p:cNvSpPr/>
          <p:nvPr/>
        </p:nvSpPr>
        <p:spPr>
          <a:xfrm>
            <a:off x="1188720" y="5212080"/>
            <a:ext cx="7315200" cy="502920"/>
          </a:xfrm>
          <a:prstGeom prst="rect">
            <a:avLst/>
          </a:prstGeom>
          <a:noFill/>
          <a:ln/>
        </p:spPr>
        <p:txBody>
          <a:bodyPr wrap="square" lIns="0" tIns="0" rIns="0" bIns="0" rtlCol="0" anchor="ctr"/>
          <a:lstStyle/>
          <a:p>
            <a:pPr marL="0" indent="0">
              <a:buNone/>
            </a:pPr>
            <a:r>
              <a:rPr lang="en-US" sz="2200" dirty="0">
                <a:solidFill>
                  <a:srgbClr val="2D3436"/>
                </a:solidFill>
                <a:latin typeface="Source Code Pro" pitchFamily="34" charset="0"/>
                <a:ea typeface="Source Code Pro" pitchFamily="34" charset="-122"/>
                <a:cs typeface="Source Code Pro" pitchFamily="34" charset="-120"/>
              </a:rPr>
              <a:t>Close</a:t>
            </a:r>
            <a:endParaRPr lang="en-US" sz="2200" dirty="0"/>
          </a:p>
        </p:txBody>
      </p:sp>
      <p:sp>
        <p:nvSpPr>
          <p:cNvPr id="31" name="Text 29"/>
          <p:cNvSpPr/>
          <p:nvPr/>
        </p:nvSpPr>
        <p:spPr>
          <a:xfrm>
            <a:off x="9811512" y="5212080"/>
            <a:ext cx="1828800" cy="502920"/>
          </a:xfrm>
          <a:prstGeom prst="rect">
            <a:avLst/>
          </a:prstGeom>
          <a:noFill/>
          <a:ln/>
        </p:spPr>
        <p:txBody>
          <a:bodyPr wrap="square" lIns="0" tIns="0" rIns="0" bIns="0" rtlCol="0" anchor="ctr"/>
          <a:lstStyle/>
          <a:p>
            <a:pPr marL="0" indent="0" algn="r">
              <a:buNone/>
            </a:pPr>
            <a:r>
              <a:rPr lang="en-US" sz="1600" dirty="0">
                <a:solidFill>
                  <a:srgbClr val="8B9296"/>
                </a:solidFill>
                <a:latin typeface="Source Code Pro" pitchFamily="34" charset="0"/>
                <a:ea typeface="Source Code Pro" pitchFamily="34" charset="-122"/>
                <a:cs typeface="Source Code Pro" pitchFamily="34" charset="-120"/>
              </a:rPr>
              <a:t>4 min</a:t>
            </a:r>
            <a:endParaRPr lang="en-US" sz="1600" dirty="0"/>
          </a:p>
        </p:txBody>
      </p:sp>
      <p:sp>
        <p:nvSpPr>
          <p:cNvPr id="32" name="Text 30"/>
          <p:cNvSpPr/>
          <p:nvPr/>
        </p:nvSpPr>
        <p:spPr>
          <a:xfrm>
            <a:off x="548640" y="5669280"/>
            <a:ext cx="11091672" cy="457200"/>
          </a:xfrm>
          <a:prstGeom prst="rect">
            <a:avLst/>
          </a:prstGeom>
          <a:noFill/>
          <a:ln/>
        </p:spPr>
        <p:txBody>
          <a:bodyPr wrap="square" lIns="0" tIns="0" rIns="0" bIns="0" rtlCol="0" anchor="ctr"/>
          <a:lstStyle/>
          <a:p>
            <a:pPr marL="0" indent="0">
              <a:buNone/>
            </a:pPr>
            <a:r>
              <a:rPr lang="en-US" sz="1600" b="1" i="1" dirty="0">
                <a:solidFill>
                  <a:srgbClr val="FF6348"/>
                </a:solidFill>
                <a:latin typeface="Source Code Pro" pitchFamily="34" charset="0"/>
                <a:ea typeface="Source Code Pro" pitchFamily="34" charset="-122"/>
                <a:cs typeface="Source Code Pro" pitchFamily="34" charset="-120"/>
              </a:rPr>
              <a:t>Report definitions are structured data, not opaque files.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3 / 20</a:t>
            </a:r>
            <a:endParaRPr lang="en-US" sz="900" dirty="0"/>
          </a:p>
        </p:txBody>
      </p:sp>
      <p:sp>
        <p:nvSpPr>
          <p:cNvPr id="6" name="Text 4"/>
          <p:cNvSpPr/>
          <p:nvPr/>
        </p:nvSpPr>
        <p:spPr>
          <a:xfrm>
            <a:off x="548640" y="1097280"/>
            <a:ext cx="3657600" cy="1371600"/>
          </a:xfrm>
          <a:prstGeom prst="rect">
            <a:avLst/>
          </a:prstGeom>
          <a:noFill/>
          <a:ln/>
        </p:spPr>
        <p:txBody>
          <a:bodyPr wrap="square" lIns="0" tIns="0" rIns="0" bIns="0" rtlCol="0" anchor="ctr"/>
          <a:lstStyle/>
          <a:p>
            <a:pPr marL="0" indent="0">
              <a:buNone/>
            </a:pPr>
            <a:r>
              <a:rPr lang="en-US" sz="12000" b="1" dirty="0">
                <a:solidFill>
                  <a:srgbClr val="C8D0D4"/>
                </a:solidFill>
                <a:latin typeface="Source Code Pro" pitchFamily="34" charset="0"/>
                <a:ea typeface="Source Code Pro" pitchFamily="34" charset="-122"/>
                <a:cs typeface="Source Code Pro" pitchFamily="34" charset="-120"/>
              </a:rPr>
              <a:t>01</a:t>
            </a:r>
            <a:endParaRPr lang="en-US" sz="12000" dirty="0"/>
          </a:p>
        </p:txBody>
      </p:sp>
      <p:sp>
        <p:nvSpPr>
          <p:cNvPr id="7" name="Text 5"/>
          <p:cNvSpPr/>
          <p:nvPr/>
        </p:nvSpPr>
        <p:spPr>
          <a:xfrm>
            <a:off x="548640" y="26974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ACT ONE</a:t>
            </a:r>
            <a:endParaRPr lang="en-US" sz="1100" dirty="0"/>
          </a:p>
        </p:txBody>
      </p:sp>
      <p:sp>
        <p:nvSpPr>
          <p:cNvPr id="8" name="Text 6"/>
          <p:cNvSpPr/>
          <p:nvPr/>
        </p:nvSpPr>
        <p:spPr>
          <a:xfrm>
            <a:off x="548640" y="3017520"/>
            <a:ext cx="11091672" cy="1097280"/>
          </a:xfrm>
          <a:prstGeom prst="rect">
            <a:avLst/>
          </a:prstGeom>
          <a:noFill/>
          <a:ln/>
        </p:spPr>
        <p:txBody>
          <a:bodyPr wrap="square" lIns="0" tIns="0" rIns="0" bIns="0" rtlCol="0" anchor="t"/>
          <a:lstStyle/>
          <a:p>
            <a:pPr marL="0" indent="0">
              <a:buNone/>
            </a:pPr>
            <a:r>
              <a:rPr lang="en-US" sz="5600" b="1" kern="0" spc="100" dirty="0">
                <a:solidFill>
                  <a:srgbClr val="2D3436"/>
                </a:solidFill>
                <a:latin typeface="Source Code Pro" pitchFamily="34" charset="0"/>
                <a:ea typeface="Source Code Pro" pitchFamily="34" charset="-122"/>
                <a:cs typeface="Source Code Pro" pitchFamily="34" charset="-120"/>
              </a:rPr>
              <a:t>The problem.</a:t>
            </a:r>
            <a:endParaRPr lang="en-US" sz="5600" dirty="0"/>
          </a:p>
        </p:txBody>
      </p:sp>
      <p:sp>
        <p:nvSpPr>
          <p:cNvPr id="9" name="Text 7"/>
          <p:cNvSpPr/>
          <p:nvPr/>
        </p:nvSpPr>
        <p:spPr>
          <a:xfrm>
            <a:off x="548640" y="4389120"/>
            <a:ext cx="11091672" cy="1645920"/>
          </a:xfrm>
          <a:prstGeom prst="rect">
            <a:avLst/>
          </a:prstGeom>
          <a:noFill/>
          <a:ln/>
        </p:spPr>
        <p:txBody>
          <a:bodyPr wrap="square" lIns="0" tIns="0" rIns="0" bIns="0" rtlCol="0" anchor="t"/>
          <a:lstStyle/>
          <a:p>
            <a:pPr marL="0" indent="0">
              <a:spcAft>
                <a:spcPts val="600"/>
              </a:spcAft>
              <a:buNone/>
            </a:pPr>
            <a:r>
              <a:rPr lang="en-US" sz="1800" dirty="0">
                <a:solidFill>
                  <a:srgbClr val="8B9296"/>
                </a:solidFill>
                <a:latin typeface="Source Code Pro" pitchFamily="34" charset="0"/>
                <a:ea typeface="Source Code Pro" pitchFamily="34" charset="-122"/>
                <a:cs typeface="Source Code Pro" pitchFamily="34" charset="-120"/>
              </a:rPr>
              <a:t>How well do you really know your Power BI reports?</a:t>
            </a:r>
            <a:endParaRPr lang="en-US" sz="1800" dirty="0"/>
          </a:p>
          <a:p>
            <a:pPr marL="0" indent="0">
              <a:spcAft>
                <a:spcPts val="600"/>
              </a:spcAft>
              <a:buNone/>
            </a:pPr>
            <a:r>
              <a:rPr lang="en-US" sz="1800" dirty="0">
                <a:solidFill>
                  <a:srgbClr val="8B9296"/>
                </a:solidFill>
                <a:latin typeface="Source Code Pro" pitchFamily="34" charset="0"/>
                <a:ea typeface="Source Code Pro" pitchFamily="34" charset="-122"/>
                <a:cs typeface="Source Code Pro" pitchFamily="34" charset="-120"/>
              </a:rPr>
              <a:t>Which visuals are actually used? Which bookmarks are stale? Which slicer configurations have silently drifted from their intended design?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4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WHY THIS TALK EXISTS</a:t>
            </a:r>
            <a:endParaRPr lang="en-US" sz="1100" dirty="0"/>
          </a:p>
        </p:txBody>
      </p:sp>
      <p:sp>
        <p:nvSpPr>
          <p:cNvPr id="7" name="Text 5"/>
          <p:cNvSpPr/>
          <p:nvPr/>
        </p:nvSpPr>
        <p:spPr>
          <a:xfrm>
            <a:off x="548640" y="1417320"/>
            <a:ext cx="11091672" cy="1828800"/>
          </a:xfrm>
          <a:prstGeom prst="rect">
            <a:avLst/>
          </a:prstGeom>
          <a:noFill/>
          <a:ln/>
        </p:spPr>
        <p:txBody>
          <a:bodyPr wrap="square" lIns="0" tIns="0" rIns="0" bIns="0" rtlCol="0" anchor="t"/>
          <a:lstStyle/>
          <a:p>
            <a:pPr marL="0" indent="0">
              <a:buNone/>
            </a:pPr>
            <a:r>
              <a:rPr lang="en-US" sz="4800" b="1" kern="0" spc="100" dirty="0">
                <a:solidFill>
                  <a:srgbClr val="2D3436"/>
                </a:solidFill>
                <a:latin typeface="Source Code Pro" pitchFamily="34" charset="0"/>
                <a:ea typeface="Source Code Pro" pitchFamily="34" charset="-122"/>
                <a:cs typeface="Source Code Pro" pitchFamily="34" charset="-120"/>
              </a:rPr>
              <a:t>You can't eyeball</a:t>
            </a:r>
            <a:endParaRPr lang="en-US" sz="4800" dirty="0"/>
          </a:p>
          <a:p>
            <a:pPr marL="0" indent="0">
              <a:buNone/>
            </a:pPr>
            <a:r>
              <a:rPr lang="en-US" sz="4800" b="1" kern="0" spc="100" dirty="0">
                <a:solidFill>
                  <a:srgbClr val="2D3436"/>
                </a:solidFill>
                <a:latin typeface="Source Code Pro" pitchFamily="34" charset="0"/>
                <a:ea typeface="Source Code Pro" pitchFamily="34" charset="-122"/>
                <a:cs typeface="Source Code Pro" pitchFamily="34" charset="-120"/>
              </a:rPr>
              <a:t>50 reports.</a:t>
            </a:r>
            <a:endParaRPr lang="en-US" sz="4800" dirty="0"/>
          </a:p>
        </p:txBody>
      </p:sp>
      <p:sp>
        <p:nvSpPr>
          <p:cNvPr id="8" name="Text 6"/>
          <p:cNvSpPr/>
          <p:nvPr/>
        </p:nvSpPr>
        <p:spPr>
          <a:xfrm>
            <a:off x="548640" y="3657600"/>
            <a:ext cx="3383280" cy="1005840"/>
          </a:xfrm>
          <a:prstGeom prst="rect">
            <a:avLst/>
          </a:prstGeom>
          <a:noFill/>
          <a:ln/>
        </p:spPr>
        <p:txBody>
          <a:bodyPr wrap="square" lIns="0" tIns="0" rIns="0" bIns="0" rtlCol="0" anchor="ctr"/>
          <a:lstStyle/>
          <a:p>
            <a:pPr marL="0" indent="0">
              <a:buNone/>
            </a:pPr>
            <a:r>
              <a:rPr lang="en-US" sz="6400" b="1" dirty="0">
                <a:solidFill>
                  <a:srgbClr val="2D3436"/>
                </a:solidFill>
                <a:latin typeface="Source Code Pro" pitchFamily="34" charset="0"/>
                <a:ea typeface="Source Code Pro" pitchFamily="34" charset="-122"/>
                <a:cs typeface="Source Code Pro" pitchFamily="34" charset="-120"/>
              </a:rPr>
              <a:t>50</a:t>
            </a:r>
            <a:endParaRPr lang="en-US" sz="6400" dirty="0"/>
          </a:p>
        </p:txBody>
      </p:sp>
      <p:sp>
        <p:nvSpPr>
          <p:cNvPr id="9" name="Text 7"/>
          <p:cNvSpPr/>
          <p:nvPr/>
        </p:nvSpPr>
        <p:spPr>
          <a:xfrm>
            <a:off x="548640" y="4663440"/>
            <a:ext cx="3383280" cy="365760"/>
          </a:xfrm>
          <a:prstGeom prst="rect">
            <a:avLst/>
          </a:prstGeom>
          <a:noFill/>
          <a:ln/>
        </p:spPr>
        <p:txBody>
          <a:bodyPr wrap="square" lIns="0" tIns="0" rIns="0" bIns="0" rtlCol="0" anchor="ctr"/>
          <a:lstStyle/>
          <a:p>
            <a:pPr marL="0" indent="0">
              <a:buNone/>
            </a:pPr>
            <a:r>
              <a:rPr lang="en-US" sz="1400" b="1" kern="0" spc="300" dirty="0">
                <a:solidFill>
                  <a:srgbClr val="8B9296"/>
                </a:solidFill>
                <a:latin typeface="Source Code Pro" pitchFamily="34" charset="0"/>
                <a:ea typeface="Source Code Pro" pitchFamily="34" charset="-122"/>
                <a:cs typeface="Source Code Pro" pitchFamily="34" charset="-120"/>
              </a:rPr>
              <a:t>reports</a:t>
            </a:r>
            <a:endParaRPr lang="en-US" sz="1400" dirty="0"/>
          </a:p>
        </p:txBody>
      </p:sp>
      <p:sp>
        <p:nvSpPr>
          <p:cNvPr id="10" name="Text 8"/>
          <p:cNvSpPr/>
          <p:nvPr/>
        </p:nvSpPr>
        <p:spPr>
          <a:xfrm>
            <a:off x="548640" y="5074920"/>
            <a:ext cx="3383280" cy="457200"/>
          </a:xfrm>
          <a:prstGeom prst="rect">
            <a:avLst/>
          </a:prstGeom>
          <a:noFill/>
          <a:ln/>
        </p:spPr>
        <p:txBody>
          <a:bodyPr wrap="square" lIns="0" tIns="0" rIns="0" bIns="0" rtlCol="0" anchor="ctr"/>
          <a:lstStyle/>
          <a:p>
            <a:pPr marL="0" indent="0">
              <a:buNone/>
            </a:pPr>
            <a:r>
              <a:rPr lang="en-US" sz="1400" dirty="0">
                <a:solidFill>
                  <a:srgbClr val="2D3436"/>
                </a:solidFill>
                <a:latin typeface="Source Code Pro" pitchFamily="34" charset="0"/>
                <a:ea typeface="Source Code Pro" pitchFamily="34" charset="-122"/>
                <a:cs typeface="Source Code Pro" pitchFamily="34" charset="-120"/>
              </a:rPr>
              <a:t>Manual review breaks down.</a:t>
            </a:r>
            <a:endParaRPr lang="en-US" sz="1400" dirty="0"/>
          </a:p>
        </p:txBody>
      </p:sp>
      <p:sp>
        <p:nvSpPr>
          <p:cNvPr id="11" name="Text 9"/>
          <p:cNvSpPr/>
          <p:nvPr/>
        </p:nvSpPr>
        <p:spPr>
          <a:xfrm>
            <a:off x="4206240" y="3657600"/>
            <a:ext cx="3383280" cy="1005840"/>
          </a:xfrm>
          <a:prstGeom prst="rect">
            <a:avLst/>
          </a:prstGeom>
          <a:noFill/>
          <a:ln/>
        </p:spPr>
        <p:txBody>
          <a:bodyPr wrap="square" lIns="0" tIns="0" rIns="0" bIns="0" rtlCol="0" anchor="ctr"/>
          <a:lstStyle/>
          <a:p>
            <a:pPr marL="0" indent="0">
              <a:buNone/>
            </a:pPr>
            <a:r>
              <a:rPr lang="en-US" sz="6400" b="1" dirty="0">
                <a:solidFill>
                  <a:srgbClr val="FF6348"/>
                </a:solidFill>
                <a:latin typeface="Source Code Pro" pitchFamily="34" charset="0"/>
                <a:ea typeface="Source Code Pro" pitchFamily="34" charset="-122"/>
                <a:cs typeface="Source Code Pro" pitchFamily="34" charset="-120"/>
              </a:rPr>
              <a:t>500</a:t>
            </a:r>
            <a:endParaRPr lang="en-US" sz="6400" dirty="0"/>
          </a:p>
        </p:txBody>
      </p:sp>
      <p:sp>
        <p:nvSpPr>
          <p:cNvPr id="12" name="Text 10"/>
          <p:cNvSpPr/>
          <p:nvPr/>
        </p:nvSpPr>
        <p:spPr>
          <a:xfrm>
            <a:off x="4206240" y="4663440"/>
            <a:ext cx="3383280" cy="365760"/>
          </a:xfrm>
          <a:prstGeom prst="rect">
            <a:avLst/>
          </a:prstGeom>
          <a:noFill/>
          <a:ln/>
        </p:spPr>
        <p:txBody>
          <a:bodyPr wrap="square" lIns="0" tIns="0" rIns="0" bIns="0" rtlCol="0" anchor="ctr"/>
          <a:lstStyle/>
          <a:p>
            <a:pPr marL="0" indent="0">
              <a:buNone/>
            </a:pPr>
            <a:r>
              <a:rPr lang="en-US" sz="1400" b="1" kern="0" spc="300" dirty="0">
                <a:solidFill>
                  <a:srgbClr val="8B9296"/>
                </a:solidFill>
                <a:latin typeface="Source Code Pro" pitchFamily="34" charset="0"/>
                <a:ea typeface="Source Code Pro" pitchFamily="34" charset="-122"/>
                <a:cs typeface="Source Code Pro" pitchFamily="34" charset="-120"/>
              </a:rPr>
              <a:t>reports</a:t>
            </a:r>
            <a:endParaRPr lang="en-US" sz="1400" dirty="0"/>
          </a:p>
        </p:txBody>
      </p:sp>
      <p:sp>
        <p:nvSpPr>
          <p:cNvPr id="13" name="Text 11"/>
          <p:cNvSpPr/>
          <p:nvPr/>
        </p:nvSpPr>
        <p:spPr>
          <a:xfrm>
            <a:off x="4206240" y="5074920"/>
            <a:ext cx="3383280" cy="457200"/>
          </a:xfrm>
          <a:prstGeom prst="rect">
            <a:avLst/>
          </a:prstGeom>
          <a:noFill/>
          <a:ln/>
        </p:spPr>
        <p:txBody>
          <a:bodyPr wrap="square" lIns="0" tIns="0" rIns="0" bIns="0" rtlCol="0" anchor="ctr"/>
          <a:lstStyle/>
          <a:p>
            <a:pPr marL="0" indent="0">
              <a:buNone/>
            </a:pPr>
            <a:r>
              <a:rPr lang="en-US" sz="1400" dirty="0">
                <a:solidFill>
                  <a:srgbClr val="2D3436"/>
                </a:solidFill>
                <a:latin typeface="Source Code Pro" pitchFamily="34" charset="0"/>
                <a:ea typeface="Source Code Pro" pitchFamily="34" charset="-122"/>
                <a:cs typeface="Source Code Pro" pitchFamily="34" charset="-120"/>
              </a:rPr>
              <a:t>Even sampling is unreliable.</a:t>
            </a:r>
            <a:endParaRPr lang="en-US" sz="1400" dirty="0"/>
          </a:p>
        </p:txBody>
      </p:sp>
      <p:sp>
        <p:nvSpPr>
          <p:cNvPr id="14" name="Text 12"/>
          <p:cNvSpPr/>
          <p:nvPr/>
        </p:nvSpPr>
        <p:spPr>
          <a:xfrm>
            <a:off x="7863840" y="3657600"/>
            <a:ext cx="3383280" cy="1005840"/>
          </a:xfrm>
          <a:prstGeom prst="rect">
            <a:avLst/>
          </a:prstGeom>
          <a:noFill/>
          <a:ln/>
        </p:spPr>
        <p:txBody>
          <a:bodyPr wrap="square" lIns="0" tIns="0" rIns="0" bIns="0" rtlCol="0" anchor="ctr"/>
          <a:lstStyle/>
          <a:p>
            <a:pPr marL="0" indent="0">
              <a:buNone/>
            </a:pPr>
            <a:r>
              <a:rPr lang="en-US" sz="6400" b="1" dirty="0">
                <a:solidFill>
                  <a:srgbClr val="2D3436"/>
                </a:solidFill>
                <a:latin typeface="Source Code Pro" pitchFamily="34" charset="0"/>
                <a:ea typeface="Source Code Pro" pitchFamily="34" charset="-122"/>
                <a:cs typeface="Source Code Pro" pitchFamily="34" charset="-120"/>
              </a:rPr>
              <a:t>5,000</a:t>
            </a:r>
            <a:endParaRPr lang="en-US" sz="6400" dirty="0"/>
          </a:p>
        </p:txBody>
      </p:sp>
      <p:sp>
        <p:nvSpPr>
          <p:cNvPr id="15" name="Text 13"/>
          <p:cNvSpPr/>
          <p:nvPr/>
        </p:nvSpPr>
        <p:spPr>
          <a:xfrm>
            <a:off x="7863840" y="4663440"/>
            <a:ext cx="3383280" cy="365760"/>
          </a:xfrm>
          <a:prstGeom prst="rect">
            <a:avLst/>
          </a:prstGeom>
          <a:noFill/>
          <a:ln/>
        </p:spPr>
        <p:txBody>
          <a:bodyPr wrap="square" lIns="0" tIns="0" rIns="0" bIns="0" rtlCol="0" anchor="ctr"/>
          <a:lstStyle/>
          <a:p>
            <a:pPr marL="0" indent="0">
              <a:buNone/>
            </a:pPr>
            <a:r>
              <a:rPr lang="en-US" sz="1400" b="1" kern="0" spc="300" dirty="0">
                <a:solidFill>
                  <a:srgbClr val="8B9296"/>
                </a:solidFill>
                <a:latin typeface="Source Code Pro" pitchFamily="34" charset="0"/>
                <a:ea typeface="Source Code Pro" pitchFamily="34" charset="-122"/>
                <a:cs typeface="Source Code Pro" pitchFamily="34" charset="-120"/>
              </a:rPr>
              <a:t>reports</a:t>
            </a:r>
            <a:endParaRPr lang="en-US" sz="1400" dirty="0"/>
          </a:p>
        </p:txBody>
      </p:sp>
      <p:sp>
        <p:nvSpPr>
          <p:cNvPr id="16" name="Text 14"/>
          <p:cNvSpPr/>
          <p:nvPr/>
        </p:nvSpPr>
        <p:spPr>
          <a:xfrm>
            <a:off x="7863840" y="5074920"/>
            <a:ext cx="3383280" cy="457200"/>
          </a:xfrm>
          <a:prstGeom prst="rect">
            <a:avLst/>
          </a:prstGeom>
          <a:noFill/>
          <a:ln/>
        </p:spPr>
        <p:txBody>
          <a:bodyPr wrap="square" lIns="0" tIns="0" rIns="0" bIns="0" rtlCol="0" anchor="ctr"/>
          <a:lstStyle/>
          <a:p>
            <a:pPr marL="0" indent="0">
              <a:buNone/>
            </a:pPr>
            <a:r>
              <a:rPr lang="en-US" sz="1400" dirty="0">
                <a:solidFill>
                  <a:srgbClr val="2D3436"/>
                </a:solidFill>
                <a:latin typeface="Source Code Pro" pitchFamily="34" charset="0"/>
                <a:ea typeface="Source Code Pro" pitchFamily="34" charset="-122"/>
                <a:cs typeface="Source Code Pro" pitchFamily="34" charset="-120"/>
              </a:rPr>
              <a:t>Governance becomes guesswork.</a:t>
            </a:r>
            <a:endParaRPr lang="en-US" sz="1400" dirty="0"/>
          </a:p>
        </p:txBody>
      </p:sp>
      <p:sp>
        <p:nvSpPr>
          <p:cNvPr id="17" name="Text 15"/>
          <p:cNvSpPr/>
          <p:nvPr/>
        </p:nvSpPr>
        <p:spPr>
          <a:xfrm>
            <a:off x="548640" y="5486400"/>
            <a:ext cx="11091672" cy="457200"/>
          </a:xfrm>
          <a:prstGeom prst="rect">
            <a:avLst/>
          </a:prstGeom>
          <a:noFill/>
          <a:ln/>
        </p:spPr>
        <p:txBody>
          <a:bodyPr wrap="square" lIns="0" tIns="0" rIns="0" bIns="0" rtlCol="0" anchor="ctr"/>
          <a:lstStyle/>
          <a:p>
            <a:pPr marL="0" indent="0">
              <a:buNone/>
            </a:pPr>
            <a:r>
              <a:rPr lang="en-US" sz="1800" b="1" i="1" dirty="0">
                <a:solidFill>
                  <a:srgbClr val="72D4DC"/>
                </a:solidFill>
                <a:latin typeface="Source Code Pro" pitchFamily="34" charset="0"/>
                <a:ea typeface="Source Code Pro" pitchFamily="34" charset="-122"/>
                <a:cs typeface="Source Code Pro" pitchFamily="34" charset="-120"/>
              </a:rPr>
              <a:t>The PBIR folder itself is the answer.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5 / 20</a:t>
            </a:r>
            <a:endParaRPr lang="en-US" sz="900" dirty="0"/>
          </a:p>
        </p:txBody>
      </p:sp>
      <p:sp>
        <p:nvSpPr>
          <p:cNvPr id="6" name="Text 4"/>
          <p:cNvSpPr/>
          <p:nvPr/>
        </p:nvSpPr>
        <p:spPr>
          <a:xfrm>
            <a:off x="548640" y="1097280"/>
            <a:ext cx="3657600" cy="1371600"/>
          </a:xfrm>
          <a:prstGeom prst="rect">
            <a:avLst/>
          </a:prstGeom>
          <a:noFill/>
          <a:ln/>
        </p:spPr>
        <p:txBody>
          <a:bodyPr wrap="square" lIns="0" tIns="0" rIns="0" bIns="0" rtlCol="0" anchor="ctr"/>
          <a:lstStyle/>
          <a:p>
            <a:pPr marL="0" indent="0">
              <a:buNone/>
            </a:pPr>
            <a:r>
              <a:rPr lang="en-US" sz="12000" b="1" dirty="0">
                <a:solidFill>
                  <a:srgbClr val="C8D0D4"/>
                </a:solidFill>
                <a:latin typeface="Source Code Pro" pitchFamily="34" charset="0"/>
                <a:ea typeface="Source Code Pro" pitchFamily="34" charset="-122"/>
                <a:cs typeface="Source Code Pro" pitchFamily="34" charset="-120"/>
              </a:rPr>
              <a:t>02</a:t>
            </a:r>
            <a:endParaRPr lang="en-US" sz="12000" dirty="0"/>
          </a:p>
        </p:txBody>
      </p:sp>
      <p:sp>
        <p:nvSpPr>
          <p:cNvPr id="7" name="Text 5"/>
          <p:cNvSpPr/>
          <p:nvPr/>
        </p:nvSpPr>
        <p:spPr>
          <a:xfrm>
            <a:off x="548640" y="26974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ACT TWO</a:t>
            </a:r>
            <a:endParaRPr lang="en-US" sz="1100" dirty="0"/>
          </a:p>
        </p:txBody>
      </p:sp>
      <p:sp>
        <p:nvSpPr>
          <p:cNvPr id="8" name="Text 6"/>
          <p:cNvSpPr/>
          <p:nvPr/>
        </p:nvSpPr>
        <p:spPr>
          <a:xfrm>
            <a:off x="548640" y="3017520"/>
            <a:ext cx="11091672" cy="1097280"/>
          </a:xfrm>
          <a:prstGeom prst="rect">
            <a:avLst/>
          </a:prstGeom>
          <a:noFill/>
          <a:ln/>
        </p:spPr>
        <p:txBody>
          <a:bodyPr wrap="square" lIns="0" tIns="0" rIns="0" bIns="0" rtlCol="0" anchor="t"/>
          <a:lstStyle/>
          <a:p>
            <a:pPr marL="0" indent="0">
              <a:buNone/>
            </a:pPr>
            <a:r>
              <a:rPr lang="en-US" sz="4800" b="1" kern="0" spc="100" dirty="0">
                <a:solidFill>
                  <a:srgbClr val="2D3436"/>
                </a:solidFill>
                <a:latin typeface="Source Code Pro" pitchFamily="34" charset="0"/>
                <a:ea typeface="Source Code Pro" pitchFamily="34" charset="-122"/>
                <a:cs typeface="Source Code Pro" pitchFamily="34" charset="-120"/>
              </a:rPr>
              <a:t>PBIR as structured data.</a:t>
            </a:r>
            <a:endParaRPr lang="en-US" sz="4800" dirty="0"/>
          </a:p>
        </p:txBody>
      </p:sp>
      <p:sp>
        <p:nvSpPr>
          <p:cNvPr id="9" name="Text 7"/>
          <p:cNvSpPr/>
          <p:nvPr/>
        </p:nvSpPr>
        <p:spPr>
          <a:xfrm>
            <a:off x="548640" y="4389120"/>
            <a:ext cx="11091672" cy="1371600"/>
          </a:xfrm>
          <a:prstGeom prst="rect">
            <a:avLst/>
          </a:prstGeom>
          <a:noFill/>
          <a:ln/>
        </p:spPr>
        <p:txBody>
          <a:bodyPr wrap="square" lIns="0" tIns="0" rIns="0" bIns="0" rtlCol="0" anchor="t"/>
          <a:lstStyle/>
          <a:p>
            <a:pPr marL="0" indent="0">
              <a:spcAft>
                <a:spcPts val="600"/>
              </a:spcAft>
              <a:buNone/>
            </a:pPr>
            <a:r>
              <a:rPr lang="en-US" sz="2000" dirty="0">
                <a:solidFill>
                  <a:srgbClr val="8B9296"/>
                </a:solidFill>
                <a:latin typeface="Source Code Pro" pitchFamily="34" charset="0"/>
                <a:ea typeface="Source Code Pro" pitchFamily="34" charset="-122"/>
                <a:cs typeface="Source Code Pro" pitchFamily="34" charset="-120"/>
              </a:rPr>
              <a:t>Power BI Enhanced Report Format isn't a binary blob.</a:t>
            </a:r>
            <a:endParaRPr lang="en-US" sz="2000" dirty="0"/>
          </a:p>
          <a:p>
            <a:pPr marL="0" indent="0">
              <a:spcAft>
                <a:spcPts val="600"/>
              </a:spcAft>
              <a:buNone/>
            </a:pPr>
            <a:r>
              <a:rPr lang="en-US" sz="2000" dirty="0">
                <a:solidFill>
                  <a:srgbClr val="8B9296"/>
                </a:solidFill>
                <a:latin typeface="Source Code Pro" pitchFamily="34" charset="0"/>
                <a:ea typeface="Source Code Pro" pitchFamily="34" charset="-122"/>
                <a:cs typeface="Source Code Pro" pitchFamily="34" charset="-120"/>
              </a:rPr>
              <a:t>It's a folder of JSON. The folder is the API.</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6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THE REFRAME</a:t>
            </a:r>
            <a:endParaRPr lang="en-US" sz="1100" dirty="0"/>
          </a:p>
        </p:txBody>
      </p:sp>
      <p:sp>
        <p:nvSpPr>
          <p:cNvPr id="7" name="Shape 5"/>
          <p:cNvSpPr/>
          <p:nvPr/>
        </p:nvSpPr>
        <p:spPr>
          <a:xfrm>
            <a:off x="548640" y="1645920"/>
            <a:ext cx="4937760" cy="4114800"/>
          </a:xfrm>
          <a:prstGeom prst="rect">
            <a:avLst/>
          </a:prstGeom>
          <a:solidFill>
            <a:srgbClr val="E8E8E8"/>
          </a:solidFill>
          <a:ln w="6350">
            <a:solidFill>
              <a:srgbClr val="C8D0D4"/>
            </a:solidFill>
            <a:prstDash val="solid"/>
          </a:ln>
        </p:spPr>
        <p:txBody>
          <a:bodyPr/>
          <a:lstStyle/>
          <a:p>
            <a:endParaRPr lang="en-DE"/>
          </a:p>
        </p:txBody>
      </p:sp>
      <p:sp>
        <p:nvSpPr>
          <p:cNvPr id="8" name="Text 6"/>
          <p:cNvSpPr/>
          <p:nvPr/>
        </p:nvSpPr>
        <p:spPr>
          <a:xfrm>
            <a:off x="914400" y="2011680"/>
            <a:ext cx="4206240" cy="548640"/>
          </a:xfrm>
          <a:prstGeom prst="rect">
            <a:avLst/>
          </a:prstGeom>
          <a:noFill/>
          <a:ln/>
        </p:spPr>
        <p:txBody>
          <a:bodyPr wrap="square" lIns="0" tIns="0" rIns="0" bIns="0" rtlCol="0" anchor="ctr"/>
          <a:lstStyle/>
          <a:p>
            <a:pPr marL="0" indent="0">
              <a:buNone/>
            </a:pPr>
            <a:r>
              <a:rPr lang="en-US" sz="2800" b="1" kern="0" spc="400" dirty="0">
                <a:solidFill>
                  <a:srgbClr val="8B9296"/>
                </a:solidFill>
                <a:latin typeface="Source Code Pro" pitchFamily="34" charset="0"/>
                <a:ea typeface="Source Code Pro" pitchFamily="34" charset="-122"/>
                <a:cs typeface="Source Code Pro" pitchFamily="34" charset="-120"/>
              </a:rPr>
              <a:t>PBIP</a:t>
            </a:r>
            <a:endParaRPr lang="en-US" sz="2800" dirty="0"/>
          </a:p>
        </p:txBody>
      </p:sp>
      <p:sp>
        <p:nvSpPr>
          <p:cNvPr id="9" name="Text 7"/>
          <p:cNvSpPr/>
          <p:nvPr/>
        </p:nvSpPr>
        <p:spPr>
          <a:xfrm>
            <a:off x="914400" y="2560320"/>
            <a:ext cx="4206240" cy="457200"/>
          </a:xfrm>
          <a:prstGeom prst="rect">
            <a:avLst/>
          </a:prstGeom>
          <a:noFill/>
          <a:ln/>
        </p:spPr>
        <p:txBody>
          <a:bodyPr wrap="square" lIns="0" tIns="0" rIns="0" bIns="0" rtlCol="0" anchor="ctr"/>
          <a:lstStyle/>
          <a:p>
            <a:pPr marL="0" indent="0">
              <a:buNone/>
            </a:pPr>
            <a:r>
              <a:rPr lang="en-US" sz="1400" dirty="0">
                <a:solidFill>
                  <a:srgbClr val="8B9296"/>
                </a:solidFill>
                <a:latin typeface="Source Code Pro" pitchFamily="34" charset="0"/>
                <a:ea typeface="Source Code Pro" pitchFamily="34" charset="-122"/>
                <a:cs typeface="Source Code Pro" pitchFamily="34" charset="-120"/>
              </a:rPr>
              <a:t>a binary blob</a:t>
            </a:r>
            <a:endParaRPr lang="en-US" sz="1400" dirty="0"/>
          </a:p>
        </p:txBody>
      </p:sp>
      <p:sp>
        <p:nvSpPr>
          <p:cNvPr id="10" name="Text 8"/>
          <p:cNvSpPr/>
          <p:nvPr/>
        </p:nvSpPr>
        <p:spPr>
          <a:xfrm>
            <a:off x="914400" y="3383280"/>
            <a:ext cx="4206240" cy="22860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D3436"/>
                </a:solidFill>
                <a:latin typeface="Source Code Pro" pitchFamily="34" charset="0"/>
                <a:ea typeface="Source Code Pro" pitchFamily="34" charset="-122"/>
                <a:cs typeface="Source Code Pro" pitchFamily="34" charset="-120"/>
              </a:rPr>
              <a:t>report.json (sealed)</a:t>
            </a:r>
            <a:endParaRPr lang="en-US" sz="1400" dirty="0"/>
          </a:p>
          <a:p>
            <a:pPr marL="342900" indent="-342900">
              <a:spcAft>
                <a:spcPts val="800"/>
              </a:spcAft>
              <a:buSzPct val="100000"/>
              <a:buChar char="•"/>
            </a:pPr>
            <a:r>
              <a:rPr lang="en-US" sz="1400" dirty="0">
                <a:solidFill>
                  <a:srgbClr val="2D3436"/>
                </a:solidFill>
                <a:latin typeface="Source Code Pro" pitchFamily="34" charset="0"/>
                <a:ea typeface="Source Code Pro" pitchFamily="34" charset="-122"/>
                <a:cs typeface="Source Code Pro" pitchFamily="34" charset="-120"/>
              </a:rPr>
              <a:t>definitions hidden inside</a:t>
            </a:r>
            <a:endParaRPr lang="en-US" sz="1400" dirty="0"/>
          </a:p>
          <a:p>
            <a:pPr marL="342900" indent="-342900">
              <a:spcAft>
                <a:spcPts val="800"/>
              </a:spcAft>
              <a:buSzPct val="100000"/>
              <a:buChar char="•"/>
            </a:pPr>
            <a:r>
              <a:rPr lang="en-US" sz="1400" dirty="0">
                <a:solidFill>
                  <a:srgbClr val="2D3436"/>
                </a:solidFill>
                <a:latin typeface="Source Code Pro" pitchFamily="34" charset="0"/>
                <a:ea typeface="Source Code Pro" pitchFamily="34" charset="-122"/>
                <a:cs typeface="Source Code Pro" pitchFamily="34" charset="-120"/>
              </a:rPr>
              <a:t>no folder structure to query</a:t>
            </a:r>
            <a:endParaRPr lang="en-US" sz="1400" dirty="0"/>
          </a:p>
        </p:txBody>
      </p:sp>
      <p:sp>
        <p:nvSpPr>
          <p:cNvPr id="11" name="Text 9"/>
          <p:cNvSpPr/>
          <p:nvPr/>
        </p:nvSpPr>
        <p:spPr>
          <a:xfrm>
            <a:off x="5532120" y="3291840"/>
            <a:ext cx="640080" cy="914400"/>
          </a:xfrm>
          <a:prstGeom prst="rect">
            <a:avLst/>
          </a:prstGeom>
          <a:noFill/>
          <a:ln/>
        </p:spPr>
        <p:txBody>
          <a:bodyPr wrap="square" lIns="0" tIns="0" rIns="0" bIns="0" rtlCol="0" anchor="ctr"/>
          <a:lstStyle/>
          <a:p>
            <a:pPr marL="0" indent="0" algn="ctr">
              <a:buNone/>
            </a:pPr>
            <a:r>
              <a:rPr lang="en-US" sz="6400" b="1" dirty="0">
                <a:solidFill>
                  <a:srgbClr val="FF6348"/>
                </a:solidFill>
                <a:latin typeface="Source Code Pro" pitchFamily="34" charset="0"/>
                <a:ea typeface="Source Code Pro" pitchFamily="34" charset="-122"/>
                <a:cs typeface="Source Code Pro" pitchFamily="34" charset="-120"/>
              </a:rPr>
              <a:t>→</a:t>
            </a:r>
            <a:endParaRPr lang="en-US" sz="6400" dirty="0"/>
          </a:p>
        </p:txBody>
      </p:sp>
      <p:sp>
        <p:nvSpPr>
          <p:cNvPr id="12" name="Shape 10"/>
          <p:cNvSpPr/>
          <p:nvPr/>
        </p:nvSpPr>
        <p:spPr>
          <a:xfrm>
            <a:off x="6263640" y="1645920"/>
            <a:ext cx="4937760" cy="4114800"/>
          </a:xfrm>
          <a:prstGeom prst="rect">
            <a:avLst/>
          </a:prstGeom>
          <a:solidFill>
            <a:srgbClr val="FFFFFF"/>
          </a:solidFill>
          <a:ln w="19050">
            <a:solidFill>
              <a:srgbClr val="2D3436"/>
            </a:solidFill>
            <a:prstDash val="solid"/>
          </a:ln>
        </p:spPr>
        <p:txBody>
          <a:bodyPr/>
          <a:lstStyle/>
          <a:p>
            <a:endParaRPr lang="en-DE"/>
          </a:p>
        </p:txBody>
      </p:sp>
      <p:sp>
        <p:nvSpPr>
          <p:cNvPr id="13" name="Shape 11"/>
          <p:cNvSpPr/>
          <p:nvPr/>
        </p:nvSpPr>
        <p:spPr>
          <a:xfrm>
            <a:off x="6263640" y="1645920"/>
            <a:ext cx="91440" cy="4114800"/>
          </a:xfrm>
          <a:prstGeom prst="rect">
            <a:avLst/>
          </a:prstGeom>
          <a:solidFill>
            <a:srgbClr val="72D4DC"/>
          </a:solidFill>
          <a:ln w="12700">
            <a:solidFill>
              <a:srgbClr val="72D4DC"/>
            </a:solidFill>
            <a:prstDash val="solid"/>
          </a:ln>
        </p:spPr>
        <p:txBody>
          <a:bodyPr/>
          <a:lstStyle/>
          <a:p>
            <a:endParaRPr lang="en-DE"/>
          </a:p>
        </p:txBody>
      </p:sp>
      <p:sp>
        <p:nvSpPr>
          <p:cNvPr id="14" name="Text 12"/>
          <p:cNvSpPr/>
          <p:nvPr/>
        </p:nvSpPr>
        <p:spPr>
          <a:xfrm>
            <a:off x="6629400" y="2011680"/>
            <a:ext cx="4206240" cy="548640"/>
          </a:xfrm>
          <a:prstGeom prst="rect">
            <a:avLst/>
          </a:prstGeom>
          <a:noFill/>
          <a:ln/>
        </p:spPr>
        <p:txBody>
          <a:bodyPr wrap="square" lIns="0" tIns="0" rIns="0" bIns="0" rtlCol="0" anchor="ctr"/>
          <a:lstStyle/>
          <a:p>
            <a:pPr marL="0" indent="0">
              <a:buNone/>
            </a:pPr>
            <a:r>
              <a:rPr lang="en-US" sz="2800" b="1" kern="0" spc="400" dirty="0">
                <a:solidFill>
                  <a:srgbClr val="2D3436"/>
                </a:solidFill>
                <a:latin typeface="Source Code Pro" pitchFamily="34" charset="0"/>
                <a:ea typeface="Source Code Pro" pitchFamily="34" charset="-122"/>
                <a:cs typeface="Source Code Pro" pitchFamily="34" charset="-120"/>
              </a:rPr>
              <a:t>PBIR</a:t>
            </a:r>
            <a:endParaRPr lang="en-US" sz="2800" dirty="0"/>
          </a:p>
        </p:txBody>
      </p:sp>
      <p:sp>
        <p:nvSpPr>
          <p:cNvPr id="15" name="Text 13"/>
          <p:cNvSpPr/>
          <p:nvPr/>
        </p:nvSpPr>
        <p:spPr>
          <a:xfrm>
            <a:off x="6629400" y="2560320"/>
            <a:ext cx="4206240" cy="457200"/>
          </a:xfrm>
          <a:prstGeom prst="rect">
            <a:avLst/>
          </a:prstGeom>
          <a:noFill/>
          <a:ln/>
        </p:spPr>
        <p:txBody>
          <a:bodyPr wrap="square" lIns="0" tIns="0" rIns="0" bIns="0" rtlCol="0" anchor="ctr"/>
          <a:lstStyle/>
          <a:p>
            <a:pPr marL="0" indent="0">
              <a:buNone/>
            </a:pPr>
            <a:r>
              <a:rPr lang="en-US" sz="1400" b="1" dirty="0">
                <a:solidFill>
                  <a:srgbClr val="FF6348"/>
                </a:solidFill>
                <a:latin typeface="Source Code Pro" pitchFamily="34" charset="0"/>
                <a:ea typeface="Source Code Pro" pitchFamily="34" charset="-122"/>
                <a:cs typeface="Source Code Pro" pitchFamily="34" charset="-120"/>
              </a:rPr>
              <a:t>a folder of JSON</a:t>
            </a:r>
            <a:endParaRPr lang="en-US" sz="1400" dirty="0"/>
          </a:p>
        </p:txBody>
      </p:sp>
      <p:sp>
        <p:nvSpPr>
          <p:cNvPr id="16" name="Text 14"/>
          <p:cNvSpPr/>
          <p:nvPr/>
        </p:nvSpPr>
        <p:spPr>
          <a:xfrm>
            <a:off x="6629400" y="3383280"/>
            <a:ext cx="4206240" cy="22860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D3436"/>
                </a:solidFill>
                <a:latin typeface="Source Code Pro" pitchFamily="34" charset="0"/>
                <a:ea typeface="Source Code Pro" pitchFamily="34" charset="-122"/>
                <a:cs typeface="Source Code Pro" pitchFamily="34" charset="-120"/>
              </a:rPr>
              <a:t>pages/, visuals/, bookmarks/</a:t>
            </a:r>
            <a:endParaRPr lang="en-US" sz="1400" dirty="0"/>
          </a:p>
          <a:p>
            <a:pPr marL="342900" indent="-342900">
              <a:spcAft>
                <a:spcPts val="800"/>
              </a:spcAft>
              <a:buSzPct val="100000"/>
              <a:buChar char="•"/>
            </a:pPr>
            <a:r>
              <a:rPr lang="en-US" sz="1400" dirty="0">
                <a:solidFill>
                  <a:srgbClr val="2D3436"/>
                </a:solidFill>
                <a:latin typeface="Source Code Pro" pitchFamily="34" charset="0"/>
                <a:ea typeface="Source Code Pro" pitchFamily="34" charset="-122"/>
                <a:cs typeface="Source Code Pro" pitchFamily="34" charset="-120"/>
              </a:rPr>
              <a:t>every visual is one .json file</a:t>
            </a:r>
            <a:endParaRPr lang="en-US" sz="1400" dirty="0"/>
          </a:p>
          <a:p>
            <a:pPr marL="342900" indent="-342900">
              <a:spcAft>
                <a:spcPts val="800"/>
              </a:spcAft>
              <a:buSzPct val="100000"/>
              <a:buChar char="•"/>
            </a:pPr>
            <a:r>
              <a:rPr lang="en-US" sz="1400" dirty="0">
                <a:solidFill>
                  <a:srgbClr val="2D3436"/>
                </a:solidFill>
                <a:latin typeface="Source Code Pro" pitchFamily="34" charset="0"/>
                <a:ea typeface="Source Code Pro" pitchFamily="34" charset="-122"/>
                <a:cs typeface="Source Code Pro" pitchFamily="34" charset="-120"/>
              </a:rPr>
              <a:t>the folder structure IS the schema</a:t>
            </a:r>
            <a:endParaRPr lang="en-US" sz="1400" dirty="0"/>
          </a:p>
        </p:txBody>
      </p:sp>
      <p:sp>
        <p:nvSpPr>
          <p:cNvPr id="17" name="Text 15"/>
          <p:cNvSpPr/>
          <p:nvPr/>
        </p:nvSpPr>
        <p:spPr>
          <a:xfrm>
            <a:off x="548640" y="5943600"/>
            <a:ext cx="11091672" cy="457200"/>
          </a:xfrm>
          <a:prstGeom prst="rect">
            <a:avLst/>
          </a:prstGeom>
          <a:noFill/>
          <a:ln/>
        </p:spPr>
        <p:txBody>
          <a:bodyPr wrap="square" lIns="0" tIns="0" rIns="0" bIns="0" rtlCol="0" anchor="ctr"/>
          <a:lstStyle/>
          <a:p>
            <a:pPr marL="0" indent="0" algn="ctr">
              <a:buNone/>
            </a:pPr>
            <a:r>
              <a:rPr lang="en-US" sz="2200" b="1" dirty="0">
                <a:solidFill>
                  <a:srgbClr val="2D3436"/>
                </a:solidFill>
                <a:latin typeface="Source Code Pro" pitchFamily="34" charset="0"/>
                <a:ea typeface="Source Code Pro" pitchFamily="34" charset="-122"/>
                <a:cs typeface="Source Code Pro" pitchFamily="34" charset="-120"/>
              </a:rPr>
              <a:t>This is a dataset. Not a file.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7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WHAT'S IN THE FOLDER</a:t>
            </a:r>
            <a:endParaRPr lang="en-US" sz="1100" dirty="0"/>
          </a:p>
        </p:txBody>
      </p:sp>
      <p:sp>
        <p:nvSpPr>
          <p:cNvPr id="7" name="Text 5"/>
          <p:cNvSpPr/>
          <p:nvPr/>
        </p:nvSpPr>
        <p:spPr>
          <a:xfrm>
            <a:off x="548640" y="1417320"/>
            <a:ext cx="11091672" cy="914400"/>
          </a:xfrm>
          <a:prstGeom prst="rect">
            <a:avLst/>
          </a:prstGeom>
          <a:noFill/>
          <a:ln/>
        </p:spPr>
        <p:txBody>
          <a:bodyPr wrap="square" lIns="0" tIns="0" rIns="0" bIns="0" rtlCol="0" anchor="t"/>
          <a:lstStyle/>
          <a:p>
            <a:pPr marL="0" indent="0">
              <a:buNone/>
            </a:pPr>
            <a:r>
              <a:rPr lang="en-US" sz="3600" b="1" kern="0" spc="100" dirty="0">
                <a:solidFill>
                  <a:srgbClr val="2D3436"/>
                </a:solidFill>
                <a:latin typeface="Source Code Pro" pitchFamily="34" charset="0"/>
                <a:ea typeface="Source Code Pro" pitchFamily="34" charset="-122"/>
                <a:cs typeface="Source Code Pro" pitchFamily="34" charset="-120"/>
              </a:rPr>
              <a:t>A two-minute tour.</a:t>
            </a:r>
            <a:endParaRPr lang="en-US" sz="3600" dirty="0"/>
          </a:p>
        </p:txBody>
      </p:sp>
      <p:sp>
        <p:nvSpPr>
          <p:cNvPr id="8" name="Shape 6"/>
          <p:cNvSpPr/>
          <p:nvPr/>
        </p:nvSpPr>
        <p:spPr>
          <a:xfrm>
            <a:off x="548640" y="2011680"/>
            <a:ext cx="5486400" cy="4023360"/>
          </a:xfrm>
          <a:prstGeom prst="rect">
            <a:avLst/>
          </a:prstGeom>
          <a:solidFill>
            <a:srgbClr val="2D3436"/>
          </a:solidFill>
          <a:ln w="12700">
            <a:solidFill>
              <a:srgbClr val="2D3436"/>
            </a:solidFill>
            <a:prstDash val="solid"/>
          </a:ln>
        </p:spPr>
        <p:txBody>
          <a:bodyPr/>
          <a:lstStyle/>
          <a:p>
            <a:endParaRPr lang="en-DE"/>
          </a:p>
        </p:txBody>
      </p:sp>
      <p:sp>
        <p:nvSpPr>
          <p:cNvPr id="9" name="Text 7"/>
          <p:cNvSpPr/>
          <p:nvPr/>
        </p:nvSpPr>
        <p:spPr>
          <a:xfrm>
            <a:off x="914400" y="2377440"/>
            <a:ext cx="4754880" cy="3657600"/>
          </a:xfrm>
          <a:prstGeom prst="rect">
            <a:avLst/>
          </a:prstGeom>
          <a:noFill/>
          <a:ln/>
        </p:spPr>
        <p:txBody>
          <a:bodyPr wrap="square" lIns="0" tIns="0" rIns="0" bIns="0" rtlCol="0" anchor="t"/>
          <a:lstStyle/>
          <a:p>
            <a:pPr marL="0" indent="0">
              <a:spcAft>
                <a:spcPts val="200"/>
              </a:spcAft>
              <a:buNone/>
            </a:pPr>
            <a:r>
              <a:rPr lang="en-US" sz="1300" b="1" dirty="0">
                <a:solidFill>
                  <a:srgbClr val="72D4DC"/>
                </a:solidFill>
                <a:latin typeface="Source Code Pro" pitchFamily="34" charset="0"/>
                <a:ea typeface="Source Code Pro" pitchFamily="34" charset="-122"/>
                <a:cs typeface="Source Code Pro" pitchFamily="34" charset="-120"/>
              </a:rPr>
              <a:t>MyReport.Report/</a:t>
            </a:r>
            <a:endParaRPr lang="en-US" sz="1300" dirty="0"/>
          </a:p>
          <a:p>
            <a:pPr marL="0" indent="0">
              <a:spcAft>
                <a:spcPts val="200"/>
              </a:spcAft>
              <a:buNone/>
            </a:pPr>
            <a:r>
              <a:rPr lang="en-US" sz="1300" dirty="0">
                <a:solidFill>
                  <a:srgbClr val="FFFFFF"/>
                </a:solidFill>
                <a:latin typeface="Source Code Pro" pitchFamily="34" charset="0"/>
                <a:ea typeface="Source Code Pro" pitchFamily="34" charset="-122"/>
                <a:cs typeface="Source Code Pro" pitchFamily="34" charset="-120"/>
              </a:rPr>
              <a:t>├── definition/</a:t>
            </a:r>
            <a:endParaRPr lang="en-US" sz="1300" dirty="0"/>
          </a:p>
          <a:p>
            <a:pPr marL="0" indent="0">
              <a:spcAft>
                <a:spcPts val="200"/>
              </a:spcAft>
              <a:buNone/>
            </a:pPr>
            <a:r>
              <a:rPr lang="en-US" sz="1300" dirty="0">
                <a:solidFill>
                  <a:srgbClr val="FFFFFF"/>
                </a:solidFill>
                <a:latin typeface="Source Code Pro" pitchFamily="34" charset="0"/>
                <a:ea typeface="Source Code Pro" pitchFamily="34" charset="-122"/>
                <a:cs typeface="Source Code Pro" pitchFamily="34" charset="-120"/>
              </a:rPr>
              <a:t>│   ├── pages/</a:t>
            </a:r>
            <a:endParaRPr lang="en-US" sz="1300" dirty="0"/>
          </a:p>
          <a:p>
            <a:pPr marL="0" indent="0">
              <a:spcAft>
                <a:spcPts val="200"/>
              </a:spcAft>
              <a:buNone/>
            </a:pPr>
            <a:r>
              <a:rPr lang="en-US" sz="1300" dirty="0">
                <a:solidFill>
                  <a:srgbClr val="FF6348"/>
                </a:solidFill>
                <a:latin typeface="Source Code Pro" pitchFamily="34" charset="0"/>
                <a:ea typeface="Source Code Pro" pitchFamily="34" charset="-122"/>
                <a:cs typeface="Source Code Pro" pitchFamily="34" charset="-120"/>
              </a:rPr>
              <a:t>│   │   ├── 0001-overview/</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   │   │   ├── page.json</a:t>
            </a:r>
            <a:endParaRPr lang="en-US" sz="1300" dirty="0"/>
          </a:p>
          <a:p>
            <a:pPr marL="0" indent="0">
              <a:spcAft>
                <a:spcPts val="200"/>
              </a:spcAft>
              <a:buNone/>
            </a:pPr>
            <a:r>
              <a:rPr lang="en-US" sz="1300" dirty="0">
                <a:solidFill>
                  <a:srgbClr val="FFFFFF"/>
                </a:solidFill>
                <a:latin typeface="Source Code Pro" pitchFamily="34" charset="0"/>
                <a:ea typeface="Source Code Pro" pitchFamily="34" charset="-122"/>
                <a:cs typeface="Source Code Pro" pitchFamily="34" charset="-120"/>
              </a:rPr>
              <a:t>│   │   │   └── visuals/</a:t>
            </a:r>
            <a:endParaRPr lang="en-US" sz="1300" dirty="0"/>
          </a:p>
          <a:p>
            <a:pPr marL="0" indent="0">
              <a:spcAft>
                <a:spcPts val="200"/>
              </a:spcAft>
              <a:buNone/>
            </a:pPr>
            <a:r>
              <a:rPr lang="en-US" sz="1300" dirty="0">
                <a:solidFill>
                  <a:srgbClr val="72D4DC"/>
                </a:solidFill>
                <a:latin typeface="Source Code Pro" pitchFamily="34" charset="0"/>
                <a:ea typeface="Source Code Pro" pitchFamily="34" charset="-122"/>
                <a:cs typeface="Source Code Pro" pitchFamily="34" charset="-120"/>
              </a:rPr>
              <a:t>│   │   │       ├── 0a/visual.json</a:t>
            </a:r>
            <a:endParaRPr lang="en-US" sz="1300" dirty="0"/>
          </a:p>
          <a:p>
            <a:pPr marL="0" indent="0">
              <a:spcAft>
                <a:spcPts val="200"/>
              </a:spcAft>
              <a:buNone/>
            </a:pPr>
            <a:r>
              <a:rPr lang="en-US" sz="1300" dirty="0">
                <a:solidFill>
                  <a:srgbClr val="72D4DC"/>
                </a:solidFill>
                <a:latin typeface="Source Code Pro" pitchFamily="34" charset="0"/>
                <a:ea typeface="Source Code Pro" pitchFamily="34" charset="-122"/>
                <a:cs typeface="Source Code Pro" pitchFamily="34" charset="-120"/>
              </a:rPr>
              <a:t>│   │   │       └── 0b/visual.json</a:t>
            </a:r>
            <a:endParaRPr lang="en-US" sz="1300" dirty="0"/>
          </a:p>
          <a:p>
            <a:pPr marL="0" indent="0">
              <a:spcAft>
                <a:spcPts val="200"/>
              </a:spcAft>
              <a:buNone/>
            </a:pPr>
            <a:r>
              <a:rPr lang="en-US" sz="1300" dirty="0">
                <a:solidFill>
                  <a:srgbClr val="FF6348"/>
                </a:solidFill>
                <a:latin typeface="Source Code Pro" pitchFamily="34" charset="0"/>
                <a:ea typeface="Source Code Pro" pitchFamily="34" charset="-122"/>
                <a:cs typeface="Source Code Pro" pitchFamily="34" charset="-120"/>
              </a:rPr>
              <a:t>│   │   └── 0002-detail/</a:t>
            </a:r>
            <a:endParaRPr lang="en-US" sz="1300" dirty="0"/>
          </a:p>
          <a:p>
            <a:pPr marL="0" indent="0">
              <a:spcAft>
                <a:spcPts val="200"/>
              </a:spcAft>
              <a:buNone/>
            </a:pPr>
            <a:r>
              <a:rPr lang="en-US" sz="1300" dirty="0">
                <a:solidFill>
                  <a:srgbClr val="FFFFFF"/>
                </a:solidFill>
                <a:latin typeface="Source Code Pro" pitchFamily="34" charset="0"/>
                <a:ea typeface="Source Code Pro" pitchFamily="34" charset="-122"/>
                <a:cs typeface="Source Code Pro" pitchFamily="34" charset="-120"/>
              </a:rPr>
              <a:t>│   ├── bookmarks/</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   │   └── *.bookmark.json</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   └── report.json</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 definition.pbir</a:t>
            </a:r>
            <a:endParaRPr lang="en-US" sz="1300" dirty="0"/>
          </a:p>
        </p:txBody>
      </p:sp>
      <p:sp>
        <p:nvSpPr>
          <p:cNvPr id="10" name="Shape 8"/>
          <p:cNvSpPr/>
          <p:nvPr/>
        </p:nvSpPr>
        <p:spPr>
          <a:xfrm>
            <a:off x="6400800" y="2194560"/>
            <a:ext cx="109728" cy="109728"/>
          </a:xfrm>
          <a:prstGeom prst="rect">
            <a:avLst/>
          </a:prstGeom>
          <a:solidFill>
            <a:srgbClr val="FF6348"/>
          </a:solidFill>
          <a:ln w="12700">
            <a:solidFill>
              <a:srgbClr val="FF6348"/>
            </a:solidFill>
            <a:prstDash val="solid"/>
          </a:ln>
        </p:spPr>
        <p:txBody>
          <a:bodyPr/>
          <a:lstStyle/>
          <a:p>
            <a:endParaRPr lang="en-DE"/>
          </a:p>
        </p:txBody>
      </p:sp>
      <p:sp>
        <p:nvSpPr>
          <p:cNvPr id="11" name="Text 9"/>
          <p:cNvSpPr/>
          <p:nvPr/>
        </p:nvSpPr>
        <p:spPr>
          <a:xfrm>
            <a:off x="6629400" y="2103120"/>
            <a:ext cx="5010912" cy="32004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pages/</a:t>
            </a:r>
            <a:endParaRPr lang="en-US" sz="1400" dirty="0"/>
          </a:p>
        </p:txBody>
      </p:sp>
      <p:sp>
        <p:nvSpPr>
          <p:cNvPr id="12" name="Text 10"/>
          <p:cNvSpPr/>
          <p:nvPr/>
        </p:nvSpPr>
        <p:spPr>
          <a:xfrm>
            <a:off x="6629400" y="2432304"/>
            <a:ext cx="5010912" cy="594360"/>
          </a:xfrm>
          <a:prstGeom prst="rect">
            <a:avLst/>
          </a:prstGeom>
          <a:noFill/>
          <a:ln/>
        </p:spPr>
        <p:txBody>
          <a:bodyPr wrap="square" lIns="0" tIns="0" rIns="0" bIns="0" rtlCol="0" anchor="ctr"/>
          <a:lstStyle/>
          <a:p>
            <a:pPr marL="0" indent="0">
              <a:buNone/>
            </a:pPr>
            <a:r>
              <a:rPr lang="en-US" sz="1200" dirty="0">
                <a:solidFill>
                  <a:srgbClr val="8B9296"/>
                </a:solidFill>
                <a:latin typeface="Source Code Pro" pitchFamily="34" charset="0"/>
                <a:ea typeface="Source Code Pro" pitchFamily="34" charset="-122"/>
                <a:cs typeface="Source Code Pro" pitchFamily="34" charset="-120"/>
              </a:rPr>
              <a:t>Every page is a folder. Every visual on it is a folder under visuals/.</a:t>
            </a:r>
            <a:endParaRPr lang="en-US" sz="1200" dirty="0"/>
          </a:p>
        </p:txBody>
      </p:sp>
      <p:sp>
        <p:nvSpPr>
          <p:cNvPr id="13" name="Shape 11"/>
          <p:cNvSpPr/>
          <p:nvPr/>
        </p:nvSpPr>
        <p:spPr>
          <a:xfrm>
            <a:off x="6400800" y="3200400"/>
            <a:ext cx="109728" cy="109728"/>
          </a:xfrm>
          <a:prstGeom prst="rect">
            <a:avLst/>
          </a:prstGeom>
          <a:solidFill>
            <a:srgbClr val="72D4DC"/>
          </a:solidFill>
          <a:ln w="12700">
            <a:solidFill>
              <a:srgbClr val="72D4DC"/>
            </a:solidFill>
            <a:prstDash val="solid"/>
          </a:ln>
        </p:spPr>
        <p:txBody>
          <a:bodyPr/>
          <a:lstStyle/>
          <a:p>
            <a:endParaRPr lang="en-DE"/>
          </a:p>
        </p:txBody>
      </p:sp>
      <p:sp>
        <p:nvSpPr>
          <p:cNvPr id="14" name="Text 12"/>
          <p:cNvSpPr/>
          <p:nvPr/>
        </p:nvSpPr>
        <p:spPr>
          <a:xfrm>
            <a:off x="6629400" y="3108960"/>
            <a:ext cx="5010912" cy="32004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visual.json</a:t>
            </a:r>
            <a:endParaRPr lang="en-US" sz="1400" dirty="0"/>
          </a:p>
        </p:txBody>
      </p:sp>
      <p:sp>
        <p:nvSpPr>
          <p:cNvPr id="15" name="Text 13"/>
          <p:cNvSpPr/>
          <p:nvPr/>
        </p:nvSpPr>
        <p:spPr>
          <a:xfrm>
            <a:off x="6629400" y="3438144"/>
            <a:ext cx="5010912" cy="594360"/>
          </a:xfrm>
          <a:prstGeom prst="rect">
            <a:avLst/>
          </a:prstGeom>
          <a:noFill/>
          <a:ln/>
        </p:spPr>
        <p:txBody>
          <a:bodyPr wrap="square" lIns="0" tIns="0" rIns="0" bIns="0" rtlCol="0" anchor="ctr"/>
          <a:lstStyle/>
          <a:p>
            <a:pPr marL="0" indent="0">
              <a:buNone/>
            </a:pPr>
            <a:r>
              <a:rPr lang="en-US" sz="1200" dirty="0">
                <a:solidFill>
                  <a:srgbClr val="8B9296"/>
                </a:solidFill>
                <a:latin typeface="Source Code Pro" pitchFamily="34" charset="0"/>
                <a:ea typeface="Source Code Pro" pitchFamily="34" charset="-122"/>
                <a:cs typeface="Source Code Pro" pitchFamily="34" charset="-120"/>
              </a:rPr>
              <a:t>The atomic unit. Type, query, formatting, position — all in one JSON.</a:t>
            </a:r>
            <a:endParaRPr lang="en-US" sz="1200" dirty="0"/>
          </a:p>
        </p:txBody>
      </p:sp>
      <p:sp>
        <p:nvSpPr>
          <p:cNvPr id="16" name="Shape 14"/>
          <p:cNvSpPr/>
          <p:nvPr/>
        </p:nvSpPr>
        <p:spPr>
          <a:xfrm>
            <a:off x="6400800" y="4206240"/>
            <a:ext cx="109728" cy="109728"/>
          </a:xfrm>
          <a:prstGeom prst="rect">
            <a:avLst/>
          </a:prstGeom>
          <a:solidFill>
            <a:srgbClr val="FF6348"/>
          </a:solidFill>
          <a:ln w="12700">
            <a:solidFill>
              <a:srgbClr val="FF6348"/>
            </a:solidFill>
            <a:prstDash val="solid"/>
          </a:ln>
        </p:spPr>
        <p:txBody>
          <a:bodyPr/>
          <a:lstStyle/>
          <a:p>
            <a:endParaRPr lang="en-DE"/>
          </a:p>
        </p:txBody>
      </p:sp>
      <p:sp>
        <p:nvSpPr>
          <p:cNvPr id="17" name="Text 15"/>
          <p:cNvSpPr/>
          <p:nvPr/>
        </p:nvSpPr>
        <p:spPr>
          <a:xfrm>
            <a:off x="6629400" y="4114800"/>
            <a:ext cx="5010912" cy="32004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bookmarks/</a:t>
            </a:r>
            <a:endParaRPr lang="en-US" sz="1400" dirty="0"/>
          </a:p>
        </p:txBody>
      </p:sp>
      <p:sp>
        <p:nvSpPr>
          <p:cNvPr id="18" name="Text 16"/>
          <p:cNvSpPr/>
          <p:nvPr/>
        </p:nvSpPr>
        <p:spPr>
          <a:xfrm>
            <a:off x="6629400" y="4443984"/>
            <a:ext cx="5010912" cy="594360"/>
          </a:xfrm>
          <a:prstGeom prst="rect">
            <a:avLst/>
          </a:prstGeom>
          <a:noFill/>
          <a:ln/>
        </p:spPr>
        <p:txBody>
          <a:bodyPr wrap="square" lIns="0" tIns="0" rIns="0" bIns="0" rtlCol="0" anchor="ctr"/>
          <a:lstStyle/>
          <a:p>
            <a:pPr marL="0" indent="0">
              <a:buNone/>
            </a:pPr>
            <a:r>
              <a:rPr lang="en-US" sz="1200" dirty="0">
                <a:solidFill>
                  <a:srgbClr val="8B9296"/>
                </a:solidFill>
                <a:latin typeface="Source Code Pro" pitchFamily="34" charset="0"/>
                <a:ea typeface="Source Code Pro" pitchFamily="34" charset="-122"/>
                <a:cs typeface="Source Code Pro" pitchFamily="34" charset="-120"/>
              </a:rPr>
              <a:t>Saved view configurations. Each one is a separate JSON file.</a:t>
            </a:r>
            <a:endParaRPr lang="en-US" sz="1200" dirty="0"/>
          </a:p>
        </p:txBody>
      </p:sp>
      <p:sp>
        <p:nvSpPr>
          <p:cNvPr id="19" name="Shape 17"/>
          <p:cNvSpPr/>
          <p:nvPr/>
        </p:nvSpPr>
        <p:spPr>
          <a:xfrm>
            <a:off x="6400800" y="5212080"/>
            <a:ext cx="109728" cy="109728"/>
          </a:xfrm>
          <a:prstGeom prst="rect">
            <a:avLst/>
          </a:prstGeom>
          <a:solidFill>
            <a:srgbClr val="72D4DC"/>
          </a:solidFill>
          <a:ln w="12700">
            <a:solidFill>
              <a:srgbClr val="72D4DC"/>
            </a:solidFill>
            <a:prstDash val="solid"/>
          </a:ln>
        </p:spPr>
        <p:txBody>
          <a:bodyPr/>
          <a:lstStyle/>
          <a:p>
            <a:endParaRPr lang="en-DE"/>
          </a:p>
        </p:txBody>
      </p:sp>
      <p:sp>
        <p:nvSpPr>
          <p:cNvPr id="20" name="Text 18"/>
          <p:cNvSpPr/>
          <p:nvPr/>
        </p:nvSpPr>
        <p:spPr>
          <a:xfrm>
            <a:off x="6629400" y="5120640"/>
            <a:ext cx="5010912" cy="32004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report.json</a:t>
            </a:r>
            <a:endParaRPr lang="en-US" sz="1400" dirty="0"/>
          </a:p>
        </p:txBody>
      </p:sp>
      <p:sp>
        <p:nvSpPr>
          <p:cNvPr id="21" name="Text 19"/>
          <p:cNvSpPr/>
          <p:nvPr/>
        </p:nvSpPr>
        <p:spPr>
          <a:xfrm>
            <a:off x="6629400" y="5449824"/>
            <a:ext cx="5010912" cy="594360"/>
          </a:xfrm>
          <a:prstGeom prst="rect">
            <a:avLst/>
          </a:prstGeom>
          <a:noFill/>
          <a:ln/>
        </p:spPr>
        <p:txBody>
          <a:bodyPr wrap="square" lIns="0" tIns="0" rIns="0" bIns="0" rtlCol="0" anchor="ctr"/>
          <a:lstStyle/>
          <a:p>
            <a:pPr marL="0" indent="0">
              <a:buNone/>
            </a:pPr>
            <a:r>
              <a:rPr lang="en-US" sz="1200" dirty="0">
                <a:solidFill>
                  <a:srgbClr val="8B9296"/>
                </a:solidFill>
                <a:latin typeface="Source Code Pro" pitchFamily="34" charset="0"/>
                <a:ea typeface="Source Code Pro" pitchFamily="34" charset="-122"/>
                <a:cs typeface="Source Code Pro" pitchFamily="34" charset="-120"/>
              </a:rPr>
              <a:t>Top-level config — theme, filter pane, page order.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8 / 20</a:t>
            </a:r>
            <a:endParaRPr lang="en-US" sz="900" dirty="0"/>
          </a:p>
        </p:txBody>
      </p:sp>
      <p:sp>
        <p:nvSpPr>
          <p:cNvPr id="6" name="Text 4"/>
          <p:cNvSpPr/>
          <p:nvPr/>
        </p:nvSpPr>
        <p:spPr>
          <a:xfrm>
            <a:off x="548640" y="1097280"/>
            <a:ext cx="3657600" cy="1371600"/>
          </a:xfrm>
          <a:prstGeom prst="rect">
            <a:avLst/>
          </a:prstGeom>
          <a:noFill/>
          <a:ln/>
        </p:spPr>
        <p:txBody>
          <a:bodyPr wrap="square" lIns="0" tIns="0" rIns="0" bIns="0" rtlCol="0" anchor="ctr"/>
          <a:lstStyle/>
          <a:p>
            <a:pPr marL="0" indent="0">
              <a:buNone/>
            </a:pPr>
            <a:r>
              <a:rPr lang="en-US" sz="12000" b="1" dirty="0">
                <a:solidFill>
                  <a:srgbClr val="FF6348"/>
                </a:solidFill>
                <a:latin typeface="Source Code Pro" pitchFamily="34" charset="0"/>
                <a:ea typeface="Source Code Pro" pitchFamily="34" charset="-122"/>
                <a:cs typeface="Source Code Pro" pitchFamily="34" charset="-120"/>
              </a:rPr>
              <a:t>03</a:t>
            </a:r>
            <a:endParaRPr lang="en-US" sz="12000" dirty="0"/>
          </a:p>
        </p:txBody>
      </p:sp>
      <p:sp>
        <p:nvSpPr>
          <p:cNvPr id="7" name="Text 5"/>
          <p:cNvSpPr/>
          <p:nvPr/>
        </p:nvSpPr>
        <p:spPr>
          <a:xfrm>
            <a:off x="548640" y="26974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ACT THREE  ·  THE HEART OF THE TALK</a:t>
            </a:r>
            <a:endParaRPr lang="en-US" sz="1100" dirty="0"/>
          </a:p>
        </p:txBody>
      </p:sp>
      <p:sp>
        <p:nvSpPr>
          <p:cNvPr id="8" name="Text 6"/>
          <p:cNvSpPr/>
          <p:nvPr/>
        </p:nvSpPr>
        <p:spPr>
          <a:xfrm>
            <a:off x="548640" y="3017520"/>
            <a:ext cx="11091672" cy="1097280"/>
          </a:xfrm>
          <a:prstGeom prst="rect">
            <a:avLst/>
          </a:prstGeom>
          <a:noFill/>
          <a:ln/>
        </p:spPr>
        <p:txBody>
          <a:bodyPr wrap="square" lIns="0" tIns="0" rIns="0" bIns="0" rtlCol="0" anchor="t"/>
          <a:lstStyle/>
          <a:p>
            <a:pPr marL="0" indent="0">
              <a:buNone/>
            </a:pPr>
            <a:r>
              <a:rPr lang="en-US" sz="4800" b="1" kern="0" spc="100" dirty="0">
                <a:solidFill>
                  <a:srgbClr val="2D3436"/>
                </a:solidFill>
                <a:latin typeface="Source Code Pro" pitchFamily="34" charset="0"/>
                <a:ea typeface="Source Code Pro" pitchFamily="34" charset="-122"/>
                <a:cs typeface="Source Code Pro" pitchFamily="34" charset="-120"/>
              </a:rPr>
              <a:t>Power Query as the lens.</a:t>
            </a:r>
            <a:endParaRPr lang="en-US" sz="4800" dirty="0"/>
          </a:p>
        </p:txBody>
      </p:sp>
      <p:sp>
        <p:nvSpPr>
          <p:cNvPr id="9" name="Text 7"/>
          <p:cNvSpPr/>
          <p:nvPr/>
        </p:nvSpPr>
        <p:spPr>
          <a:xfrm>
            <a:off x="548640" y="4389120"/>
            <a:ext cx="11091672" cy="1371600"/>
          </a:xfrm>
          <a:prstGeom prst="rect">
            <a:avLst/>
          </a:prstGeom>
          <a:noFill/>
          <a:ln/>
        </p:spPr>
        <p:txBody>
          <a:bodyPr wrap="square" lIns="0" tIns="0" rIns="0" bIns="0" rtlCol="0" anchor="t"/>
          <a:lstStyle/>
          <a:p>
            <a:pPr marL="0" indent="0">
              <a:spcAft>
                <a:spcPts val="600"/>
              </a:spcAft>
              <a:buNone/>
            </a:pPr>
            <a:r>
              <a:rPr lang="en-US" sz="1800" dirty="0">
                <a:solidFill>
                  <a:srgbClr val="8B9296"/>
                </a:solidFill>
                <a:latin typeface="Source Code Pro" pitchFamily="34" charset="0"/>
                <a:ea typeface="Source Code Pro" pitchFamily="34" charset="-122"/>
                <a:cs typeface="Source Code Pro" pitchFamily="34" charset="-120"/>
              </a:rPr>
              <a:t>If PBIR is the dataset, Power Query is how we query it.</a:t>
            </a:r>
            <a:endParaRPr lang="en-US" sz="1800" dirty="0"/>
          </a:p>
          <a:p>
            <a:pPr marL="0" indent="0">
              <a:spcAft>
                <a:spcPts val="600"/>
              </a:spcAft>
              <a:buNone/>
            </a:pPr>
            <a:r>
              <a:rPr lang="en-US" sz="1800" dirty="0">
                <a:solidFill>
                  <a:srgbClr val="8B9296"/>
                </a:solidFill>
                <a:latin typeface="Source Code Pro" pitchFamily="34" charset="0"/>
                <a:ea typeface="Source Code Pro" pitchFamily="34" charset="-122"/>
                <a:cs typeface="Source Code Pro" pitchFamily="34" charset="-120"/>
              </a:rPr>
              <a:t>No new toolchain. No service to stand up. No data leaves the machine.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9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WHY THIS DESIGN</a:t>
            </a:r>
            <a:endParaRPr lang="en-US" sz="1100" dirty="0"/>
          </a:p>
        </p:txBody>
      </p:sp>
      <p:sp>
        <p:nvSpPr>
          <p:cNvPr id="7" name="Text 5"/>
          <p:cNvSpPr/>
          <p:nvPr/>
        </p:nvSpPr>
        <p:spPr>
          <a:xfrm>
            <a:off x="548640" y="1417320"/>
            <a:ext cx="11091672" cy="914400"/>
          </a:xfrm>
          <a:prstGeom prst="rect">
            <a:avLst/>
          </a:prstGeom>
          <a:noFill/>
          <a:ln/>
        </p:spPr>
        <p:txBody>
          <a:bodyPr wrap="square" lIns="0" tIns="0" rIns="0" bIns="0" rtlCol="0" anchor="t"/>
          <a:lstStyle/>
          <a:p>
            <a:pPr marL="0" indent="0">
              <a:buNone/>
            </a:pPr>
            <a:r>
              <a:rPr lang="en-US" sz="3600" b="1" kern="0" spc="100" dirty="0">
                <a:solidFill>
                  <a:srgbClr val="2D3436"/>
                </a:solidFill>
                <a:latin typeface="Source Code Pro" pitchFamily="34" charset="0"/>
                <a:ea typeface="Source Code Pro" pitchFamily="34" charset="-122"/>
                <a:cs typeface="Source Code Pro" pitchFamily="34" charset="-120"/>
              </a:rPr>
              <a:t>Four answers.</a:t>
            </a:r>
            <a:endParaRPr lang="en-US" sz="3600" dirty="0"/>
          </a:p>
        </p:txBody>
      </p:sp>
      <p:sp>
        <p:nvSpPr>
          <p:cNvPr id="8" name="Shape 6"/>
          <p:cNvSpPr/>
          <p:nvPr/>
        </p:nvSpPr>
        <p:spPr>
          <a:xfrm>
            <a:off x="548640" y="2194560"/>
            <a:ext cx="5212080" cy="1783080"/>
          </a:xfrm>
          <a:prstGeom prst="rect">
            <a:avLst/>
          </a:prstGeom>
          <a:solidFill>
            <a:srgbClr val="FFFFFF"/>
          </a:solidFill>
          <a:ln w="12700">
            <a:solidFill>
              <a:srgbClr val="2D3436"/>
            </a:solidFill>
            <a:prstDash val="solid"/>
          </a:ln>
        </p:spPr>
        <p:txBody>
          <a:bodyPr/>
          <a:lstStyle/>
          <a:p>
            <a:endParaRPr lang="en-DE"/>
          </a:p>
        </p:txBody>
      </p:sp>
      <p:sp>
        <p:nvSpPr>
          <p:cNvPr id="9" name="Shape 7"/>
          <p:cNvSpPr/>
          <p:nvPr/>
        </p:nvSpPr>
        <p:spPr>
          <a:xfrm>
            <a:off x="548640" y="2194560"/>
            <a:ext cx="73152" cy="1783080"/>
          </a:xfrm>
          <a:prstGeom prst="rect">
            <a:avLst/>
          </a:prstGeom>
          <a:solidFill>
            <a:srgbClr val="72D4DC"/>
          </a:solidFill>
          <a:ln w="12700">
            <a:solidFill>
              <a:srgbClr val="72D4DC"/>
            </a:solidFill>
            <a:prstDash val="solid"/>
          </a:ln>
        </p:spPr>
        <p:txBody>
          <a:bodyPr/>
          <a:lstStyle/>
          <a:p>
            <a:endParaRPr lang="en-DE"/>
          </a:p>
        </p:txBody>
      </p:sp>
      <p:sp>
        <p:nvSpPr>
          <p:cNvPr id="10" name="Text 8"/>
          <p:cNvSpPr/>
          <p:nvPr/>
        </p:nvSpPr>
        <p:spPr>
          <a:xfrm>
            <a:off x="822960" y="2377440"/>
            <a:ext cx="4754880" cy="457200"/>
          </a:xfrm>
          <a:prstGeom prst="rect">
            <a:avLst/>
          </a:prstGeom>
          <a:noFill/>
          <a:ln/>
        </p:spPr>
        <p:txBody>
          <a:bodyPr wrap="square" lIns="0" tIns="0" rIns="0" bIns="0" rtlCol="0" anchor="ctr"/>
          <a:lstStyle/>
          <a:p>
            <a:pPr marL="0" indent="0">
              <a:buNone/>
            </a:pPr>
            <a:r>
              <a:rPr lang="en-US" sz="1800" b="1" dirty="0">
                <a:solidFill>
                  <a:srgbClr val="2D3436"/>
                </a:solidFill>
                <a:latin typeface="Source Code Pro" pitchFamily="34" charset="0"/>
                <a:ea typeface="Source Code Pro" pitchFamily="34" charset="-122"/>
                <a:cs typeface="Source Code Pro" pitchFamily="34" charset="-120"/>
              </a:rPr>
              <a:t>Why Power Query?</a:t>
            </a:r>
            <a:endParaRPr lang="en-US" sz="1800" dirty="0"/>
          </a:p>
        </p:txBody>
      </p:sp>
      <p:sp>
        <p:nvSpPr>
          <p:cNvPr id="11" name="Text 9"/>
          <p:cNvSpPr/>
          <p:nvPr/>
        </p:nvSpPr>
        <p:spPr>
          <a:xfrm>
            <a:off x="822960" y="2880360"/>
            <a:ext cx="4754880" cy="1005840"/>
          </a:xfrm>
          <a:prstGeom prst="rect">
            <a:avLst/>
          </a:prstGeom>
          <a:noFill/>
          <a:ln/>
        </p:spPr>
        <p:txBody>
          <a:bodyPr wrap="square" lIns="0" tIns="0" rIns="0" bIns="0" rtlCol="0" anchor="ctr"/>
          <a:lstStyle/>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Every BI dev already knows it.</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No new toolchain. No environment.</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No service to stand up.</a:t>
            </a:r>
            <a:endParaRPr lang="en-US" sz="1300" dirty="0"/>
          </a:p>
        </p:txBody>
      </p:sp>
      <p:sp>
        <p:nvSpPr>
          <p:cNvPr id="12" name="Shape 10"/>
          <p:cNvSpPr/>
          <p:nvPr/>
        </p:nvSpPr>
        <p:spPr>
          <a:xfrm>
            <a:off x="6035040" y="2194560"/>
            <a:ext cx="5212080" cy="1783080"/>
          </a:xfrm>
          <a:prstGeom prst="rect">
            <a:avLst/>
          </a:prstGeom>
          <a:solidFill>
            <a:srgbClr val="FFFFFF"/>
          </a:solidFill>
          <a:ln w="12700">
            <a:solidFill>
              <a:srgbClr val="2D3436"/>
            </a:solidFill>
            <a:prstDash val="solid"/>
          </a:ln>
        </p:spPr>
        <p:txBody>
          <a:bodyPr/>
          <a:lstStyle/>
          <a:p>
            <a:endParaRPr lang="en-DE"/>
          </a:p>
        </p:txBody>
      </p:sp>
      <p:sp>
        <p:nvSpPr>
          <p:cNvPr id="13" name="Shape 11"/>
          <p:cNvSpPr/>
          <p:nvPr/>
        </p:nvSpPr>
        <p:spPr>
          <a:xfrm>
            <a:off x="6035040" y="2194560"/>
            <a:ext cx="73152" cy="1783080"/>
          </a:xfrm>
          <a:prstGeom prst="rect">
            <a:avLst/>
          </a:prstGeom>
          <a:solidFill>
            <a:srgbClr val="FF6348"/>
          </a:solidFill>
          <a:ln w="12700">
            <a:solidFill>
              <a:srgbClr val="FF6348"/>
            </a:solidFill>
            <a:prstDash val="solid"/>
          </a:ln>
        </p:spPr>
        <p:txBody>
          <a:bodyPr/>
          <a:lstStyle/>
          <a:p>
            <a:endParaRPr lang="en-DE"/>
          </a:p>
        </p:txBody>
      </p:sp>
      <p:sp>
        <p:nvSpPr>
          <p:cNvPr id="14" name="Text 12"/>
          <p:cNvSpPr/>
          <p:nvPr/>
        </p:nvSpPr>
        <p:spPr>
          <a:xfrm>
            <a:off x="6309360" y="2377440"/>
            <a:ext cx="4754880" cy="457200"/>
          </a:xfrm>
          <a:prstGeom prst="rect">
            <a:avLst/>
          </a:prstGeom>
          <a:noFill/>
          <a:ln/>
        </p:spPr>
        <p:txBody>
          <a:bodyPr wrap="square" lIns="0" tIns="0" rIns="0" bIns="0" rtlCol="0" anchor="ctr"/>
          <a:lstStyle/>
          <a:p>
            <a:pPr marL="0" indent="0">
              <a:buNone/>
            </a:pPr>
            <a:r>
              <a:rPr lang="en-US" sz="1800" b="1" dirty="0">
                <a:solidFill>
                  <a:srgbClr val="2D3436"/>
                </a:solidFill>
                <a:latin typeface="Source Code Pro" pitchFamily="34" charset="0"/>
                <a:ea typeface="Source Code Pro" pitchFamily="34" charset="-122"/>
                <a:cs typeface="Source Code Pro" pitchFamily="34" charset="-120"/>
              </a:rPr>
              <a:t>Why firewall-proof?</a:t>
            </a:r>
            <a:endParaRPr lang="en-US" sz="1800" dirty="0"/>
          </a:p>
        </p:txBody>
      </p:sp>
      <p:sp>
        <p:nvSpPr>
          <p:cNvPr id="15" name="Text 13"/>
          <p:cNvSpPr/>
          <p:nvPr/>
        </p:nvSpPr>
        <p:spPr>
          <a:xfrm>
            <a:off x="6309360" y="2880360"/>
            <a:ext cx="4754880" cy="1005840"/>
          </a:xfrm>
          <a:prstGeom prst="rect">
            <a:avLst/>
          </a:prstGeom>
          <a:noFill/>
          <a:ln/>
        </p:spPr>
        <p:txBody>
          <a:bodyPr wrap="square" lIns="0" tIns="0" rIns="0" bIns="0" rtlCol="0" anchor="ctr"/>
          <a:lstStyle/>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Your report definitions never</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leave the machine. No API calls,</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no cloud. The auditors approve.</a:t>
            </a:r>
            <a:endParaRPr lang="en-US" sz="1300" dirty="0"/>
          </a:p>
        </p:txBody>
      </p:sp>
      <p:sp>
        <p:nvSpPr>
          <p:cNvPr id="16" name="Shape 14"/>
          <p:cNvSpPr/>
          <p:nvPr/>
        </p:nvSpPr>
        <p:spPr>
          <a:xfrm>
            <a:off x="548640" y="4251960"/>
            <a:ext cx="5212080" cy="1783080"/>
          </a:xfrm>
          <a:prstGeom prst="rect">
            <a:avLst/>
          </a:prstGeom>
          <a:solidFill>
            <a:srgbClr val="FFFFFF"/>
          </a:solidFill>
          <a:ln w="12700">
            <a:solidFill>
              <a:srgbClr val="2D3436"/>
            </a:solidFill>
            <a:prstDash val="solid"/>
          </a:ln>
        </p:spPr>
        <p:txBody>
          <a:bodyPr/>
          <a:lstStyle/>
          <a:p>
            <a:endParaRPr lang="en-DE"/>
          </a:p>
        </p:txBody>
      </p:sp>
      <p:sp>
        <p:nvSpPr>
          <p:cNvPr id="17" name="Shape 15"/>
          <p:cNvSpPr/>
          <p:nvPr/>
        </p:nvSpPr>
        <p:spPr>
          <a:xfrm>
            <a:off x="548640" y="4251960"/>
            <a:ext cx="73152" cy="1783080"/>
          </a:xfrm>
          <a:prstGeom prst="rect">
            <a:avLst/>
          </a:prstGeom>
          <a:solidFill>
            <a:srgbClr val="72D4DC"/>
          </a:solidFill>
          <a:ln w="12700">
            <a:solidFill>
              <a:srgbClr val="72D4DC"/>
            </a:solidFill>
            <a:prstDash val="solid"/>
          </a:ln>
        </p:spPr>
        <p:txBody>
          <a:bodyPr/>
          <a:lstStyle/>
          <a:p>
            <a:endParaRPr lang="en-DE"/>
          </a:p>
        </p:txBody>
      </p:sp>
      <p:sp>
        <p:nvSpPr>
          <p:cNvPr id="18" name="Text 16"/>
          <p:cNvSpPr/>
          <p:nvPr/>
        </p:nvSpPr>
        <p:spPr>
          <a:xfrm>
            <a:off x="822960" y="4434840"/>
            <a:ext cx="4754880" cy="457200"/>
          </a:xfrm>
          <a:prstGeom prst="rect">
            <a:avLst/>
          </a:prstGeom>
          <a:noFill/>
          <a:ln/>
        </p:spPr>
        <p:txBody>
          <a:bodyPr wrap="square" lIns="0" tIns="0" rIns="0" bIns="0" rtlCol="0" anchor="ctr"/>
          <a:lstStyle/>
          <a:p>
            <a:pPr marL="0" indent="0">
              <a:buNone/>
            </a:pPr>
            <a:r>
              <a:rPr lang="en-US" sz="1800" b="1" dirty="0">
                <a:solidFill>
                  <a:srgbClr val="2D3436"/>
                </a:solidFill>
                <a:latin typeface="Source Code Pro" pitchFamily="34" charset="0"/>
                <a:ea typeface="Source Code Pro" pitchFamily="34" charset="-122"/>
                <a:cs typeface="Source Code Pro" pitchFamily="34" charset="-120"/>
              </a:rPr>
              <a:t>Why PBIR?</a:t>
            </a:r>
            <a:endParaRPr lang="en-US" sz="1800" dirty="0"/>
          </a:p>
        </p:txBody>
      </p:sp>
      <p:sp>
        <p:nvSpPr>
          <p:cNvPr id="19" name="Text 17"/>
          <p:cNvSpPr/>
          <p:nvPr/>
        </p:nvSpPr>
        <p:spPr>
          <a:xfrm>
            <a:off x="822960" y="4937760"/>
            <a:ext cx="4754880" cy="1005840"/>
          </a:xfrm>
          <a:prstGeom prst="rect">
            <a:avLst/>
          </a:prstGeom>
          <a:noFill/>
          <a:ln/>
        </p:spPr>
        <p:txBody>
          <a:bodyPr wrap="square" lIns="0" tIns="0" rIns="0" bIns="0" rtlCol="0" anchor="ctr"/>
          <a:lstStyle/>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PBIP stored binary blobs.</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PBIR stores folders of JSON.</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The folder is the API.</a:t>
            </a:r>
            <a:endParaRPr lang="en-US" sz="1300" dirty="0"/>
          </a:p>
        </p:txBody>
      </p:sp>
      <p:sp>
        <p:nvSpPr>
          <p:cNvPr id="20" name="Shape 18"/>
          <p:cNvSpPr/>
          <p:nvPr/>
        </p:nvSpPr>
        <p:spPr>
          <a:xfrm>
            <a:off x="6035040" y="4251960"/>
            <a:ext cx="5212080" cy="1783080"/>
          </a:xfrm>
          <a:prstGeom prst="rect">
            <a:avLst/>
          </a:prstGeom>
          <a:solidFill>
            <a:srgbClr val="FFFFFF"/>
          </a:solidFill>
          <a:ln w="12700">
            <a:solidFill>
              <a:srgbClr val="2D3436"/>
            </a:solidFill>
            <a:prstDash val="solid"/>
          </a:ln>
        </p:spPr>
        <p:txBody>
          <a:bodyPr/>
          <a:lstStyle/>
          <a:p>
            <a:endParaRPr lang="en-DE"/>
          </a:p>
        </p:txBody>
      </p:sp>
      <p:sp>
        <p:nvSpPr>
          <p:cNvPr id="21" name="Shape 19"/>
          <p:cNvSpPr/>
          <p:nvPr/>
        </p:nvSpPr>
        <p:spPr>
          <a:xfrm>
            <a:off x="6035040" y="4251960"/>
            <a:ext cx="73152" cy="1783080"/>
          </a:xfrm>
          <a:prstGeom prst="rect">
            <a:avLst/>
          </a:prstGeom>
          <a:solidFill>
            <a:srgbClr val="FF6348"/>
          </a:solidFill>
          <a:ln w="12700">
            <a:solidFill>
              <a:srgbClr val="FF6348"/>
            </a:solidFill>
            <a:prstDash val="solid"/>
          </a:ln>
        </p:spPr>
        <p:txBody>
          <a:bodyPr/>
          <a:lstStyle/>
          <a:p>
            <a:endParaRPr lang="en-DE"/>
          </a:p>
        </p:txBody>
      </p:sp>
      <p:sp>
        <p:nvSpPr>
          <p:cNvPr id="22" name="Text 20"/>
          <p:cNvSpPr/>
          <p:nvPr/>
        </p:nvSpPr>
        <p:spPr>
          <a:xfrm>
            <a:off x="6309360" y="4434840"/>
            <a:ext cx="4754880" cy="457200"/>
          </a:xfrm>
          <a:prstGeom prst="rect">
            <a:avLst/>
          </a:prstGeom>
          <a:noFill/>
          <a:ln/>
        </p:spPr>
        <p:txBody>
          <a:bodyPr wrap="square" lIns="0" tIns="0" rIns="0" bIns="0" rtlCol="0" anchor="ctr"/>
          <a:lstStyle/>
          <a:p>
            <a:pPr marL="0" indent="0">
              <a:buNone/>
            </a:pPr>
            <a:r>
              <a:rPr lang="en-US" sz="1800" b="1" dirty="0">
                <a:solidFill>
                  <a:srgbClr val="2D3436"/>
                </a:solidFill>
                <a:latin typeface="Source Code Pro" pitchFamily="34" charset="0"/>
                <a:ea typeface="Source Code Pro" pitchFamily="34" charset="-122"/>
                <a:cs typeface="Source Code Pro" pitchFamily="34" charset="-120"/>
              </a:rPr>
              <a:t>Why a folder, not a DB?</a:t>
            </a:r>
            <a:endParaRPr lang="en-US" sz="1800" dirty="0"/>
          </a:p>
        </p:txBody>
      </p:sp>
      <p:sp>
        <p:nvSpPr>
          <p:cNvPr id="23" name="Text 21"/>
          <p:cNvSpPr/>
          <p:nvPr/>
        </p:nvSpPr>
        <p:spPr>
          <a:xfrm>
            <a:off x="6309360" y="4937760"/>
            <a:ext cx="4754880" cy="1005840"/>
          </a:xfrm>
          <a:prstGeom prst="rect">
            <a:avLst/>
          </a:prstGeom>
          <a:noFill/>
          <a:ln/>
        </p:spPr>
        <p:txBody>
          <a:bodyPr wrap="square" lIns="0" tIns="0" rIns="0" bIns="0" rtlCol="0" anchor="ctr"/>
          <a:lstStyle/>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Zero infrastructure.</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Point Power Query at a folder,</a:t>
            </a:r>
            <a:endParaRPr lang="en-US" sz="1300" dirty="0"/>
          </a:p>
          <a:p>
            <a:pPr marL="0" indent="0">
              <a:spcAft>
                <a:spcPts val="200"/>
              </a:spcAft>
              <a:buNone/>
            </a:pPr>
            <a:r>
              <a:rPr lang="en-US" sz="1300" dirty="0">
                <a:solidFill>
                  <a:srgbClr val="8B9296"/>
                </a:solidFill>
                <a:latin typeface="Source Code Pro" pitchFamily="34" charset="0"/>
                <a:ea typeface="Source Code Pro" pitchFamily="34" charset="-122"/>
                <a:cs typeface="Source Code Pro" pitchFamily="34" charset="-120"/>
              </a:rPr>
              <a:t>get a semantic model. That's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3436"/>
        </a:solidFill>
        <a:effectLst/>
      </p:bgPr>
    </p:bg>
    <p:spTree>
      <p:nvGrpSpPr>
        <p:cNvPr id="1" name=""/>
        <p:cNvGrpSpPr/>
        <p:nvPr/>
      </p:nvGrpSpPr>
      <p:grpSpPr>
        <a:xfrm>
          <a:off x="0" y="0"/>
          <a:ext cx="0" cy="0"/>
          <a:chOff x="0" y="0"/>
          <a:chExt cx="0" cy="0"/>
        </a:xfrm>
      </p:grpSpPr>
      <p:sp>
        <p:nvSpPr>
          <p:cNvPr id="2" name="Text 0"/>
          <p:cNvSpPr/>
          <p:nvPr/>
        </p:nvSpPr>
        <p:spPr>
          <a:xfrm>
            <a:off x="548640" y="731520"/>
            <a:ext cx="11091672" cy="457200"/>
          </a:xfrm>
          <a:prstGeom prst="rect">
            <a:avLst/>
          </a:prstGeom>
          <a:noFill/>
          <a:ln/>
        </p:spPr>
        <p:txBody>
          <a:bodyPr wrap="square" lIns="0" tIns="0" rIns="0" bIns="0" rtlCol="0" anchor="ctr"/>
          <a:lstStyle/>
          <a:p>
            <a:pPr marL="0" indent="0">
              <a:buNone/>
            </a:pPr>
            <a:r>
              <a:rPr lang="en-US" sz="2200" b="1" kern="0" spc="800" dirty="0">
                <a:solidFill>
                  <a:srgbClr val="FF6348"/>
                </a:solidFill>
                <a:latin typeface="Source Code Pro" pitchFamily="34" charset="0"/>
                <a:ea typeface="Source Code Pro" pitchFamily="34" charset="-122"/>
                <a:cs typeface="Source Code Pro" pitchFamily="34" charset="-120"/>
              </a:rPr>
              <a:t>LIVE</a:t>
            </a:r>
            <a:endParaRPr lang="en-US" sz="2200" dirty="0"/>
          </a:p>
        </p:txBody>
      </p:sp>
      <p:sp>
        <p:nvSpPr>
          <p:cNvPr id="3" name="Text 1"/>
          <p:cNvSpPr/>
          <p:nvPr/>
        </p:nvSpPr>
        <p:spPr>
          <a:xfrm>
            <a:off x="548640" y="1463040"/>
            <a:ext cx="11091672" cy="2926080"/>
          </a:xfrm>
          <a:prstGeom prst="rect">
            <a:avLst/>
          </a:prstGeom>
          <a:noFill/>
          <a:ln/>
        </p:spPr>
        <p:txBody>
          <a:bodyPr wrap="square" lIns="0" tIns="0" rIns="0" bIns="0" rtlCol="0" anchor="ctr"/>
          <a:lstStyle/>
          <a:p>
            <a:pPr marL="0" indent="0">
              <a:buNone/>
            </a:pPr>
            <a:r>
              <a:rPr lang="en-US" sz="16000" b="1" dirty="0">
                <a:solidFill>
                  <a:srgbClr val="FFFFFF"/>
                </a:solidFill>
                <a:latin typeface="Source Code Pro" pitchFamily="34" charset="0"/>
                <a:ea typeface="Source Code Pro" pitchFamily="34" charset="-122"/>
                <a:cs typeface="Source Code Pro" pitchFamily="34" charset="-120"/>
              </a:rPr>
              <a:t>Demo.</a:t>
            </a:r>
            <a:endParaRPr lang="en-US" sz="16000" dirty="0"/>
          </a:p>
        </p:txBody>
      </p:sp>
      <p:sp>
        <p:nvSpPr>
          <p:cNvPr id="4" name="Text 2"/>
          <p:cNvSpPr/>
          <p:nvPr/>
        </p:nvSpPr>
        <p:spPr>
          <a:xfrm>
            <a:off x="548640" y="4937760"/>
            <a:ext cx="11091672" cy="1463040"/>
          </a:xfrm>
          <a:prstGeom prst="rect">
            <a:avLst/>
          </a:prstGeom>
          <a:noFill/>
          <a:ln/>
        </p:spPr>
        <p:txBody>
          <a:bodyPr wrap="square" lIns="0" tIns="0" rIns="0" bIns="0" rtlCol="0" anchor="ctr"/>
          <a:lstStyle/>
          <a:p>
            <a:pPr marL="342900" indent="-342900">
              <a:spcAft>
                <a:spcPts val="400"/>
              </a:spcAft>
              <a:buSzPct val="100000"/>
              <a:buChar char="•"/>
            </a:pPr>
            <a:r>
              <a:rPr lang="en-US" sz="1600" dirty="0">
                <a:solidFill>
                  <a:srgbClr val="72D4DC"/>
                </a:solidFill>
                <a:latin typeface="Source Code Pro" pitchFamily="34" charset="0"/>
                <a:ea typeface="Source Code Pro" pitchFamily="34" charset="-122"/>
                <a:cs typeface="Source Code Pro" pitchFamily="34" charset="-120"/>
              </a:rPr>
              <a:t>Load a report into PBIR X-Ray</a:t>
            </a:r>
            <a:endParaRPr lang="en-US" sz="1600" dirty="0"/>
          </a:p>
          <a:p>
            <a:pPr marL="342900" indent="-342900">
              <a:spcAft>
                <a:spcPts val="400"/>
              </a:spcAft>
              <a:buSzPct val="100000"/>
              <a:buChar char="•"/>
            </a:pPr>
            <a:r>
              <a:rPr lang="en-US" sz="1600" dirty="0">
                <a:solidFill>
                  <a:srgbClr val="72D4DC"/>
                </a:solidFill>
                <a:latin typeface="Source Code Pro" pitchFamily="34" charset="0"/>
                <a:ea typeface="Source Code Pro" pitchFamily="34" charset="-122"/>
                <a:cs typeface="Source Code Pro" pitchFamily="34" charset="-120"/>
              </a:rPr>
              <a:t>Inspect the resulting semantic model</a:t>
            </a:r>
            <a:endParaRPr lang="en-US" sz="1600" dirty="0"/>
          </a:p>
          <a:p>
            <a:pPr marL="342900" indent="-342900">
              <a:spcAft>
                <a:spcPts val="400"/>
              </a:spcAft>
              <a:buSzPct val="100000"/>
              <a:buChar char="•"/>
            </a:pPr>
            <a:r>
              <a:rPr lang="en-US" sz="1600" dirty="0">
                <a:solidFill>
                  <a:srgbClr val="72D4DC"/>
                </a:solidFill>
                <a:latin typeface="Source Code Pro" pitchFamily="34" charset="0"/>
                <a:ea typeface="Source Code Pro" pitchFamily="34" charset="-122"/>
                <a:cs typeface="Source Code Pro" pitchFamily="34" charset="-120"/>
              </a:rPr>
              <a:t>Run four canonical queries against it</a:t>
            </a:r>
            <a:endParaRPr lang="en-US" sz="1600" dirty="0"/>
          </a:p>
          <a:p>
            <a:pPr marL="342900" indent="-342900">
              <a:spcAft>
                <a:spcPts val="400"/>
              </a:spcAft>
              <a:buSzPct val="100000"/>
              <a:buChar char="•"/>
            </a:pPr>
            <a:r>
              <a:rPr lang="en-US" sz="1600" dirty="0">
                <a:solidFill>
                  <a:srgbClr val="72D4DC"/>
                </a:solidFill>
                <a:latin typeface="Source Code Pro" pitchFamily="34" charset="0"/>
                <a:ea typeface="Source Code Pro" pitchFamily="34" charset="-122"/>
                <a:cs typeface="Source Code Pro" pitchFamily="34" charset="-120"/>
              </a:rPr>
              <a:t>One real-world “aha” per query</a:t>
            </a:r>
            <a:endParaRPr lang="en-US" sz="1600" dirty="0"/>
          </a:p>
        </p:txBody>
      </p:sp>
      <p:sp>
        <p:nvSpPr>
          <p:cNvPr id="5" name="Shape 3"/>
          <p:cNvSpPr/>
          <p:nvPr/>
        </p:nvSpPr>
        <p:spPr>
          <a:xfrm>
            <a:off x="548640" y="4663440"/>
            <a:ext cx="731520" cy="54864"/>
          </a:xfrm>
          <a:prstGeom prst="rect">
            <a:avLst/>
          </a:prstGeom>
          <a:solidFill>
            <a:srgbClr val="FF6348"/>
          </a:solidFill>
          <a:ln w="12700">
            <a:solidFill>
              <a:srgbClr val="FF6348"/>
            </a:solidFill>
            <a:prstDash val="solid"/>
          </a:ln>
        </p:spPr>
        <p:txBody>
          <a:bodyPr/>
          <a:lstStyle/>
          <a:p>
            <a:endParaRPr lang="en-D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11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FOUR CANONICAL QUERIES</a:t>
            </a:r>
            <a:endParaRPr lang="en-US" sz="1100" dirty="0"/>
          </a:p>
        </p:txBody>
      </p:sp>
      <p:sp>
        <p:nvSpPr>
          <p:cNvPr id="7" name="Text 5"/>
          <p:cNvSpPr/>
          <p:nvPr/>
        </p:nvSpPr>
        <p:spPr>
          <a:xfrm>
            <a:off x="548640" y="1417320"/>
            <a:ext cx="11091672" cy="1463040"/>
          </a:xfrm>
          <a:prstGeom prst="rect">
            <a:avLst/>
          </a:prstGeom>
          <a:noFill/>
          <a:ln/>
        </p:spPr>
        <p:txBody>
          <a:bodyPr wrap="square" lIns="0" tIns="0" rIns="0" bIns="0" rtlCol="0" anchor="t"/>
          <a:lstStyle/>
          <a:p>
            <a:pPr marL="0" indent="0">
              <a:buNone/>
            </a:pPr>
            <a:r>
              <a:rPr lang="en-US" sz="3200" b="1" kern="0" spc="100" dirty="0">
                <a:solidFill>
                  <a:srgbClr val="2D3436"/>
                </a:solidFill>
                <a:latin typeface="Source Code Pro" pitchFamily="34" charset="0"/>
                <a:ea typeface="Source Code Pro" pitchFamily="34" charset="-122"/>
                <a:cs typeface="Source Code Pro" pitchFamily="34" charset="-120"/>
              </a:rPr>
              <a:t>Different inventories,</a:t>
            </a:r>
            <a:endParaRPr lang="en-US" sz="3200" dirty="0"/>
          </a:p>
          <a:p>
            <a:pPr marL="0" indent="0">
              <a:buNone/>
            </a:pPr>
            <a:r>
              <a:rPr lang="en-US" sz="3200" b="1" kern="0" spc="100" dirty="0">
                <a:solidFill>
                  <a:srgbClr val="2D3436"/>
                </a:solidFill>
                <a:latin typeface="Source Code Pro" pitchFamily="34" charset="0"/>
                <a:ea typeface="Source Code Pro" pitchFamily="34" charset="-122"/>
                <a:cs typeface="Source Code Pro" pitchFamily="34" charset="-120"/>
              </a:rPr>
              <a:t>same lens.</a:t>
            </a:r>
            <a:endParaRPr lang="en-US" sz="3200" dirty="0"/>
          </a:p>
        </p:txBody>
      </p:sp>
      <p:sp>
        <p:nvSpPr>
          <p:cNvPr id="8" name="Text 6"/>
          <p:cNvSpPr/>
          <p:nvPr/>
        </p:nvSpPr>
        <p:spPr>
          <a:xfrm>
            <a:off x="548640" y="3108960"/>
            <a:ext cx="640080" cy="822960"/>
          </a:xfrm>
          <a:prstGeom prst="rect">
            <a:avLst/>
          </a:prstGeom>
          <a:noFill/>
          <a:ln/>
        </p:spPr>
        <p:txBody>
          <a:bodyPr wrap="square" lIns="0" tIns="0" rIns="0" bIns="0" rtlCol="0" anchor="t"/>
          <a:lstStyle/>
          <a:p>
            <a:pPr marL="0" indent="0">
              <a:buNone/>
            </a:pPr>
            <a:r>
              <a:rPr lang="en-US" sz="2800" b="1" dirty="0">
                <a:solidFill>
                  <a:srgbClr val="FF6348"/>
                </a:solidFill>
                <a:latin typeface="Source Code Pro" pitchFamily="34" charset="0"/>
                <a:ea typeface="Source Code Pro" pitchFamily="34" charset="-122"/>
                <a:cs typeface="Source Code Pro" pitchFamily="34" charset="-120"/>
              </a:rPr>
              <a:t>01</a:t>
            </a:r>
            <a:endParaRPr lang="en-US" sz="2800" dirty="0"/>
          </a:p>
        </p:txBody>
      </p:sp>
      <p:sp>
        <p:nvSpPr>
          <p:cNvPr id="9" name="Text 7"/>
          <p:cNvSpPr/>
          <p:nvPr/>
        </p:nvSpPr>
        <p:spPr>
          <a:xfrm>
            <a:off x="1280160" y="3108960"/>
            <a:ext cx="2103120" cy="822960"/>
          </a:xfrm>
          <a:prstGeom prst="rect">
            <a:avLst/>
          </a:prstGeom>
          <a:noFill/>
          <a:ln/>
        </p:spPr>
        <p:txBody>
          <a:bodyPr wrap="square" lIns="0" tIns="0" rIns="0" bIns="0" rtlCol="0" anchor="t"/>
          <a:lstStyle/>
          <a:p>
            <a:pPr marL="0" indent="0">
              <a:buNone/>
            </a:pPr>
            <a:r>
              <a:rPr lang="en-US" sz="2200" b="1" dirty="0">
                <a:solidFill>
                  <a:srgbClr val="2D3436"/>
                </a:solidFill>
                <a:latin typeface="Source Code Pro" pitchFamily="34" charset="0"/>
                <a:ea typeface="Source Code Pro" pitchFamily="34" charset="-122"/>
                <a:cs typeface="Source Code Pro" pitchFamily="34" charset="-120"/>
              </a:rPr>
              <a:t>Pages</a:t>
            </a:r>
            <a:endParaRPr lang="en-US" sz="2200" dirty="0"/>
          </a:p>
        </p:txBody>
      </p:sp>
      <p:sp>
        <p:nvSpPr>
          <p:cNvPr id="10" name="Text 8"/>
          <p:cNvSpPr/>
          <p:nvPr/>
        </p:nvSpPr>
        <p:spPr>
          <a:xfrm>
            <a:off x="3474720" y="3154680"/>
            <a:ext cx="8165592" cy="822960"/>
          </a:xfrm>
          <a:prstGeom prst="rect">
            <a:avLst/>
          </a:prstGeom>
          <a:noFill/>
          <a:ln/>
        </p:spPr>
        <p:txBody>
          <a:bodyPr wrap="square" lIns="0" tIns="0" rIns="0" bIns="0" rtlCol="0" anchor="t"/>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How many pages per report? Hidden vs visible? When was each last modified?</a:t>
            </a:r>
            <a:endParaRPr lang="en-US" sz="1300" dirty="0"/>
          </a:p>
        </p:txBody>
      </p:sp>
      <p:sp>
        <p:nvSpPr>
          <p:cNvPr id="11" name="Shape 9"/>
          <p:cNvSpPr/>
          <p:nvPr/>
        </p:nvSpPr>
        <p:spPr>
          <a:xfrm>
            <a:off x="548640" y="3886200"/>
            <a:ext cx="11091672" cy="0"/>
          </a:xfrm>
          <a:prstGeom prst="line">
            <a:avLst/>
          </a:prstGeom>
          <a:noFill/>
          <a:ln w="9525">
            <a:solidFill>
              <a:srgbClr val="E8E8E8"/>
            </a:solidFill>
            <a:prstDash val="solid"/>
          </a:ln>
        </p:spPr>
        <p:txBody>
          <a:bodyPr/>
          <a:lstStyle/>
          <a:p>
            <a:endParaRPr lang="en-DE"/>
          </a:p>
        </p:txBody>
      </p:sp>
      <p:sp>
        <p:nvSpPr>
          <p:cNvPr id="12" name="Text 10"/>
          <p:cNvSpPr/>
          <p:nvPr/>
        </p:nvSpPr>
        <p:spPr>
          <a:xfrm>
            <a:off x="548640" y="3931920"/>
            <a:ext cx="640080" cy="822960"/>
          </a:xfrm>
          <a:prstGeom prst="rect">
            <a:avLst/>
          </a:prstGeom>
          <a:noFill/>
          <a:ln/>
        </p:spPr>
        <p:txBody>
          <a:bodyPr wrap="square" lIns="0" tIns="0" rIns="0" bIns="0" rtlCol="0" anchor="t"/>
          <a:lstStyle/>
          <a:p>
            <a:pPr marL="0" indent="0">
              <a:buNone/>
            </a:pPr>
            <a:r>
              <a:rPr lang="en-US" sz="2800" b="1" dirty="0">
                <a:solidFill>
                  <a:srgbClr val="FF6348"/>
                </a:solidFill>
                <a:latin typeface="Source Code Pro" pitchFamily="34" charset="0"/>
                <a:ea typeface="Source Code Pro" pitchFamily="34" charset="-122"/>
                <a:cs typeface="Source Code Pro" pitchFamily="34" charset="-120"/>
              </a:rPr>
              <a:t>02</a:t>
            </a:r>
            <a:endParaRPr lang="en-US" sz="2800" dirty="0"/>
          </a:p>
        </p:txBody>
      </p:sp>
      <p:sp>
        <p:nvSpPr>
          <p:cNvPr id="13" name="Text 11"/>
          <p:cNvSpPr/>
          <p:nvPr/>
        </p:nvSpPr>
        <p:spPr>
          <a:xfrm>
            <a:off x="1280160" y="3931920"/>
            <a:ext cx="2103120" cy="822960"/>
          </a:xfrm>
          <a:prstGeom prst="rect">
            <a:avLst/>
          </a:prstGeom>
          <a:noFill/>
          <a:ln/>
        </p:spPr>
        <p:txBody>
          <a:bodyPr wrap="square" lIns="0" tIns="0" rIns="0" bIns="0" rtlCol="0" anchor="t"/>
          <a:lstStyle/>
          <a:p>
            <a:pPr marL="0" indent="0">
              <a:buNone/>
            </a:pPr>
            <a:r>
              <a:rPr lang="en-US" sz="2200" b="1" dirty="0">
                <a:solidFill>
                  <a:srgbClr val="2D3436"/>
                </a:solidFill>
                <a:latin typeface="Source Code Pro" pitchFamily="34" charset="0"/>
                <a:ea typeface="Source Code Pro" pitchFamily="34" charset="-122"/>
                <a:cs typeface="Source Code Pro" pitchFamily="34" charset="-120"/>
              </a:rPr>
              <a:t>Visuals</a:t>
            </a:r>
            <a:endParaRPr lang="en-US" sz="2200" dirty="0"/>
          </a:p>
        </p:txBody>
      </p:sp>
      <p:sp>
        <p:nvSpPr>
          <p:cNvPr id="14" name="Text 12"/>
          <p:cNvSpPr/>
          <p:nvPr/>
        </p:nvSpPr>
        <p:spPr>
          <a:xfrm>
            <a:off x="3474720" y="3977640"/>
            <a:ext cx="8165592" cy="822960"/>
          </a:xfrm>
          <a:prstGeom prst="rect">
            <a:avLst/>
          </a:prstGeom>
          <a:noFill/>
          <a:ln/>
        </p:spPr>
        <p:txBody>
          <a:bodyPr wrap="square" lIns="0" tIns="0" rIns="0" bIns="0" rtlCol="0" anchor="t"/>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What visual types are in use? Where is the long tail of one-offs?</a:t>
            </a:r>
            <a:endParaRPr lang="en-US" sz="1300" dirty="0"/>
          </a:p>
        </p:txBody>
      </p:sp>
      <p:sp>
        <p:nvSpPr>
          <p:cNvPr id="15" name="Shape 13"/>
          <p:cNvSpPr/>
          <p:nvPr/>
        </p:nvSpPr>
        <p:spPr>
          <a:xfrm>
            <a:off x="548640" y="4709160"/>
            <a:ext cx="11091672" cy="0"/>
          </a:xfrm>
          <a:prstGeom prst="line">
            <a:avLst/>
          </a:prstGeom>
          <a:noFill/>
          <a:ln w="9525">
            <a:solidFill>
              <a:srgbClr val="E8E8E8"/>
            </a:solidFill>
            <a:prstDash val="solid"/>
          </a:ln>
        </p:spPr>
        <p:txBody>
          <a:bodyPr/>
          <a:lstStyle/>
          <a:p>
            <a:endParaRPr lang="en-DE"/>
          </a:p>
        </p:txBody>
      </p:sp>
      <p:sp>
        <p:nvSpPr>
          <p:cNvPr id="16" name="Text 14"/>
          <p:cNvSpPr/>
          <p:nvPr/>
        </p:nvSpPr>
        <p:spPr>
          <a:xfrm>
            <a:off x="548640" y="4754880"/>
            <a:ext cx="640080" cy="822960"/>
          </a:xfrm>
          <a:prstGeom prst="rect">
            <a:avLst/>
          </a:prstGeom>
          <a:noFill/>
          <a:ln/>
        </p:spPr>
        <p:txBody>
          <a:bodyPr wrap="square" lIns="0" tIns="0" rIns="0" bIns="0" rtlCol="0" anchor="t"/>
          <a:lstStyle/>
          <a:p>
            <a:pPr marL="0" indent="0">
              <a:buNone/>
            </a:pPr>
            <a:r>
              <a:rPr lang="en-US" sz="2800" b="1" dirty="0">
                <a:solidFill>
                  <a:srgbClr val="FF6348"/>
                </a:solidFill>
                <a:latin typeface="Source Code Pro" pitchFamily="34" charset="0"/>
                <a:ea typeface="Source Code Pro" pitchFamily="34" charset="-122"/>
                <a:cs typeface="Source Code Pro" pitchFamily="34" charset="-120"/>
              </a:rPr>
              <a:t>03</a:t>
            </a:r>
            <a:endParaRPr lang="en-US" sz="2800" dirty="0"/>
          </a:p>
        </p:txBody>
      </p:sp>
      <p:sp>
        <p:nvSpPr>
          <p:cNvPr id="17" name="Text 15"/>
          <p:cNvSpPr/>
          <p:nvPr/>
        </p:nvSpPr>
        <p:spPr>
          <a:xfrm>
            <a:off x="1280160" y="4754880"/>
            <a:ext cx="2103120" cy="822960"/>
          </a:xfrm>
          <a:prstGeom prst="rect">
            <a:avLst/>
          </a:prstGeom>
          <a:noFill/>
          <a:ln/>
        </p:spPr>
        <p:txBody>
          <a:bodyPr wrap="square" lIns="0" tIns="0" rIns="0" bIns="0" rtlCol="0" anchor="t"/>
          <a:lstStyle/>
          <a:p>
            <a:pPr marL="0" indent="0">
              <a:buNone/>
            </a:pPr>
            <a:r>
              <a:rPr lang="en-US" sz="2200" b="1" dirty="0">
                <a:solidFill>
                  <a:srgbClr val="2D3436"/>
                </a:solidFill>
                <a:latin typeface="Source Code Pro" pitchFamily="34" charset="0"/>
                <a:ea typeface="Source Code Pro" pitchFamily="34" charset="-122"/>
                <a:cs typeface="Source Code Pro" pitchFamily="34" charset="-120"/>
              </a:rPr>
              <a:t>Bookmarks</a:t>
            </a:r>
            <a:endParaRPr lang="en-US" sz="2200" dirty="0"/>
          </a:p>
        </p:txBody>
      </p:sp>
      <p:sp>
        <p:nvSpPr>
          <p:cNvPr id="18" name="Text 16"/>
          <p:cNvSpPr/>
          <p:nvPr/>
        </p:nvSpPr>
        <p:spPr>
          <a:xfrm>
            <a:off x="3474720" y="4800600"/>
            <a:ext cx="8165592" cy="822960"/>
          </a:xfrm>
          <a:prstGeom prst="rect">
            <a:avLst/>
          </a:prstGeom>
          <a:noFill/>
          <a:ln/>
        </p:spPr>
        <p:txBody>
          <a:bodyPr wrap="square" lIns="0" tIns="0" rIns="0" bIns="0" rtlCol="0" anchor="t"/>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Which bookmarks exist? When were they created? Are they still pointing at live state?</a:t>
            </a:r>
            <a:endParaRPr lang="en-US" sz="1300" dirty="0"/>
          </a:p>
        </p:txBody>
      </p:sp>
      <p:sp>
        <p:nvSpPr>
          <p:cNvPr id="19" name="Shape 17"/>
          <p:cNvSpPr/>
          <p:nvPr/>
        </p:nvSpPr>
        <p:spPr>
          <a:xfrm>
            <a:off x="548640" y="5532120"/>
            <a:ext cx="11091672" cy="0"/>
          </a:xfrm>
          <a:prstGeom prst="line">
            <a:avLst/>
          </a:prstGeom>
          <a:noFill/>
          <a:ln w="9525">
            <a:solidFill>
              <a:srgbClr val="E8E8E8"/>
            </a:solidFill>
            <a:prstDash val="solid"/>
          </a:ln>
        </p:spPr>
        <p:txBody>
          <a:bodyPr/>
          <a:lstStyle/>
          <a:p>
            <a:endParaRPr lang="en-DE"/>
          </a:p>
        </p:txBody>
      </p:sp>
      <p:sp>
        <p:nvSpPr>
          <p:cNvPr id="20" name="Text 18"/>
          <p:cNvSpPr/>
          <p:nvPr/>
        </p:nvSpPr>
        <p:spPr>
          <a:xfrm>
            <a:off x="548640" y="5577840"/>
            <a:ext cx="640080" cy="822960"/>
          </a:xfrm>
          <a:prstGeom prst="rect">
            <a:avLst/>
          </a:prstGeom>
          <a:noFill/>
          <a:ln/>
        </p:spPr>
        <p:txBody>
          <a:bodyPr wrap="square" lIns="0" tIns="0" rIns="0" bIns="0" rtlCol="0" anchor="t"/>
          <a:lstStyle/>
          <a:p>
            <a:pPr marL="0" indent="0">
              <a:buNone/>
            </a:pPr>
            <a:r>
              <a:rPr lang="en-US" sz="2800" b="1" dirty="0">
                <a:solidFill>
                  <a:srgbClr val="FF6348"/>
                </a:solidFill>
                <a:latin typeface="Source Code Pro" pitchFamily="34" charset="0"/>
                <a:ea typeface="Source Code Pro" pitchFamily="34" charset="-122"/>
                <a:cs typeface="Source Code Pro" pitchFamily="34" charset="-120"/>
              </a:rPr>
              <a:t>04</a:t>
            </a:r>
            <a:endParaRPr lang="en-US" sz="2800" dirty="0"/>
          </a:p>
        </p:txBody>
      </p:sp>
      <p:sp>
        <p:nvSpPr>
          <p:cNvPr id="21" name="Text 19"/>
          <p:cNvSpPr/>
          <p:nvPr/>
        </p:nvSpPr>
        <p:spPr>
          <a:xfrm>
            <a:off x="1280160" y="5577840"/>
            <a:ext cx="2103120" cy="822960"/>
          </a:xfrm>
          <a:prstGeom prst="rect">
            <a:avLst/>
          </a:prstGeom>
          <a:noFill/>
          <a:ln/>
        </p:spPr>
        <p:txBody>
          <a:bodyPr wrap="square" lIns="0" tIns="0" rIns="0" bIns="0" rtlCol="0" anchor="t"/>
          <a:lstStyle/>
          <a:p>
            <a:pPr marL="0" indent="0">
              <a:buNone/>
            </a:pPr>
            <a:r>
              <a:rPr lang="en-US" sz="2200" b="1" dirty="0">
                <a:solidFill>
                  <a:srgbClr val="2D3436"/>
                </a:solidFill>
                <a:latin typeface="Source Code Pro" pitchFamily="34" charset="0"/>
                <a:ea typeface="Source Code Pro" pitchFamily="34" charset="-122"/>
                <a:cs typeface="Source Code Pro" pitchFamily="34" charset="-120"/>
              </a:rPr>
              <a:t>Slicers</a:t>
            </a:r>
            <a:endParaRPr lang="en-US" sz="2200" dirty="0"/>
          </a:p>
        </p:txBody>
      </p:sp>
      <p:sp>
        <p:nvSpPr>
          <p:cNvPr id="22" name="Text 20"/>
          <p:cNvSpPr/>
          <p:nvPr/>
        </p:nvSpPr>
        <p:spPr>
          <a:xfrm>
            <a:off x="3474720" y="5623560"/>
            <a:ext cx="8165592" cy="822960"/>
          </a:xfrm>
          <a:prstGeom prst="rect">
            <a:avLst/>
          </a:prstGeom>
          <a:noFill/>
          <a:ln/>
        </p:spPr>
        <p:txBody>
          <a:bodyPr wrap="square" lIns="0" tIns="0" rIns="0" bIns="0" rtlCol="0" anchor="t"/>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Where do slicer configurations differ between reports that should match?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12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ONE “AHA” PER QUERY</a:t>
            </a:r>
            <a:endParaRPr lang="en-US" sz="1100" dirty="0"/>
          </a:p>
        </p:txBody>
      </p:sp>
      <p:sp>
        <p:nvSpPr>
          <p:cNvPr id="7" name="Text 5"/>
          <p:cNvSpPr/>
          <p:nvPr/>
        </p:nvSpPr>
        <p:spPr>
          <a:xfrm>
            <a:off x="548640" y="1417320"/>
            <a:ext cx="11091672" cy="1645920"/>
          </a:xfrm>
          <a:prstGeom prst="rect">
            <a:avLst/>
          </a:prstGeom>
          <a:noFill/>
          <a:ln/>
        </p:spPr>
        <p:txBody>
          <a:bodyPr wrap="square" lIns="0" tIns="0" rIns="0" bIns="0" rtlCol="0" anchor="t"/>
          <a:lstStyle/>
          <a:p>
            <a:pPr marL="0" indent="0">
              <a:buNone/>
            </a:pPr>
            <a:r>
              <a:rPr lang="en-US" sz="3600" b="1" kern="0" spc="100" dirty="0">
                <a:solidFill>
                  <a:srgbClr val="2D3436"/>
                </a:solidFill>
                <a:latin typeface="Source Code Pro" pitchFamily="34" charset="0"/>
                <a:ea typeface="Source Code Pro" pitchFamily="34" charset="-122"/>
                <a:cs typeface="Source Code Pro" pitchFamily="34" charset="-120"/>
              </a:rPr>
              <a:t>Which slicers</a:t>
            </a:r>
            <a:endParaRPr lang="en-US" sz="3600" dirty="0"/>
          </a:p>
          <a:p>
            <a:pPr marL="0" indent="0">
              <a:buNone/>
            </a:pPr>
            <a:r>
              <a:rPr lang="en-US" sz="3600" b="1" kern="0" spc="100" dirty="0">
                <a:solidFill>
                  <a:srgbClr val="2D3436"/>
                </a:solidFill>
                <a:latin typeface="Source Code Pro" pitchFamily="34" charset="0"/>
                <a:ea typeface="Source Code Pro" pitchFamily="34" charset="-122"/>
                <a:cs typeface="Source Code Pro" pitchFamily="34" charset="-120"/>
              </a:rPr>
              <a:t>have drifted?</a:t>
            </a:r>
            <a:endParaRPr lang="en-US" sz="3600" dirty="0"/>
          </a:p>
        </p:txBody>
      </p:sp>
      <p:sp>
        <p:nvSpPr>
          <p:cNvPr id="8" name="Shape 6"/>
          <p:cNvSpPr/>
          <p:nvPr/>
        </p:nvSpPr>
        <p:spPr>
          <a:xfrm>
            <a:off x="548640" y="3108960"/>
            <a:ext cx="11091672" cy="2743200"/>
          </a:xfrm>
          <a:prstGeom prst="rect">
            <a:avLst/>
          </a:prstGeom>
          <a:solidFill>
            <a:srgbClr val="2D3436"/>
          </a:solidFill>
          <a:ln w="12700">
            <a:solidFill>
              <a:srgbClr val="2D3436"/>
            </a:solidFill>
            <a:prstDash val="solid"/>
          </a:ln>
        </p:spPr>
        <p:txBody>
          <a:bodyPr/>
          <a:lstStyle/>
          <a:p>
            <a:endParaRPr lang="en-DE"/>
          </a:p>
        </p:txBody>
      </p:sp>
      <p:sp>
        <p:nvSpPr>
          <p:cNvPr id="9" name="Text 7"/>
          <p:cNvSpPr/>
          <p:nvPr/>
        </p:nvSpPr>
        <p:spPr>
          <a:xfrm>
            <a:off x="822960" y="3291840"/>
            <a:ext cx="10543032" cy="274320"/>
          </a:xfrm>
          <a:prstGeom prst="rect">
            <a:avLst/>
          </a:prstGeom>
          <a:noFill/>
          <a:ln/>
        </p:spPr>
        <p:txBody>
          <a:bodyPr wrap="square" lIns="0" tIns="0" rIns="0" bIns="0" rtlCol="0" anchor="ctr"/>
          <a:lstStyle/>
          <a:p>
            <a:pPr marL="0" indent="0">
              <a:buNone/>
            </a:pPr>
            <a:r>
              <a:rPr lang="en-US" sz="1100" dirty="0">
                <a:solidFill>
                  <a:srgbClr val="72D4DC"/>
                </a:solidFill>
                <a:latin typeface="Source Code Pro" pitchFamily="34" charset="0"/>
                <a:ea typeface="Source Code Pro" pitchFamily="34" charset="-122"/>
                <a:cs typeface="Source Code Pro" pitchFamily="34" charset="-120"/>
              </a:rPr>
              <a:t>// Reports where the Region slicer is configured differently</a:t>
            </a:r>
            <a:endParaRPr lang="en-US" sz="1100" dirty="0"/>
          </a:p>
        </p:txBody>
      </p:sp>
      <p:sp>
        <p:nvSpPr>
          <p:cNvPr id="10" name="Text 8"/>
          <p:cNvSpPr/>
          <p:nvPr/>
        </p:nvSpPr>
        <p:spPr>
          <a:xfrm>
            <a:off x="822960" y="3749040"/>
            <a:ext cx="4023360" cy="274320"/>
          </a:xfrm>
          <a:prstGeom prst="rect">
            <a:avLst/>
          </a:prstGeom>
          <a:noFill/>
          <a:ln/>
        </p:spPr>
        <p:txBody>
          <a:bodyPr wrap="square" lIns="0" tIns="0" rIns="0" bIns="0" rtlCol="0" anchor="ctr"/>
          <a:lstStyle/>
          <a:p>
            <a:pPr marL="0" indent="0">
              <a:buNone/>
            </a:pPr>
            <a:r>
              <a:rPr lang="en-US" sz="1100" b="1" kern="0" spc="200" dirty="0">
                <a:solidFill>
                  <a:srgbClr val="8B9296"/>
                </a:solidFill>
                <a:latin typeface="Source Code Pro" pitchFamily="34" charset="0"/>
                <a:ea typeface="Source Code Pro" pitchFamily="34" charset="-122"/>
                <a:cs typeface="Source Code Pro" pitchFamily="34" charset="-120"/>
              </a:rPr>
              <a:t>Report</a:t>
            </a:r>
            <a:endParaRPr lang="en-US" sz="1100" dirty="0"/>
          </a:p>
        </p:txBody>
      </p:sp>
      <p:sp>
        <p:nvSpPr>
          <p:cNvPr id="11" name="Text 9"/>
          <p:cNvSpPr/>
          <p:nvPr/>
        </p:nvSpPr>
        <p:spPr>
          <a:xfrm>
            <a:off x="4846320" y="3749040"/>
            <a:ext cx="1463040" cy="274320"/>
          </a:xfrm>
          <a:prstGeom prst="rect">
            <a:avLst/>
          </a:prstGeom>
          <a:noFill/>
          <a:ln/>
        </p:spPr>
        <p:txBody>
          <a:bodyPr wrap="square" lIns="0" tIns="0" rIns="0" bIns="0" rtlCol="0" anchor="ctr"/>
          <a:lstStyle/>
          <a:p>
            <a:pPr marL="0" indent="0">
              <a:buNone/>
            </a:pPr>
            <a:r>
              <a:rPr lang="en-US" sz="1100" b="1" kern="0" spc="200" dirty="0">
                <a:solidFill>
                  <a:srgbClr val="8B9296"/>
                </a:solidFill>
                <a:latin typeface="Source Code Pro" pitchFamily="34" charset="0"/>
                <a:ea typeface="Source Code Pro" pitchFamily="34" charset="-122"/>
                <a:cs typeface="Source Code Pro" pitchFamily="34" charset="-120"/>
              </a:rPr>
              <a:t>Slicer</a:t>
            </a:r>
            <a:endParaRPr lang="en-US" sz="1100" dirty="0"/>
          </a:p>
        </p:txBody>
      </p:sp>
      <p:sp>
        <p:nvSpPr>
          <p:cNvPr id="12" name="Text 10"/>
          <p:cNvSpPr/>
          <p:nvPr/>
        </p:nvSpPr>
        <p:spPr>
          <a:xfrm>
            <a:off x="6309360" y="3749040"/>
            <a:ext cx="2286000" cy="274320"/>
          </a:xfrm>
          <a:prstGeom prst="rect">
            <a:avLst/>
          </a:prstGeom>
          <a:noFill/>
          <a:ln/>
        </p:spPr>
        <p:txBody>
          <a:bodyPr wrap="square" lIns="0" tIns="0" rIns="0" bIns="0" rtlCol="0" anchor="ctr"/>
          <a:lstStyle/>
          <a:p>
            <a:pPr marL="0" indent="0">
              <a:buNone/>
            </a:pPr>
            <a:r>
              <a:rPr lang="en-US" sz="1100" b="1" kern="0" spc="200" dirty="0">
                <a:solidFill>
                  <a:srgbClr val="8B9296"/>
                </a:solidFill>
                <a:latin typeface="Source Code Pro" pitchFamily="34" charset="0"/>
                <a:ea typeface="Source Code Pro" pitchFamily="34" charset="-122"/>
                <a:cs typeface="Source Code Pro" pitchFamily="34" charset="-120"/>
              </a:rPr>
              <a:t>Mode</a:t>
            </a:r>
            <a:endParaRPr lang="en-US" sz="1100" dirty="0"/>
          </a:p>
        </p:txBody>
      </p:sp>
      <p:sp>
        <p:nvSpPr>
          <p:cNvPr id="13" name="Text 11"/>
          <p:cNvSpPr/>
          <p:nvPr/>
        </p:nvSpPr>
        <p:spPr>
          <a:xfrm>
            <a:off x="8595360" y="3749040"/>
            <a:ext cx="2286000" cy="274320"/>
          </a:xfrm>
          <a:prstGeom prst="rect">
            <a:avLst/>
          </a:prstGeom>
          <a:noFill/>
          <a:ln/>
        </p:spPr>
        <p:txBody>
          <a:bodyPr wrap="square" lIns="0" tIns="0" rIns="0" bIns="0" rtlCol="0" anchor="ctr"/>
          <a:lstStyle/>
          <a:p>
            <a:pPr marL="0" indent="0">
              <a:buNone/>
            </a:pPr>
            <a:r>
              <a:rPr lang="en-US" sz="1100" b="1" kern="0" spc="200" dirty="0">
                <a:solidFill>
                  <a:srgbClr val="8B9296"/>
                </a:solidFill>
                <a:latin typeface="Source Code Pro" pitchFamily="34" charset="0"/>
                <a:ea typeface="Source Code Pro" pitchFamily="34" charset="-122"/>
                <a:cs typeface="Source Code Pro" pitchFamily="34" charset="-120"/>
              </a:rPr>
              <a:t>Default value</a:t>
            </a:r>
            <a:endParaRPr lang="en-US" sz="1100" dirty="0"/>
          </a:p>
        </p:txBody>
      </p:sp>
      <p:sp>
        <p:nvSpPr>
          <p:cNvPr id="14" name="Text 12"/>
          <p:cNvSpPr/>
          <p:nvPr/>
        </p:nvSpPr>
        <p:spPr>
          <a:xfrm>
            <a:off x="822960" y="4114800"/>
            <a:ext cx="4023360" cy="320040"/>
          </a:xfrm>
          <a:prstGeom prst="rect">
            <a:avLst/>
          </a:prstGeom>
          <a:noFill/>
          <a:ln/>
        </p:spPr>
        <p:txBody>
          <a:bodyPr wrap="square" lIns="0" tIns="0" rIns="0" bIns="0" rtlCol="0" anchor="ctr"/>
          <a:lstStyle/>
          <a:p>
            <a:pPr marL="0" indent="0">
              <a:buNone/>
            </a:pPr>
            <a:r>
              <a:rPr lang="en-US" sz="1300" dirty="0">
                <a:solidFill>
                  <a:srgbClr val="FFFFFF"/>
                </a:solidFill>
                <a:latin typeface="Source Code Pro" pitchFamily="34" charset="0"/>
                <a:ea typeface="Source Code Pro" pitchFamily="34" charset="-122"/>
                <a:cs typeface="Source Code Pro" pitchFamily="34" charset="-120"/>
              </a:rPr>
              <a:t>Sales Overview.Report</a:t>
            </a:r>
            <a:endParaRPr lang="en-US" sz="1300" dirty="0"/>
          </a:p>
        </p:txBody>
      </p:sp>
      <p:sp>
        <p:nvSpPr>
          <p:cNvPr id="15" name="Text 13"/>
          <p:cNvSpPr/>
          <p:nvPr/>
        </p:nvSpPr>
        <p:spPr>
          <a:xfrm>
            <a:off x="4846320" y="4114800"/>
            <a:ext cx="1463040" cy="320040"/>
          </a:xfrm>
          <a:prstGeom prst="rect">
            <a:avLst/>
          </a:prstGeom>
          <a:noFill/>
          <a:ln/>
        </p:spPr>
        <p:txBody>
          <a:bodyPr wrap="square" lIns="0" tIns="0" rIns="0" bIns="0" rtlCol="0" anchor="ctr"/>
          <a:lstStyle/>
          <a:p>
            <a:pPr marL="0" indent="0">
              <a:buNone/>
            </a:pPr>
            <a:r>
              <a:rPr lang="en-US" sz="1300" dirty="0">
                <a:solidFill>
                  <a:srgbClr val="FFFFFF"/>
                </a:solidFill>
                <a:latin typeface="Source Code Pro" pitchFamily="34" charset="0"/>
                <a:ea typeface="Source Code Pro" pitchFamily="34" charset="-122"/>
                <a:cs typeface="Source Code Pro" pitchFamily="34" charset="-120"/>
              </a:rPr>
              <a:t>Region</a:t>
            </a:r>
            <a:endParaRPr lang="en-US" sz="1300" dirty="0"/>
          </a:p>
        </p:txBody>
      </p:sp>
      <p:sp>
        <p:nvSpPr>
          <p:cNvPr id="16" name="Text 14"/>
          <p:cNvSpPr/>
          <p:nvPr/>
        </p:nvSpPr>
        <p:spPr>
          <a:xfrm>
            <a:off x="6309360" y="4114800"/>
            <a:ext cx="2286000" cy="320040"/>
          </a:xfrm>
          <a:prstGeom prst="rect">
            <a:avLst/>
          </a:prstGeom>
          <a:noFill/>
          <a:ln/>
        </p:spPr>
        <p:txBody>
          <a:bodyPr wrap="square" lIns="0" tIns="0" rIns="0" bIns="0" rtlCol="0" anchor="ctr"/>
          <a:lstStyle/>
          <a:p>
            <a:pPr marL="0" indent="0">
              <a:buNone/>
            </a:pPr>
            <a:r>
              <a:rPr lang="en-US" sz="1300" dirty="0">
                <a:solidFill>
                  <a:srgbClr val="FFFFFF"/>
                </a:solidFill>
                <a:latin typeface="Source Code Pro" pitchFamily="34" charset="0"/>
                <a:ea typeface="Source Code Pro" pitchFamily="34" charset="-122"/>
                <a:cs typeface="Source Code Pro" pitchFamily="34" charset="-120"/>
              </a:rPr>
              <a:t>single-select</a:t>
            </a:r>
            <a:endParaRPr lang="en-US" sz="1300" dirty="0"/>
          </a:p>
        </p:txBody>
      </p:sp>
      <p:sp>
        <p:nvSpPr>
          <p:cNvPr id="17" name="Text 15"/>
          <p:cNvSpPr/>
          <p:nvPr/>
        </p:nvSpPr>
        <p:spPr>
          <a:xfrm>
            <a:off x="8595360" y="4114800"/>
            <a:ext cx="2286000" cy="320040"/>
          </a:xfrm>
          <a:prstGeom prst="rect">
            <a:avLst/>
          </a:prstGeom>
          <a:noFill/>
          <a:ln/>
        </p:spPr>
        <p:txBody>
          <a:bodyPr wrap="square" lIns="0" tIns="0" rIns="0" bIns="0" rtlCol="0" anchor="ctr"/>
          <a:lstStyle/>
          <a:p>
            <a:pPr marL="0" indent="0">
              <a:buNone/>
            </a:pPr>
            <a:r>
              <a:rPr lang="en-US" sz="1300" dirty="0">
                <a:solidFill>
                  <a:srgbClr val="FFFFFF"/>
                </a:solidFill>
                <a:latin typeface="Source Code Pro" pitchFamily="34" charset="0"/>
                <a:ea typeface="Source Code Pro" pitchFamily="34" charset="-122"/>
                <a:cs typeface="Source Code Pro" pitchFamily="34" charset="-120"/>
              </a:rPr>
              <a:t>default: All</a:t>
            </a:r>
            <a:endParaRPr lang="en-US" sz="1300" dirty="0"/>
          </a:p>
        </p:txBody>
      </p:sp>
      <p:sp>
        <p:nvSpPr>
          <p:cNvPr id="18" name="Text 16"/>
          <p:cNvSpPr/>
          <p:nvPr/>
        </p:nvSpPr>
        <p:spPr>
          <a:xfrm>
            <a:off x="822960" y="4480560"/>
            <a:ext cx="4023360" cy="320040"/>
          </a:xfrm>
          <a:prstGeom prst="rect">
            <a:avLst/>
          </a:prstGeom>
          <a:noFill/>
          <a:ln/>
        </p:spPr>
        <p:txBody>
          <a:bodyPr wrap="square" lIns="0" tIns="0" rIns="0" bIns="0" rtlCol="0" anchor="ctr"/>
          <a:lstStyle/>
          <a:p>
            <a:pPr marL="0" indent="0">
              <a:buNone/>
            </a:pPr>
            <a:r>
              <a:rPr lang="en-US" sz="1300" dirty="0">
                <a:solidFill>
                  <a:srgbClr val="FF6348"/>
                </a:solidFill>
                <a:latin typeface="Source Code Pro" pitchFamily="34" charset="0"/>
                <a:ea typeface="Source Code Pro" pitchFamily="34" charset="-122"/>
                <a:cs typeface="Source Code Pro" pitchFamily="34" charset="-120"/>
              </a:rPr>
              <a:t>Sales Detail.Report</a:t>
            </a:r>
            <a:endParaRPr lang="en-US" sz="1300" dirty="0"/>
          </a:p>
        </p:txBody>
      </p:sp>
      <p:sp>
        <p:nvSpPr>
          <p:cNvPr id="19" name="Text 17"/>
          <p:cNvSpPr/>
          <p:nvPr/>
        </p:nvSpPr>
        <p:spPr>
          <a:xfrm>
            <a:off x="4846320" y="4480560"/>
            <a:ext cx="1463040" cy="320040"/>
          </a:xfrm>
          <a:prstGeom prst="rect">
            <a:avLst/>
          </a:prstGeom>
          <a:noFill/>
          <a:ln/>
        </p:spPr>
        <p:txBody>
          <a:bodyPr wrap="square" lIns="0" tIns="0" rIns="0" bIns="0" rtlCol="0" anchor="ctr"/>
          <a:lstStyle/>
          <a:p>
            <a:pPr marL="0" indent="0">
              <a:buNone/>
            </a:pPr>
            <a:r>
              <a:rPr lang="en-US" sz="1300" dirty="0">
                <a:solidFill>
                  <a:srgbClr val="FF6348"/>
                </a:solidFill>
                <a:latin typeface="Source Code Pro" pitchFamily="34" charset="0"/>
                <a:ea typeface="Source Code Pro" pitchFamily="34" charset="-122"/>
                <a:cs typeface="Source Code Pro" pitchFamily="34" charset="-120"/>
              </a:rPr>
              <a:t>Region</a:t>
            </a:r>
            <a:endParaRPr lang="en-US" sz="1300" dirty="0"/>
          </a:p>
        </p:txBody>
      </p:sp>
      <p:sp>
        <p:nvSpPr>
          <p:cNvPr id="20" name="Text 18"/>
          <p:cNvSpPr/>
          <p:nvPr/>
        </p:nvSpPr>
        <p:spPr>
          <a:xfrm>
            <a:off x="6309360" y="4480560"/>
            <a:ext cx="2286000" cy="320040"/>
          </a:xfrm>
          <a:prstGeom prst="rect">
            <a:avLst/>
          </a:prstGeom>
          <a:noFill/>
          <a:ln/>
        </p:spPr>
        <p:txBody>
          <a:bodyPr wrap="square" lIns="0" tIns="0" rIns="0" bIns="0" rtlCol="0" anchor="ctr"/>
          <a:lstStyle/>
          <a:p>
            <a:pPr marL="0" indent="0">
              <a:buNone/>
            </a:pPr>
            <a:r>
              <a:rPr lang="en-US" sz="1300" dirty="0">
                <a:solidFill>
                  <a:srgbClr val="FF6348"/>
                </a:solidFill>
                <a:latin typeface="Source Code Pro" pitchFamily="34" charset="0"/>
                <a:ea typeface="Source Code Pro" pitchFamily="34" charset="-122"/>
                <a:cs typeface="Source Code Pro" pitchFamily="34" charset="-120"/>
              </a:rPr>
              <a:t>multi-select</a:t>
            </a:r>
            <a:endParaRPr lang="en-US" sz="1300" dirty="0"/>
          </a:p>
        </p:txBody>
      </p:sp>
      <p:sp>
        <p:nvSpPr>
          <p:cNvPr id="21" name="Text 19"/>
          <p:cNvSpPr/>
          <p:nvPr/>
        </p:nvSpPr>
        <p:spPr>
          <a:xfrm>
            <a:off x="8595360" y="4480560"/>
            <a:ext cx="2286000" cy="320040"/>
          </a:xfrm>
          <a:prstGeom prst="rect">
            <a:avLst/>
          </a:prstGeom>
          <a:noFill/>
          <a:ln/>
        </p:spPr>
        <p:txBody>
          <a:bodyPr wrap="square" lIns="0" tIns="0" rIns="0" bIns="0" rtlCol="0" anchor="ctr"/>
          <a:lstStyle/>
          <a:p>
            <a:pPr marL="0" indent="0">
              <a:buNone/>
            </a:pPr>
            <a:r>
              <a:rPr lang="en-US" sz="1300" dirty="0">
                <a:solidFill>
                  <a:srgbClr val="FF6348"/>
                </a:solidFill>
                <a:latin typeface="Source Code Pro" pitchFamily="34" charset="0"/>
                <a:ea typeface="Source Code Pro" pitchFamily="34" charset="-122"/>
                <a:cs typeface="Source Code Pro" pitchFamily="34" charset="-120"/>
              </a:rPr>
              <a:t>default: All</a:t>
            </a:r>
            <a:endParaRPr lang="en-US" sz="1300" dirty="0"/>
          </a:p>
        </p:txBody>
      </p:sp>
      <p:sp>
        <p:nvSpPr>
          <p:cNvPr id="22" name="Text 20"/>
          <p:cNvSpPr/>
          <p:nvPr/>
        </p:nvSpPr>
        <p:spPr>
          <a:xfrm>
            <a:off x="822960" y="4846320"/>
            <a:ext cx="4023360" cy="320040"/>
          </a:xfrm>
          <a:prstGeom prst="rect">
            <a:avLst/>
          </a:prstGeom>
          <a:noFill/>
          <a:ln/>
        </p:spPr>
        <p:txBody>
          <a:bodyPr wrap="square" lIns="0" tIns="0" rIns="0" bIns="0" rtlCol="0" anchor="ctr"/>
          <a:lstStyle/>
          <a:p>
            <a:pPr marL="0" indent="0">
              <a:buNone/>
            </a:pPr>
            <a:r>
              <a:rPr lang="en-US" sz="1300" dirty="0">
                <a:solidFill>
                  <a:srgbClr val="FF6348"/>
                </a:solidFill>
                <a:latin typeface="Source Code Pro" pitchFamily="34" charset="0"/>
                <a:ea typeface="Source Code Pro" pitchFamily="34" charset="-122"/>
                <a:cs typeface="Source Code Pro" pitchFamily="34" charset="-120"/>
              </a:rPr>
              <a:t>Sales Trend.Report</a:t>
            </a:r>
            <a:endParaRPr lang="en-US" sz="1300" dirty="0"/>
          </a:p>
        </p:txBody>
      </p:sp>
      <p:sp>
        <p:nvSpPr>
          <p:cNvPr id="23" name="Text 21"/>
          <p:cNvSpPr/>
          <p:nvPr/>
        </p:nvSpPr>
        <p:spPr>
          <a:xfrm>
            <a:off x="4846320" y="4846320"/>
            <a:ext cx="1463040" cy="320040"/>
          </a:xfrm>
          <a:prstGeom prst="rect">
            <a:avLst/>
          </a:prstGeom>
          <a:noFill/>
          <a:ln/>
        </p:spPr>
        <p:txBody>
          <a:bodyPr wrap="square" lIns="0" tIns="0" rIns="0" bIns="0" rtlCol="0" anchor="ctr"/>
          <a:lstStyle/>
          <a:p>
            <a:pPr marL="0" indent="0">
              <a:buNone/>
            </a:pPr>
            <a:r>
              <a:rPr lang="en-US" sz="1300" dirty="0">
                <a:solidFill>
                  <a:srgbClr val="FF6348"/>
                </a:solidFill>
                <a:latin typeface="Source Code Pro" pitchFamily="34" charset="0"/>
                <a:ea typeface="Source Code Pro" pitchFamily="34" charset="-122"/>
                <a:cs typeface="Source Code Pro" pitchFamily="34" charset="-120"/>
              </a:rPr>
              <a:t>Region</a:t>
            </a:r>
            <a:endParaRPr lang="en-US" sz="1300" dirty="0"/>
          </a:p>
        </p:txBody>
      </p:sp>
      <p:sp>
        <p:nvSpPr>
          <p:cNvPr id="24" name="Text 22"/>
          <p:cNvSpPr/>
          <p:nvPr/>
        </p:nvSpPr>
        <p:spPr>
          <a:xfrm>
            <a:off x="6309360" y="4846320"/>
            <a:ext cx="2286000" cy="320040"/>
          </a:xfrm>
          <a:prstGeom prst="rect">
            <a:avLst/>
          </a:prstGeom>
          <a:noFill/>
          <a:ln/>
        </p:spPr>
        <p:txBody>
          <a:bodyPr wrap="square" lIns="0" tIns="0" rIns="0" bIns="0" rtlCol="0" anchor="ctr"/>
          <a:lstStyle/>
          <a:p>
            <a:pPr marL="0" indent="0">
              <a:buNone/>
            </a:pPr>
            <a:r>
              <a:rPr lang="en-US" sz="1300" dirty="0">
                <a:solidFill>
                  <a:srgbClr val="FF6348"/>
                </a:solidFill>
                <a:latin typeface="Source Code Pro" pitchFamily="34" charset="0"/>
                <a:ea typeface="Source Code Pro" pitchFamily="34" charset="-122"/>
                <a:cs typeface="Source Code Pro" pitchFamily="34" charset="-120"/>
              </a:rPr>
              <a:t>single-select</a:t>
            </a:r>
            <a:endParaRPr lang="en-US" sz="1300" dirty="0"/>
          </a:p>
        </p:txBody>
      </p:sp>
      <p:sp>
        <p:nvSpPr>
          <p:cNvPr id="25" name="Text 23"/>
          <p:cNvSpPr/>
          <p:nvPr/>
        </p:nvSpPr>
        <p:spPr>
          <a:xfrm>
            <a:off x="8595360" y="4846320"/>
            <a:ext cx="2286000" cy="320040"/>
          </a:xfrm>
          <a:prstGeom prst="rect">
            <a:avLst/>
          </a:prstGeom>
          <a:noFill/>
          <a:ln/>
        </p:spPr>
        <p:txBody>
          <a:bodyPr wrap="square" lIns="0" tIns="0" rIns="0" bIns="0" rtlCol="0" anchor="ctr"/>
          <a:lstStyle/>
          <a:p>
            <a:pPr marL="0" indent="0">
              <a:buNone/>
            </a:pPr>
            <a:r>
              <a:rPr lang="en-US" sz="1300" dirty="0">
                <a:solidFill>
                  <a:srgbClr val="FF6348"/>
                </a:solidFill>
                <a:latin typeface="Source Code Pro" pitchFamily="34" charset="0"/>
                <a:ea typeface="Source Code Pro" pitchFamily="34" charset="-122"/>
                <a:cs typeface="Source Code Pro" pitchFamily="34" charset="-120"/>
              </a:rPr>
              <a:t>default: APAC</a:t>
            </a:r>
            <a:endParaRPr lang="en-US" sz="1300" dirty="0"/>
          </a:p>
        </p:txBody>
      </p:sp>
      <p:sp>
        <p:nvSpPr>
          <p:cNvPr id="26" name="Text 24"/>
          <p:cNvSpPr/>
          <p:nvPr/>
        </p:nvSpPr>
        <p:spPr>
          <a:xfrm>
            <a:off x="822960" y="5212080"/>
            <a:ext cx="4023360" cy="320040"/>
          </a:xfrm>
          <a:prstGeom prst="rect">
            <a:avLst/>
          </a:prstGeom>
          <a:noFill/>
          <a:ln/>
        </p:spPr>
        <p:txBody>
          <a:bodyPr wrap="square" lIns="0" tIns="0" rIns="0" bIns="0" rtlCol="0" anchor="ctr"/>
          <a:lstStyle/>
          <a:p>
            <a:pPr marL="0" indent="0">
              <a:buNone/>
            </a:pPr>
            <a:r>
              <a:rPr lang="en-US" sz="1300" dirty="0">
                <a:solidFill>
                  <a:srgbClr val="FFFFFF"/>
                </a:solidFill>
                <a:latin typeface="Source Code Pro" pitchFamily="34" charset="0"/>
                <a:ea typeface="Source Code Pro" pitchFamily="34" charset="-122"/>
                <a:cs typeface="Source Code Pro" pitchFamily="34" charset="-120"/>
              </a:rPr>
              <a:t>Sales Forecast.Report</a:t>
            </a:r>
            <a:endParaRPr lang="en-US" sz="1300" dirty="0"/>
          </a:p>
        </p:txBody>
      </p:sp>
      <p:sp>
        <p:nvSpPr>
          <p:cNvPr id="27" name="Text 25"/>
          <p:cNvSpPr/>
          <p:nvPr/>
        </p:nvSpPr>
        <p:spPr>
          <a:xfrm>
            <a:off x="4846320" y="5212080"/>
            <a:ext cx="1463040" cy="320040"/>
          </a:xfrm>
          <a:prstGeom prst="rect">
            <a:avLst/>
          </a:prstGeom>
          <a:noFill/>
          <a:ln/>
        </p:spPr>
        <p:txBody>
          <a:bodyPr wrap="square" lIns="0" tIns="0" rIns="0" bIns="0" rtlCol="0" anchor="ctr"/>
          <a:lstStyle/>
          <a:p>
            <a:pPr marL="0" indent="0">
              <a:buNone/>
            </a:pPr>
            <a:r>
              <a:rPr lang="en-US" sz="1300" dirty="0">
                <a:solidFill>
                  <a:srgbClr val="FFFFFF"/>
                </a:solidFill>
                <a:latin typeface="Source Code Pro" pitchFamily="34" charset="0"/>
                <a:ea typeface="Source Code Pro" pitchFamily="34" charset="-122"/>
                <a:cs typeface="Source Code Pro" pitchFamily="34" charset="-120"/>
              </a:rPr>
              <a:t>Region</a:t>
            </a:r>
            <a:endParaRPr lang="en-US" sz="1300" dirty="0"/>
          </a:p>
        </p:txBody>
      </p:sp>
      <p:sp>
        <p:nvSpPr>
          <p:cNvPr id="28" name="Text 26"/>
          <p:cNvSpPr/>
          <p:nvPr/>
        </p:nvSpPr>
        <p:spPr>
          <a:xfrm>
            <a:off x="6309360" y="5212080"/>
            <a:ext cx="2286000" cy="320040"/>
          </a:xfrm>
          <a:prstGeom prst="rect">
            <a:avLst/>
          </a:prstGeom>
          <a:noFill/>
          <a:ln/>
        </p:spPr>
        <p:txBody>
          <a:bodyPr wrap="square" lIns="0" tIns="0" rIns="0" bIns="0" rtlCol="0" anchor="ctr"/>
          <a:lstStyle/>
          <a:p>
            <a:pPr marL="0" indent="0">
              <a:buNone/>
            </a:pPr>
            <a:r>
              <a:rPr lang="en-US" sz="1300" dirty="0">
                <a:solidFill>
                  <a:srgbClr val="FFFFFF"/>
                </a:solidFill>
                <a:latin typeface="Source Code Pro" pitchFamily="34" charset="0"/>
                <a:ea typeface="Source Code Pro" pitchFamily="34" charset="-122"/>
                <a:cs typeface="Source Code Pro" pitchFamily="34" charset="-120"/>
              </a:rPr>
              <a:t>single-select</a:t>
            </a:r>
            <a:endParaRPr lang="en-US" sz="1300" dirty="0"/>
          </a:p>
        </p:txBody>
      </p:sp>
      <p:sp>
        <p:nvSpPr>
          <p:cNvPr id="29" name="Text 27"/>
          <p:cNvSpPr/>
          <p:nvPr/>
        </p:nvSpPr>
        <p:spPr>
          <a:xfrm>
            <a:off x="8595360" y="5212080"/>
            <a:ext cx="2286000" cy="320040"/>
          </a:xfrm>
          <a:prstGeom prst="rect">
            <a:avLst/>
          </a:prstGeom>
          <a:noFill/>
          <a:ln/>
        </p:spPr>
        <p:txBody>
          <a:bodyPr wrap="square" lIns="0" tIns="0" rIns="0" bIns="0" rtlCol="0" anchor="ctr"/>
          <a:lstStyle/>
          <a:p>
            <a:pPr marL="0" indent="0">
              <a:buNone/>
            </a:pPr>
            <a:r>
              <a:rPr lang="en-US" sz="1300" dirty="0">
                <a:solidFill>
                  <a:srgbClr val="FFFFFF"/>
                </a:solidFill>
                <a:latin typeface="Source Code Pro" pitchFamily="34" charset="0"/>
                <a:ea typeface="Source Code Pro" pitchFamily="34" charset="-122"/>
                <a:cs typeface="Source Code Pro" pitchFamily="34" charset="-120"/>
              </a:rPr>
              <a:t>default: All</a:t>
            </a:r>
            <a:endParaRPr lang="en-US" sz="1300" dirty="0"/>
          </a:p>
        </p:txBody>
      </p:sp>
      <p:sp>
        <p:nvSpPr>
          <p:cNvPr id="30" name="Text 28"/>
          <p:cNvSpPr/>
          <p:nvPr/>
        </p:nvSpPr>
        <p:spPr>
          <a:xfrm>
            <a:off x="548640" y="5989320"/>
            <a:ext cx="11091672" cy="365760"/>
          </a:xfrm>
          <a:prstGeom prst="rect">
            <a:avLst/>
          </a:prstGeom>
          <a:noFill/>
          <a:ln/>
        </p:spPr>
        <p:txBody>
          <a:bodyPr wrap="square" lIns="0" tIns="0" rIns="0" bIns="0" rtlCol="0" anchor="ctr"/>
          <a:lstStyle/>
          <a:p>
            <a:pPr marL="0" indent="0">
              <a:buNone/>
            </a:pPr>
            <a:r>
              <a:rPr lang="en-US" sz="1400" b="1" i="1" dirty="0">
                <a:solidFill>
                  <a:srgbClr val="FF6348"/>
                </a:solidFill>
                <a:latin typeface="Source Code Pro" pitchFamily="34" charset="0"/>
                <a:ea typeface="Source Code Pro" pitchFamily="34" charset="-122"/>
                <a:cs typeface="Source Code Pro" pitchFamily="34" charset="-120"/>
              </a:rPr>
              <a:t>Two reports drifted from the design intent. You will never spot this by clicking.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13 / 20</a:t>
            </a:r>
            <a:endParaRPr lang="en-US" sz="900" dirty="0"/>
          </a:p>
        </p:txBody>
      </p:sp>
      <p:sp>
        <p:nvSpPr>
          <p:cNvPr id="6" name="Text 4"/>
          <p:cNvSpPr/>
          <p:nvPr/>
        </p:nvSpPr>
        <p:spPr>
          <a:xfrm>
            <a:off x="548640" y="1097280"/>
            <a:ext cx="3657600" cy="1371600"/>
          </a:xfrm>
          <a:prstGeom prst="rect">
            <a:avLst/>
          </a:prstGeom>
          <a:noFill/>
          <a:ln/>
        </p:spPr>
        <p:txBody>
          <a:bodyPr wrap="square" lIns="0" tIns="0" rIns="0" bIns="0" rtlCol="0" anchor="ctr"/>
          <a:lstStyle/>
          <a:p>
            <a:pPr marL="0" indent="0">
              <a:buNone/>
            </a:pPr>
            <a:r>
              <a:rPr lang="en-US" sz="12000" b="1" dirty="0">
                <a:solidFill>
                  <a:srgbClr val="C8D0D4"/>
                </a:solidFill>
                <a:latin typeface="Source Code Pro" pitchFamily="34" charset="0"/>
                <a:ea typeface="Source Code Pro" pitchFamily="34" charset="-122"/>
                <a:cs typeface="Source Code Pro" pitchFamily="34" charset="-120"/>
              </a:rPr>
              <a:t>04</a:t>
            </a:r>
            <a:endParaRPr lang="en-US" sz="12000" dirty="0"/>
          </a:p>
        </p:txBody>
      </p:sp>
      <p:sp>
        <p:nvSpPr>
          <p:cNvPr id="7" name="Text 5"/>
          <p:cNvSpPr/>
          <p:nvPr/>
        </p:nvSpPr>
        <p:spPr>
          <a:xfrm>
            <a:off x="548640" y="26974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ACT FOUR</a:t>
            </a:r>
            <a:endParaRPr lang="en-US" sz="1100" dirty="0"/>
          </a:p>
        </p:txBody>
      </p:sp>
      <p:sp>
        <p:nvSpPr>
          <p:cNvPr id="8" name="Text 6"/>
          <p:cNvSpPr/>
          <p:nvPr/>
        </p:nvSpPr>
        <p:spPr>
          <a:xfrm>
            <a:off x="548640" y="3017520"/>
            <a:ext cx="11091672" cy="1097280"/>
          </a:xfrm>
          <a:prstGeom prst="rect">
            <a:avLst/>
          </a:prstGeom>
          <a:noFill/>
          <a:ln/>
        </p:spPr>
        <p:txBody>
          <a:bodyPr wrap="square" lIns="0" tIns="0" rIns="0" bIns="0" rtlCol="0" anchor="t"/>
          <a:lstStyle/>
          <a:p>
            <a:pPr marL="0" indent="0">
              <a:buNone/>
            </a:pPr>
            <a:r>
              <a:rPr lang="en-US" sz="4800" b="1" kern="0" spc="100" dirty="0">
                <a:solidFill>
                  <a:srgbClr val="2D3436"/>
                </a:solidFill>
                <a:latin typeface="Source Code Pro" pitchFamily="34" charset="0"/>
                <a:ea typeface="Source Code Pro" pitchFamily="34" charset="-122"/>
                <a:cs typeface="Source Code Pro" pitchFamily="34" charset="-120"/>
              </a:rPr>
              <a:t>Honest limits.</a:t>
            </a:r>
            <a:endParaRPr lang="en-US" sz="4800" dirty="0"/>
          </a:p>
        </p:txBody>
      </p:sp>
      <p:sp>
        <p:nvSpPr>
          <p:cNvPr id="9" name="Text 7"/>
          <p:cNvSpPr/>
          <p:nvPr/>
        </p:nvSpPr>
        <p:spPr>
          <a:xfrm>
            <a:off x="548640" y="4389120"/>
            <a:ext cx="11091672" cy="1371600"/>
          </a:xfrm>
          <a:prstGeom prst="rect">
            <a:avLst/>
          </a:prstGeom>
          <a:noFill/>
          <a:ln/>
        </p:spPr>
        <p:txBody>
          <a:bodyPr wrap="square" lIns="0" tIns="0" rIns="0" bIns="0" rtlCol="0" anchor="t"/>
          <a:lstStyle/>
          <a:p>
            <a:pPr marL="0" indent="0">
              <a:spcAft>
                <a:spcPts val="600"/>
              </a:spcAft>
              <a:buNone/>
            </a:pPr>
            <a:r>
              <a:rPr lang="en-US" sz="1800" dirty="0">
                <a:solidFill>
                  <a:srgbClr val="8B9296"/>
                </a:solidFill>
                <a:latin typeface="Source Code Pro" pitchFamily="34" charset="0"/>
                <a:ea typeface="Source Code Pro" pitchFamily="34" charset="-122"/>
                <a:cs typeface="Source Code Pro" pitchFamily="34" charset="-120"/>
              </a:rPr>
              <a:t>What PBIR X-Ray sees — and what it doesn't.</a:t>
            </a:r>
            <a:endParaRPr lang="en-US" sz="1800" dirty="0"/>
          </a:p>
          <a:p>
            <a:pPr marL="0" indent="0">
              <a:spcAft>
                <a:spcPts val="600"/>
              </a:spcAft>
              <a:buNone/>
            </a:pPr>
            <a:r>
              <a:rPr lang="en-US" sz="1800" dirty="0">
                <a:solidFill>
                  <a:srgbClr val="8B9296"/>
                </a:solidFill>
                <a:latin typeface="Source Code Pro" pitchFamily="34" charset="0"/>
                <a:ea typeface="Source Code Pro" pitchFamily="34" charset="-122"/>
                <a:cs typeface="Source Code Pro" pitchFamily="34" charset="-120"/>
              </a:rPr>
              <a:t>Named up front, so they don't surprise you in production.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6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14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WHAT IT SEES, WHAT IT DOESN'T</a:t>
            </a:r>
            <a:endParaRPr lang="en-US" sz="1100" dirty="0"/>
          </a:p>
        </p:txBody>
      </p:sp>
      <p:sp>
        <p:nvSpPr>
          <p:cNvPr id="7" name="Text 5"/>
          <p:cNvSpPr/>
          <p:nvPr/>
        </p:nvSpPr>
        <p:spPr>
          <a:xfrm>
            <a:off x="548640" y="1417320"/>
            <a:ext cx="11091672" cy="914400"/>
          </a:xfrm>
          <a:prstGeom prst="rect">
            <a:avLst/>
          </a:prstGeom>
          <a:noFill/>
          <a:ln/>
        </p:spPr>
        <p:txBody>
          <a:bodyPr wrap="square" lIns="0" tIns="0" rIns="0" bIns="0" rtlCol="0" anchor="t"/>
          <a:lstStyle/>
          <a:p>
            <a:pPr marL="0" indent="0">
              <a:buNone/>
            </a:pPr>
            <a:r>
              <a:rPr lang="en-US" sz="3200" b="1" kern="0" spc="100" dirty="0">
                <a:solidFill>
                  <a:srgbClr val="2D3436"/>
                </a:solidFill>
                <a:latin typeface="Source Code Pro" pitchFamily="34" charset="0"/>
                <a:ea typeface="Source Code Pro" pitchFamily="34" charset="-122"/>
                <a:cs typeface="Source Code Pro" pitchFamily="34" charset="-120"/>
              </a:rPr>
              <a:t>Three honest limits.</a:t>
            </a:r>
            <a:endParaRPr lang="en-US" sz="3200" dirty="0"/>
          </a:p>
        </p:txBody>
      </p:sp>
      <p:sp>
        <p:nvSpPr>
          <p:cNvPr id="8" name="Shape 6"/>
          <p:cNvSpPr/>
          <p:nvPr/>
        </p:nvSpPr>
        <p:spPr>
          <a:xfrm>
            <a:off x="548640" y="2194560"/>
            <a:ext cx="457200" cy="457200"/>
          </a:xfrm>
          <a:prstGeom prst="ellipse">
            <a:avLst/>
          </a:prstGeom>
          <a:solidFill>
            <a:srgbClr val="72D4DC"/>
          </a:solidFill>
          <a:ln w="12700">
            <a:solidFill>
              <a:srgbClr val="72D4DC"/>
            </a:solidFill>
            <a:prstDash val="solid"/>
          </a:ln>
        </p:spPr>
        <p:txBody>
          <a:bodyPr/>
          <a:lstStyle/>
          <a:p>
            <a:endParaRPr lang="en-DE"/>
          </a:p>
        </p:txBody>
      </p:sp>
      <p:sp>
        <p:nvSpPr>
          <p:cNvPr id="9" name="Text 7"/>
          <p:cNvSpPr/>
          <p:nvPr/>
        </p:nvSpPr>
        <p:spPr>
          <a:xfrm>
            <a:off x="548640" y="21945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1</a:t>
            </a:r>
            <a:endParaRPr lang="en-US" sz="1600" dirty="0"/>
          </a:p>
        </p:txBody>
      </p:sp>
      <p:sp>
        <p:nvSpPr>
          <p:cNvPr id="10" name="Text 8"/>
          <p:cNvSpPr/>
          <p:nvPr/>
        </p:nvSpPr>
        <p:spPr>
          <a:xfrm>
            <a:off x="1280160" y="2148840"/>
            <a:ext cx="10360152" cy="365760"/>
          </a:xfrm>
          <a:prstGeom prst="rect">
            <a:avLst/>
          </a:prstGeom>
          <a:noFill/>
          <a:ln/>
        </p:spPr>
        <p:txBody>
          <a:bodyPr wrap="square" lIns="0" tIns="0" rIns="0" bIns="0" rtlCol="0" anchor="ctr"/>
          <a:lstStyle/>
          <a:p>
            <a:pPr marL="0" indent="0">
              <a:buNone/>
            </a:pPr>
            <a:r>
              <a:rPr lang="en-US" sz="1800" b="1" dirty="0">
                <a:solidFill>
                  <a:srgbClr val="2D3436"/>
                </a:solidFill>
                <a:latin typeface="Source Code Pro" pitchFamily="34" charset="0"/>
                <a:ea typeface="Source Code Pro" pitchFamily="34" charset="-122"/>
                <a:cs typeface="Source Code Pro" pitchFamily="34" charset="-120"/>
              </a:rPr>
              <a:t>Folder visibility, not telemetry.</a:t>
            </a:r>
            <a:endParaRPr lang="en-US" sz="1800" dirty="0"/>
          </a:p>
        </p:txBody>
      </p:sp>
      <p:sp>
        <p:nvSpPr>
          <p:cNvPr id="11" name="Text 9"/>
          <p:cNvSpPr/>
          <p:nvPr/>
        </p:nvSpPr>
        <p:spPr>
          <a:xfrm>
            <a:off x="1280160" y="2560320"/>
            <a:ext cx="10360152" cy="777240"/>
          </a:xfrm>
          <a:prstGeom prst="rect">
            <a:avLst/>
          </a:prstGeom>
          <a:noFill/>
          <a:ln/>
        </p:spPr>
        <p:txBody>
          <a:bodyPr wrap="square" lIns="0" tIns="0" rIns="0" bIns="0" rtlCol="0" anchor="ctr"/>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PBIR X-Ray reads the PBIR folder. It doesn't know whether anyone has clicked a bookmark in the last year. That's usage telemetry — different tool, different surface.</a:t>
            </a:r>
            <a:endParaRPr lang="en-US" sz="1300" dirty="0"/>
          </a:p>
        </p:txBody>
      </p:sp>
      <p:sp>
        <p:nvSpPr>
          <p:cNvPr id="12" name="Shape 10"/>
          <p:cNvSpPr/>
          <p:nvPr/>
        </p:nvSpPr>
        <p:spPr>
          <a:xfrm>
            <a:off x="548640" y="3337560"/>
            <a:ext cx="457200" cy="457200"/>
          </a:xfrm>
          <a:prstGeom prst="ellipse">
            <a:avLst/>
          </a:prstGeom>
          <a:solidFill>
            <a:srgbClr val="72D4DC"/>
          </a:solidFill>
          <a:ln w="12700">
            <a:solidFill>
              <a:srgbClr val="72D4DC"/>
            </a:solidFill>
            <a:prstDash val="solid"/>
          </a:ln>
        </p:spPr>
        <p:txBody>
          <a:bodyPr/>
          <a:lstStyle/>
          <a:p>
            <a:endParaRPr lang="en-DE"/>
          </a:p>
        </p:txBody>
      </p:sp>
      <p:sp>
        <p:nvSpPr>
          <p:cNvPr id="13" name="Text 11"/>
          <p:cNvSpPr/>
          <p:nvPr/>
        </p:nvSpPr>
        <p:spPr>
          <a:xfrm>
            <a:off x="548640" y="33375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2</a:t>
            </a:r>
            <a:endParaRPr lang="en-US" sz="1600" dirty="0"/>
          </a:p>
        </p:txBody>
      </p:sp>
      <p:sp>
        <p:nvSpPr>
          <p:cNvPr id="14" name="Text 12"/>
          <p:cNvSpPr/>
          <p:nvPr/>
        </p:nvSpPr>
        <p:spPr>
          <a:xfrm>
            <a:off x="1280160" y="3291840"/>
            <a:ext cx="10360152" cy="365760"/>
          </a:xfrm>
          <a:prstGeom prst="rect">
            <a:avLst/>
          </a:prstGeom>
          <a:noFill/>
          <a:ln/>
        </p:spPr>
        <p:txBody>
          <a:bodyPr wrap="square" lIns="0" tIns="0" rIns="0" bIns="0" rtlCol="0" anchor="ctr"/>
          <a:lstStyle/>
          <a:p>
            <a:pPr marL="0" indent="0">
              <a:buNone/>
            </a:pPr>
            <a:r>
              <a:rPr lang="en-US" sz="1800" b="1" dirty="0">
                <a:solidFill>
                  <a:srgbClr val="2D3436"/>
                </a:solidFill>
                <a:latin typeface="Source Code Pro" pitchFamily="34" charset="0"/>
                <a:ea typeface="Source Code Pro" pitchFamily="34" charset="-122"/>
                <a:cs typeface="Source Code Pro" pitchFamily="34" charset="-120"/>
              </a:rPr>
              <a:t>Static snapshot, not runtime.</a:t>
            </a:r>
            <a:endParaRPr lang="en-US" sz="1800" dirty="0"/>
          </a:p>
        </p:txBody>
      </p:sp>
      <p:sp>
        <p:nvSpPr>
          <p:cNvPr id="15" name="Text 13"/>
          <p:cNvSpPr/>
          <p:nvPr/>
        </p:nvSpPr>
        <p:spPr>
          <a:xfrm>
            <a:off x="1280160" y="3703320"/>
            <a:ext cx="10360152" cy="777240"/>
          </a:xfrm>
          <a:prstGeom prst="rect">
            <a:avLst/>
          </a:prstGeom>
          <a:noFill/>
          <a:ln/>
        </p:spPr>
        <p:txBody>
          <a:bodyPr wrap="square" lIns="0" tIns="0" rIns="0" bIns="0" rtlCol="0" anchor="ctr"/>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It tells you what the report definitions say at the moment you scan. It doesn't observe the model running, and it doesn't replay user interactions.</a:t>
            </a:r>
            <a:endParaRPr lang="en-US" sz="1300" dirty="0"/>
          </a:p>
        </p:txBody>
      </p:sp>
      <p:sp>
        <p:nvSpPr>
          <p:cNvPr id="16" name="Shape 14"/>
          <p:cNvSpPr/>
          <p:nvPr/>
        </p:nvSpPr>
        <p:spPr>
          <a:xfrm>
            <a:off x="548640" y="4480560"/>
            <a:ext cx="457200" cy="457200"/>
          </a:xfrm>
          <a:prstGeom prst="ellipse">
            <a:avLst/>
          </a:prstGeom>
          <a:solidFill>
            <a:srgbClr val="72D4DC"/>
          </a:solidFill>
          <a:ln w="12700">
            <a:solidFill>
              <a:srgbClr val="72D4DC"/>
            </a:solidFill>
            <a:prstDash val="solid"/>
          </a:ln>
        </p:spPr>
        <p:txBody>
          <a:bodyPr/>
          <a:lstStyle/>
          <a:p>
            <a:endParaRPr lang="en-DE"/>
          </a:p>
        </p:txBody>
      </p:sp>
      <p:sp>
        <p:nvSpPr>
          <p:cNvPr id="17" name="Text 15"/>
          <p:cNvSpPr/>
          <p:nvPr/>
        </p:nvSpPr>
        <p:spPr>
          <a:xfrm>
            <a:off x="548640" y="44805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ource Code Pro" pitchFamily="34" charset="0"/>
                <a:ea typeface="Source Code Pro" pitchFamily="34" charset="-122"/>
                <a:cs typeface="Source Code Pro" pitchFamily="34" charset="-120"/>
              </a:rPr>
              <a:t>3</a:t>
            </a:r>
            <a:endParaRPr lang="en-US" sz="1600" dirty="0"/>
          </a:p>
        </p:txBody>
      </p:sp>
      <p:sp>
        <p:nvSpPr>
          <p:cNvPr id="18" name="Text 16"/>
          <p:cNvSpPr/>
          <p:nvPr/>
        </p:nvSpPr>
        <p:spPr>
          <a:xfrm>
            <a:off x="1280160" y="4434840"/>
            <a:ext cx="10360152" cy="365760"/>
          </a:xfrm>
          <a:prstGeom prst="rect">
            <a:avLst/>
          </a:prstGeom>
          <a:noFill/>
          <a:ln/>
        </p:spPr>
        <p:txBody>
          <a:bodyPr wrap="square" lIns="0" tIns="0" rIns="0" bIns="0" rtlCol="0" anchor="ctr"/>
          <a:lstStyle/>
          <a:p>
            <a:pPr marL="0" indent="0">
              <a:buNone/>
            </a:pPr>
            <a:r>
              <a:rPr lang="en-US" sz="1800" b="1" dirty="0">
                <a:solidFill>
                  <a:srgbClr val="2D3436"/>
                </a:solidFill>
                <a:latin typeface="Source Code Pro" pitchFamily="34" charset="0"/>
                <a:ea typeface="Source Code Pro" pitchFamily="34" charset="-122"/>
                <a:cs typeface="Source Code Pro" pitchFamily="34" charset="-120"/>
              </a:rPr>
              <a:t>What, not why.</a:t>
            </a:r>
            <a:endParaRPr lang="en-US" sz="1800" dirty="0"/>
          </a:p>
        </p:txBody>
      </p:sp>
      <p:sp>
        <p:nvSpPr>
          <p:cNvPr id="19" name="Text 17"/>
          <p:cNvSpPr/>
          <p:nvPr/>
        </p:nvSpPr>
        <p:spPr>
          <a:xfrm>
            <a:off x="1280160" y="4846320"/>
            <a:ext cx="10360152" cy="777240"/>
          </a:xfrm>
          <a:prstGeom prst="rect">
            <a:avLst/>
          </a:prstGeom>
          <a:noFill/>
          <a:ln/>
        </p:spPr>
        <p:txBody>
          <a:bodyPr wrap="square" lIns="0" tIns="0" rIns="0" bIns="0" rtlCol="0" anchor="ctr"/>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It tells you a visual exists. It doesn't tell you whether the designer added it on purpose, by accident, or because someone in finance demanded it on a Friday afternoon.</a:t>
            </a:r>
            <a:endParaRPr lang="en-US" sz="1300" dirty="0"/>
          </a:p>
        </p:txBody>
      </p:sp>
      <p:sp>
        <p:nvSpPr>
          <p:cNvPr id="20" name="Text 18"/>
          <p:cNvSpPr/>
          <p:nvPr/>
        </p:nvSpPr>
        <p:spPr>
          <a:xfrm>
            <a:off x="548640" y="5577840"/>
            <a:ext cx="11091672" cy="365760"/>
          </a:xfrm>
          <a:prstGeom prst="rect">
            <a:avLst/>
          </a:prstGeom>
          <a:noFill/>
          <a:ln/>
        </p:spPr>
        <p:txBody>
          <a:bodyPr wrap="square" lIns="0" tIns="0" rIns="0" bIns="0" rtlCol="0" anchor="ctr"/>
          <a:lstStyle/>
          <a:p>
            <a:pPr marL="0" indent="0">
              <a:buNone/>
            </a:pPr>
            <a:r>
              <a:rPr lang="en-US" sz="1400" b="1" i="1" dirty="0">
                <a:solidFill>
                  <a:srgbClr val="FF6348"/>
                </a:solidFill>
                <a:latin typeface="Source Code Pro" pitchFamily="34" charset="0"/>
                <a:ea typeface="Source Code Pro" pitchFamily="34" charset="-122"/>
                <a:cs typeface="Source Code Pro" pitchFamily="34" charset="-120"/>
              </a:rPr>
              <a:t>Each is a feature, not a bug. No agents. No installers. No cloud dependency.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6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15 / 20</a:t>
            </a:r>
            <a:endParaRPr lang="en-US" sz="900" dirty="0"/>
          </a:p>
        </p:txBody>
      </p:sp>
      <p:sp>
        <p:nvSpPr>
          <p:cNvPr id="6" name="Text 4"/>
          <p:cNvSpPr/>
          <p:nvPr/>
        </p:nvSpPr>
        <p:spPr>
          <a:xfrm>
            <a:off x="548640" y="1828800"/>
            <a:ext cx="11091672" cy="2286000"/>
          </a:xfrm>
          <a:prstGeom prst="rect">
            <a:avLst/>
          </a:prstGeom>
          <a:noFill/>
          <a:ln/>
        </p:spPr>
        <p:txBody>
          <a:bodyPr wrap="square" lIns="0" tIns="0" rIns="0" bIns="0" rtlCol="0" anchor="ctr"/>
          <a:lstStyle/>
          <a:p>
            <a:pPr marL="0" indent="0" algn="ctr">
              <a:buNone/>
            </a:pPr>
            <a:r>
              <a:rPr lang="en-US" sz="20000" b="1" dirty="0">
                <a:solidFill>
                  <a:srgbClr val="2D3436"/>
                </a:solidFill>
                <a:latin typeface="Source Code Pro" pitchFamily="34" charset="0"/>
                <a:ea typeface="Source Code Pro" pitchFamily="34" charset="-122"/>
                <a:cs typeface="Source Code Pro" pitchFamily="34" charset="-120"/>
              </a:rPr>
              <a:t>Q &amp; A</a:t>
            </a:r>
            <a:endParaRPr lang="en-US" sz="20000" dirty="0"/>
          </a:p>
        </p:txBody>
      </p:sp>
      <p:sp>
        <p:nvSpPr>
          <p:cNvPr id="7" name="Shape 5"/>
          <p:cNvSpPr/>
          <p:nvPr/>
        </p:nvSpPr>
        <p:spPr>
          <a:xfrm>
            <a:off x="5408676" y="4297680"/>
            <a:ext cx="1371600" cy="73152"/>
          </a:xfrm>
          <a:prstGeom prst="rect">
            <a:avLst/>
          </a:prstGeom>
          <a:solidFill>
            <a:srgbClr val="FF6348"/>
          </a:solidFill>
          <a:ln w="12700">
            <a:solidFill>
              <a:srgbClr val="FF6348"/>
            </a:solidFill>
            <a:prstDash val="solid"/>
          </a:ln>
        </p:spPr>
        <p:txBody>
          <a:bodyPr/>
          <a:lstStyle/>
          <a:p>
            <a:endParaRPr lang="en-DE"/>
          </a:p>
        </p:txBody>
      </p:sp>
      <p:sp>
        <p:nvSpPr>
          <p:cNvPr id="8" name="Text 6"/>
          <p:cNvSpPr/>
          <p:nvPr/>
        </p:nvSpPr>
        <p:spPr>
          <a:xfrm>
            <a:off x="548640" y="4846320"/>
            <a:ext cx="11091672" cy="1280160"/>
          </a:xfrm>
          <a:prstGeom prst="rect">
            <a:avLst/>
          </a:prstGeom>
          <a:noFill/>
          <a:ln/>
        </p:spPr>
        <p:txBody>
          <a:bodyPr wrap="square" lIns="0" tIns="0" rIns="0" bIns="0" rtlCol="0" anchor="ctr"/>
          <a:lstStyle/>
          <a:p>
            <a:pPr marL="0" indent="0" algn="ctr">
              <a:spcAft>
                <a:spcPts val="400"/>
              </a:spcAft>
              <a:buNone/>
            </a:pPr>
            <a:r>
              <a:rPr lang="en-US" sz="1400" dirty="0">
                <a:solidFill>
                  <a:srgbClr val="8B9296"/>
                </a:solidFill>
                <a:latin typeface="Source Code Pro" pitchFamily="34" charset="0"/>
                <a:ea typeface="Source Code Pro" pitchFamily="34" charset="-122"/>
                <a:cs typeface="Source Code Pro" pitchFamily="34" charset="-120"/>
              </a:rPr>
              <a:t>Where would PBIR X-Ray break in your landscape?</a:t>
            </a:r>
            <a:endParaRPr lang="en-US" sz="1400" dirty="0"/>
          </a:p>
          <a:p>
            <a:pPr marL="0" indent="0" algn="ctr">
              <a:spcAft>
                <a:spcPts val="400"/>
              </a:spcAft>
              <a:buNone/>
            </a:pPr>
            <a:r>
              <a:rPr lang="en-US" sz="1400" dirty="0">
                <a:solidFill>
                  <a:srgbClr val="8B9296"/>
                </a:solidFill>
                <a:latin typeface="Source Code Pro" pitchFamily="34" charset="0"/>
                <a:ea typeface="Source Code Pro" pitchFamily="34" charset="-122"/>
                <a:cs typeface="Source Code Pro" pitchFamily="34" charset="-120"/>
              </a:rPr>
              <a:t>What inventory question are you asking that I haven't shown?</a:t>
            </a:r>
            <a:endParaRPr lang="en-US" sz="1400" dirty="0"/>
          </a:p>
          <a:p>
            <a:pPr marL="0" indent="0" algn="ctr">
              <a:spcAft>
                <a:spcPts val="400"/>
              </a:spcAft>
              <a:buNone/>
            </a:pPr>
            <a:r>
              <a:rPr lang="en-US" sz="1400" dirty="0">
                <a:solidFill>
                  <a:srgbClr val="8B9296"/>
                </a:solidFill>
                <a:latin typeface="Source Code Pro" pitchFamily="34" charset="0"/>
                <a:ea typeface="Source Code Pro" pitchFamily="34" charset="-122"/>
                <a:cs typeface="Source Code Pro" pitchFamily="34" charset="-120"/>
              </a:rPr>
              <a:t>What governance pattern have you tried that didn't work?</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D3436"/>
        </a:solidFill>
        <a:effectLst/>
      </p:bgPr>
    </p:bg>
    <p:spTree>
      <p:nvGrpSpPr>
        <p:cNvPr id="1" name=""/>
        <p:cNvGrpSpPr/>
        <p:nvPr/>
      </p:nvGrpSpPr>
      <p:grpSpPr>
        <a:xfrm>
          <a:off x="0" y="0"/>
          <a:ext cx="0" cy="0"/>
          <a:chOff x="0" y="0"/>
          <a:chExt cx="0" cy="0"/>
        </a:xfrm>
      </p:grpSpPr>
      <p:sp>
        <p:nvSpPr>
          <p:cNvPr id="2" name="Shape 0"/>
          <p:cNvSpPr/>
          <p:nvPr/>
        </p:nvSpPr>
        <p:spPr>
          <a:xfrm>
            <a:off x="548640" y="548640"/>
            <a:ext cx="292608" cy="292608"/>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950976" y="621792"/>
            <a:ext cx="219456" cy="219456"/>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1828800"/>
            <a:ext cx="11091672" cy="3657600"/>
          </a:xfrm>
          <a:prstGeom prst="rect">
            <a:avLst/>
          </a:prstGeom>
          <a:noFill/>
          <a:ln/>
        </p:spPr>
        <p:txBody>
          <a:bodyPr wrap="square" lIns="0" tIns="0" rIns="0" bIns="0" rtlCol="0" anchor="t"/>
          <a:lstStyle/>
          <a:p>
            <a:pPr marL="0" indent="0">
              <a:lnSpc>
                <a:spcPct val="105000"/>
              </a:lnSpc>
              <a:buNone/>
            </a:pPr>
            <a:r>
              <a:rPr lang="en-US" sz="6000" b="1" kern="0" spc="100" dirty="0">
                <a:solidFill>
                  <a:srgbClr val="FFFFFF"/>
                </a:solidFill>
                <a:latin typeface="Source Code Pro" pitchFamily="34" charset="0"/>
                <a:ea typeface="Source Code Pro" pitchFamily="34" charset="-122"/>
                <a:cs typeface="Source Code Pro" pitchFamily="34" charset="-120"/>
              </a:rPr>
              <a:t>Report definitions</a:t>
            </a:r>
            <a:endParaRPr lang="en-US" sz="6000" dirty="0"/>
          </a:p>
          <a:p>
            <a:pPr marL="0" indent="0">
              <a:lnSpc>
                <a:spcPct val="105000"/>
              </a:lnSpc>
              <a:buNone/>
            </a:pPr>
            <a:r>
              <a:rPr lang="en-US" sz="6000" b="1" kern="0" spc="100" dirty="0">
                <a:solidFill>
                  <a:srgbClr val="FFFFFF"/>
                </a:solidFill>
                <a:latin typeface="Source Code Pro" pitchFamily="34" charset="0"/>
                <a:ea typeface="Source Code Pro" pitchFamily="34" charset="-122"/>
                <a:cs typeface="Source Code Pro" pitchFamily="34" charset="-120"/>
              </a:rPr>
              <a:t>are structured data,</a:t>
            </a:r>
            <a:endParaRPr lang="en-US" sz="6000" dirty="0"/>
          </a:p>
          <a:p>
            <a:pPr marL="0" indent="0">
              <a:lnSpc>
                <a:spcPct val="105000"/>
              </a:lnSpc>
              <a:buNone/>
            </a:pPr>
            <a:r>
              <a:rPr lang="en-US" sz="6000" b="1" kern="0" spc="100" dirty="0">
                <a:solidFill>
                  <a:srgbClr val="FFFFFF"/>
                </a:solidFill>
                <a:latin typeface="Source Code Pro" pitchFamily="34" charset="0"/>
                <a:ea typeface="Source Code Pro" pitchFamily="34" charset="-122"/>
                <a:cs typeface="Source Code Pro" pitchFamily="34" charset="-120"/>
              </a:rPr>
              <a:t>not opaque files.</a:t>
            </a:r>
            <a:endParaRPr lang="en-US" sz="6000" dirty="0"/>
          </a:p>
        </p:txBody>
      </p:sp>
      <p:sp>
        <p:nvSpPr>
          <p:cNvPr id="5" name="Shape 3"/>
          <p:cNvSpPr/>
          <p:nvPr/>
        </p:nvSpPr>
        <p:spPr>
          <a:xfrm>
            <a:off x="548640" y="5440680"/>
            <a:ext cx="731520" cy="54864"/>
          </a:xfrm>
          <a:prstGeom prst="rect">
            <a:avLst/>
          </a:prstGeom>
          <a:solidFill>
            <a:srgbClr val="FF6348"/>
          </a:solidFill>
          <a:ln w="12700">
            <a:solidFill>
              <a:srgbClr val="FF6348"/>
            </a:solidFill>
            <a:prstDash val="solid"/>
          </a:ln>
        </p:spPr>
        <p:txBody>
          <a:bodyPr/>
          <a:lstStyle/>
          <a:p>
            <a:endParaRPr lang="en-DE"/>
          </a:p>
        </p:txBody>
      </p:sp>
      <p:sp>
        <p:nvSpPr>
          <p:cNvPr id="6" name="Text 4"/>
          <p:cNvSpPr/>
          <p:nvPr/>
        </p:nvSpPr>
        <p:spPr>
          <a:xfrm>
            <a:off x="548640" y="5623560"/>
            <a:ext cx="11091672" cy="365760"/>
          </a:xfrm>
          <a:prstGeom prst="rect">
            <a:avLst/>
          </a:prstGeom>
          <a:noFill/>
          <a:ln/>
        </p:spPr>
        <p:txBody>
          <a:bodyPr wrap="square" lIns="0" tIns="0" rIns="0" bIns="0" rtlCol="0" anchor="ctr"/>
          <a:lstStyle/>
          <a:p>
            <a:pPr marL="0" indent="0">
              <a:buNone/>
            </a:pPr>
            <a:r>
              <a:rPr lang="en-US" sz="1800" i="1" dirty="0">
                <a:solidFill>
                  <a:srgbClr val="72D4DC"/>
                </a:solidFill>
                <a:latin typeface="Source Code Pro" pitchFamily="34" charset="0"/>
                <a:ea typeface="Source Code Pro" pitchFamily="34" charset="-122"/>
                <a:cs typeface="Source Code Pro" pitchFamily="34" charset="-120"/>
              </a:rPr>
              <a:t>Treat them that way.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dirty="0">
                <a:solidFill>
                  <a:srgbClr val="8B9296"/>
                </a:solidFill>
                <a:latin typeface="Source Code Pro" pitchFamily="34" charset="0"/>
                <a:ea typeface="Source Code Pro" pitchFamily="34" charset="-122"/>
                <a:cs typeface="Source Code Pro" pitchFamily="34" charset="-120"/>
              </a:rPr>
              <a:t>17 / 20</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WHERE TO FOLLOW UP</a:t>
            </a:r>
            <a:endParaRPr lang="en-US" sz="1100" dirty="0"/>
          </a:p>
        </p:txBody>
      </p:sp>
      <p:sp>
        <p:nvSpPr>
          <p:cNvPr id="7" name="Text 5"/>
          <p:cNvSpPr/>
          <p:nvPr/>
        </p:nvSpPr>
        <p:spPr>
          <a:xfrm>
            <a:off x="548640" y="1417320"/>
            <a:ext cx="11091672" cy="914400"/>
          </a:xfrm>
          <a:prstGeom prst="rect">
            <a:avLst/>
          </a:prstGeom>
          <a:noFill/>
          <a:ln/>
        </p:spPr>
        <p:txBody>
          <a:bodyPr wrap="square" lIns="0" tIns="0" rIns="0" bIns="0" rtlCol="0" anchor="t"/>
          <a:lstStyle/>
          <a:p>
            <a:pPr marL="0" indent="0">
              <a:buNone/>
            </a:pPr>
            <a:r>
              <a:rPr lang="en-US" sz="3600" b="1" kern="0" spc="100" dirty="0">
                <a:solidFill>
                  <a:srgbClr val="2D3436"/>
                </a:solidFill>
                <a:latin typeface="Source Code Pro" pitchFamily="34" charset="0"/>
                <a:ea typeface="Source Code Pro" pitchFamily="34" charset="-122"/>
                <a:cs typeface="Source Code Pro" pitchFamily="34" charset="-120"/>
              </a:rPr>
              <a:t>Try it this afternoon.</a:t>
            </a:r>
            <a:endParaRPr lang="en-US" sz="3600" dirty="0"/>
          </a:p>
        </p:txBody>
      </p:sp>
      <p:sp>
        <p:nvSpPr>
          <p:cNvPr id="8" name="Shape 6"/>
          <p:cNvSpPr/>
          <p:nvPr/>
        </p:nvSpPr>
        <p:spPr>
          <a:xfrm>
            <a:off x="548640" y="2377440"/>
            <a:ext cx="3657600" cy="2286000"/>
          </a:xfrm>
          <a:prstGeom prst="rect">
            <a:avLst/>
          </a:prstGeom>
          <a:solidFill>
            <a:srgbClr val="FFFFFF"/>
          </a:solidFill>
          <a:ln w="12700">
            <a:solidFill>
              <a:srgbClr val="2D3436"/>
            </a:solidFill>
            <a:prstDash val="solid"/>
          </a:ln>
        </p:spPr>
        <p:txBody>
          <a:bodyPr/>
          <a:lstStyle/>
          <a:p>
            <a:endParaRPr lang="en-DE"/>
          </a:p>
        </p:txBody>
      </p:sp>
      <p:sp>
        <p:nvSpPr>
          <p:cNvPr id="9" name="Shape 7"/>
          <p:cNvSpPr/>
          <p:nvPr/>
        </p:nvSpPr>
        <p:spPr>
          <a:xfrm>
            <a:off x="548640" y="2377440"/>
            <a:ext cx="3657600" cy="73152"/>
          </a:xfrm>
          <a:prstGeom prst="rect">
            <a:avLst/>
          </a:prstGeom>
          <a:solidFill>
            <a:srgbClr val="FF6348"/>
          </a:solidFill>
          <a:ln w="12700">
            <a:solidFill>
              <a:srgbClr val="FF6348"/>
            </a:solidFill>
            <a:prstDash val="solid"/>
          </a:ln>
        </p:spPr>
        <p:txBody>
          <a:bodyPr/>
          <a:lstStyle/>
          <a:p>
            <a:endParaRPr lang="en-DE"/>
          </a:p>
        </p:txBody>
      </p:sp>
      <p:sp>
        <p:nvSpPr>
          <p:cNvPr id="10" name="Text 8"/>
          <p:cNvSpPr/>
          <p:nvPr/>
        </p:nvSpPr>
        <p:spPr>
          <a:xfrm>
            <a:off x="822960" y="2743200"/>
            <a:ext cx="3108960" cy="365760"/>
          </a:xfrm>
          <a:prstGeom prst="rect">
            <a:avLst/>
          </a:prstGeom>
          <a:noFill/>
          <a:ln/>
        </p:spPr>
        <p:txBody>
          <a:bodyPr wrap="square" lIns="0" tIns="0" rIns="0" bIns="0" rtlCol="0" anchor="ctr"/>
          <a:lstStyle/>
          <a:p>
            <a:pPr marL="0" indent="0">
              <a:buNone/>
            </a:pPr>
            <a:r>
              <a:rPr lang="en-US" sz="1100" b="1" kern="0" spc="400" dirty="0">
                <a:solidFill>
                  <a:srgbClr val="8B9296"/>
                </a:solidFill>
                <a:latin typeface="Source Code Pro" pitchFamily="34" charset="0"/>
                <a:ea typeface="Source Code Pro" pitchFamily="34" charset="-122"/>
                <a:cs typeface="Source Code Pro" pitchFamily="34" charset="-120"/>
              </a:rPr>
              <a:t>GITHUB</a:t>
            </a:r>
            <a:endParaRPr lang="en-US" sz="1100" dirty="0"/>
          </a:p>
        </p:txBody>
      </p:sp>
      <p:sp>
        <p:nvSpPr>
          <p:cNvPr id="11" name="Text 9"/>
          <p:cNvSpPr/>
          <p:nvPr/>
        </p:nvSpPr>
        <p:spPr>
          <a:xfrm>
            <a:off x="822960" y="3154680"/>
            <a:ext cx="3108960" cy="548640"/>
          </a:xfrm>
          <a:prstGeom prst="rect">
            <a:avLst/>
          </a:prstGeom>
          <a:noFill/>
          <a:ln/>
        </p:spPr>
        <p:txBody>
          <a:bodyPr wrap="square" lIns="0" tIns="0" rIns="0" bIns="0" rtlCol="0" anchor="ctr"/>
          <a:lstStyle/>
          <a:p>
            <a:pPr marL="0" indent="0">
              <a:buNone/>
            </a:pPr>
            <a:r>
              <a:rPr lang="en-US" sz="2200" b="1" dirty="0">
                <a:solidFill>
                  <a:srgbClr val="2D3436"/>
                </a:solidFill>
                <a:latin typeface="Source Code Pro" pitchFamily="34" charset="0"/>
                <a:ea typeface="Source Code Pro" pitchFamily="34" charset="-122"/>
                <a:cs typeface="Source Code Pro" pitchFamily="34" charset="-120"/>
              </a:rPr>
              <a:t>PBIR X-Ray</a:t>
            </a:r>
            <a:endParaRPr lang="en-US" sz="2200" dirty="0"/>
          </a:p>
        </p:txBody>
      </p:sp>
      <p:sp>
        <p:nvSpPr>
          <p:cNvPr id="12" name="Text 10"/>
          <p:cNvSpPr/>
          <p:nvPr/>
        </p:nvSpPr>
        <p:spPr>
          <a:xfrm>
            <a:off x="822960" y="3794760"/>
            <a:ext cx="3108960" cy="777240"/>
          </a:xfrm>
          <a:prstGeom prst="rect">
            <a:avLst/>
          </a:prstGeom>
          <a:noFill/>
          <a:ln/>
        </p:spPr>
        <p:txBody>
          <a:bodyPr wrap="square" lIns="0" tIns="0" rIns="0" bIns="0" rtlCol="0" anchor="ctr"/>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Power Query repo, README, sample landscape.</a:t>
            </a:r>
            <a:endParaRPr lang="en-US" sz="1300" dirty="0"/>
          </a:p>
        </p:txBody>
      </p:sp>
      <p:sp>
        <p:nvSpPr>
          <p:cNvPr id="13" name="Shape 11"/>
          <p:cNvSpPr/>
          <p:nvPr/>
        </p:nvSpPr>
        <p:spPr>
          <a:xfrm>
            <a:off x="4370832" y="2377440"/>
            <a:ext cx="3657600" cy="2286000"/>
          </a:xfrm>
          <a:prstGeom prst="rect">
            <a:avLst/>
          </a:prstGeom>
          <a:solidFill>
            <a:srgbClr val="FFFFFF"/>
          </a:solidFill>
          <a:ln w="12700">
            <a:solidFill>
              <a:srgbClr val="2D3436"/>
            </a:solidFill>
            <a:prstDash val="solid"/>
          </a:ln>
        </p:spPr>
        <p:txBody>
          <a:bodyPr/>
          <a:lstStyle/>
          <a:p>
            <a:endParaRPr lang="en-DE"/>
          </a:p>
        </p:txBody>
      </p:sp>
      <p:sp>
        <p:nvSpPr>
          <p:cNvPr id="14" name="Shape 12"/>
          <p:cNvSpPr/>
          <p:nvPr/>
        </p:nvSpPr>
        <p:spPr>
          <a:xfrm>
            <a:off x="4370832" y="2377440"/>
            <a:ext cx="3657600" cy="73152"/>
          </a:xfrm>
          <a:prstGeom prst="rect">
            <a:avLst/>
          </a:prstGeom>
          <a:solidFill>
            <a:srgbClr val="72D4DC"/>
          </a:solidFill>
          <a:ln w="12700">
            <a:solidFill>
              <a:srgbClr val="72D4DC"/>
            </a:solidFill>
            <a:prstDash val="solid"/>
          </a:ln>
        </p:spPr>
        <p:txBody>
          <a:bodyPr/>
          <a:lstStyle/>
          <a:p>
            <a:endParaRPr lang="en-DE"/>
          </a:p>
        </p:txBody>
      </p:sp>
      <p:sp>
        <p:nvSpPr>
          <p:cNvPr id="15" name="Text 13"/>
          <p:cNvSpPr/>
          <p:nvPr/>
        </p:nvSpPr>
        <p:spPr>
          <a:xfrm>
            <a:off x="4645152" y="2743200"/>
            <a:ext cx="3108960" cy="365760"/>
          </a:xfrm>
          <a:prstGeom prst="rect">
            <a:avLst/>
          </a:prstGeom>
          <a:noFill/>
          <a:ln/>
        </p:spPr>
        <p:txBody>
          <a:bodyPr wrap="square" lIns="0" tIns="0" rIns="0" bIns="0" rtlCol="0" anchor="ctr"/>
          <a:lstStyle/>
          <a:p>
            <a:pPr marL="0" indent="0">
              <a:buNone/>
            </a:pPr>
            <a:r>
              <a:rPr lang="en-US" sz="1100" b="1" kern="0" spc="400" dirty="0">
                <a:solidFill>
                  <a:srgbClr val="8B9296"/>
                </a:solidFill>
                <a:latin typeface="Source Code Pro" pitchFamily="34" charset="0"/>
                <a:ea typeface="Source Code Pro" pitchFamily="34" charset="-122"/>
                <a:cs typeface="Source Code Pro" pitchFamily="34" charset="-120"/>
              </a:rPr>
              <a:t>BLOG</a:t>
            </a:r>
            <a:endParaRPr lang="en-US" sz="1100" dirty="0"/>
          </a:p>
        </p:txBody>
      </p:sp>
      <p:sp>
        <p:nvSpPr>
          <p:cNvPr id="16" name="Text 14"/>
          <p:cNvSpPr/>
          <p:nvPr/>
        </p:nvSpPr>
        <p:spPr>
          <a:xfrm>
            <a:off x="4645152" y="3154680"/>
            <a:ext cx="3108960" cy="548640"/>
          </a:xfrm>
          <a:prstGeom prst="rect">
            <a:avLst/>
          </a:prstGeom>
          <a:noFill/>
          <a:ln/>
        </p:spPr>
        <p:txBody>
          <a:bodyPr wrap="square" lIns="0" tIns="0" rIns="0" bIns="0" rtlCol="0" anchor="ctr"/>
          <a:lstStyle/>
          <a:p>
            <a:pPr marL="0" indent="0">
              <a:buNone/>
            </a:pPr>
            <a:r>
              <a:rPr lang="en-US" sz="2200" b="1" dirty="0">
                <a:solidFill>
                  <a:srgbClr val="2D3436"/>
                </a:solidFill>
                <a:latin typeface="Source Code Pro" pitchFamily="34" charset="0"/>
                <a:ea typeface="Source Code Pro" pitchFamily="34" charset="-122"/>
                <a:cs typeface="Source Code Pro" pitchFamily="34" charset="-120"/>
              </a:rPr>
              <a:t>minceddata.net</a:t>
            </a:r>
            <a:endParaRPr lang="en-US" sz="2200" dirty="0"/>
          </a:p>
        </p:txBody>
      </p:sp>
      <p:sp>
        <p:nvSpPr>
          <p:cNvPr id="17" name="Text 15"/>
          <p:cNvSpPr/>
          <p:nvPr/>
        </p:nvSpPr>
        <p:spPr>
          <a:xfrm>
            <a:off x="4645152" y="3794760"/>
            <a:ext cx="3108960" cy="777240"/>
          </a:xfrm>
          <a:prstGeom prst="rect">
            <a:avLst/>
          </a:prstGeom>
          <a:noFill/>
          <a:ln/>
        </p:spPr>
        <p:txBody>
          <a:bodyPr wrap="square" lIns="0" tIns="0" rIns="0" bIns="0" rtlCol="0" anchor="ctr"/>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Companion article + the rest of the toolbox.</a:t>
            </a:r>
            <a:endParaRPr lang="en-US" sz="1300" dirty="0"/>
          </a:p>
        </p:txBody>
      </p:sp>
      <p:sp>
        <p:nvSpPr>
          <p:cNvPr id="18" name="Shape 16"/>
          <p:cNvSpPr/>
          <p:nvPr/>
        </p:nvSpPr>
        <p:spPr>
          <a:xfrm>
            <a:off x="8193024" y="2377440"/>
            <a:ext cx="3657600" cy="2286000"/>
          </a:xfrm>
          <a:prstGeom prst="rect">
            <a:avLst/>
          </a:prstGeom>
          <a:solidFill>
            <a:srgbClr val="FFFFFF"/>
          </a:solidFill>
          <a:ln w="12700">
            <a:solidFill>
              <a:srgbClr val="2D3436"/>
            </a:solidFill>
            <a:prstDash val="solid"/>
          </a:ln>
        </p:spPr>
        <p:txBody>
          <a:bodyPr/>
          <a:lstStyle/>
          <a:p>
            <a:endParaRPr lang="en-DE"/>
          </a:p>
        </p:txBody>
      </p:sp>
      <p:sp>
        <p:nvSpPr>
          <p:cNvPr id="19" name="Shape 17"/>
          <p:cNvSpPr/>
          <p:nvPr/>
        </p:nvSpPr>
        <p:spPr>
          <a:xfrm>
            <a:off x="8193024" y="2377440"/>
            <a:ext cx="3657600" cy="73152"/>
          </a:xfrm>
          <a:prstGeom prst="rect">
            <a:avLst/>
          </a:prstGeom>
          <a:solidFill>
            <a:srgbClr val="FF6348"/>
          </a:solidFill>
          <a:ln w="12700">
            <a:solidFill>
              <a:srgbClr val="FF6348"/>
            </a:solidFill>
            <a:prstDash val="solid"/>
          </a:ln>
        </p:spPr>
        <p:txBody>
          <a:bodyPr/>
          <a:lstStyle/>
          <a:p>
            <a:endParaRPr lang="en-DE"/>
          </a:p>
        </p:txBody>
      </p:sp>
      <p:sp>
        <p:nvSpPr>
          <p:cNvPr id="20" name="Text 18"/>
          <p:cNvSpPr/>
          <p:nvPr/>
        </p:nvSpPr>
        <p:spPr>
          <a:xfrm>
            <a:off x="8467344" y="2743200"/>
            <a:ext cx="3108960" cy="365760"/>
          </a:xfrm>
          <a:prstGeom prst="rect">
            <a:avLst/>
          </a:prstGeom>
          <a:noFill/>
          <a:ln/>
        </p:spPr>
        <p:txBody>
          <a:bodyPr wrap="square" lIns="0" tIns="0" rIns="0" bIns="0" rtlCol="0" anchor="ctr"/>
          <a:lstStyle/>
          <a:p>
            <a:pPr marL="0" indent="0">
              <a:buNone/>
            </a:pPr>
            <a:r>
              <a:rPr lang="en-US" sz="1100" b="1" kern="0" spc="400" dirty="0">
                <a:solidFill>
                  <a:srgbClr val="8B9296"/>
                </a:solidFill>
                <a:latin typeface="Source Code Pro" pitchFamily="34" charset="0"/>
                <a:ea typeface="Source Code Pro" pitchFamily="34" charset="-122"/>
                <a:cs typeface="Source Code Pro" pitchFamily="34" charset="-120"/>
              </a:rPr>
              <a:t>LINKEDIN</a:t>
            </a:r>
            <a:endParaRPr lang="en-US" sz="1100" dirty="0"/>
          </a:p>
        </p:txBody>
      </p:sp>
      <p:sp>
        <p:nvSpPr>
          <p:cNvPr id="21" name="Text 19"/>
          <p:cNvSpPr/>
          <p:nvPr/>
        </p:nvSpPr>
        <p:spPr>
          <a:xfrm>
            <a:off x="8467344" y="3154680"/>
            <a:ext cx="3108960" cy="548640"/>
          </a:xfrm>
          <a:prstGeom prst="rect">
            <a:avLst/>
          </a:prstGeom>
          <a:noFill/>
          <a:ln/>
        </p:spPr>
        <p:txBody>
          <a:bodyPr wrap="square" lIns="0" tIns="0" rIns="0" bIns="0" rtlCol="0" anchor="ctr"/>
          <a:lstStyle/>
          <a:p>
            <a:pPr marL="0" indent="0">
              <a:buNone/>
            </a:pPr>
            <a:r>
              <a:rPr lang="en-US" sz="2200" b="1" dirty="0">
                <a:solidFill>
                  <a:srgbClr val="2D3436"/>
                </a:solidFill>
                <a:latin typeface="Source Code Pro" pitchFamily="34" charset="0"/>
                <a:ea typeface="Source Code Pro" pitchFamily="34" charset="-122"/>
                <a:cs typeface="Source Code Pro" pitchFamily="34" charset="-120"/>
              </a:rPr>
              <a:t>Tom Martens</a:t>
            </a:r>
            <a:endParaRPr lang="en-US" sz="2200" dirty="0"/>
          </a:p>
        </p:txBody>
      </p:sp>
      <p:sp>
        <p:nvSpPr>
          <p:cNvPr id="22" name="Text 20"/>
          <p:cNvSpPr/>
          <p:nvPr/>
        </p:nvSpPr>
        <p:spPr>
          <a:xfrm>
            <a:off x="8467344" y="3794760"/>
            <a:ext cx="3108960" cy="777240"/>
          </a:xfrm>
          <a:prstGeom prst="rect">
            <a:avLst/>
          </a:prstGeom>
          <a:noFill/>
          <a:ln/>
        </p:spPr>
        <p:txBody>
          <a:bodyPr wrap="square" lIns="0" tIns="0" rIns="0" bIns="0" rtlCol="0" anchor="ctr"/>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Drop a question. I read every reply.</a:t>
            </a:r>
            <a:endParaRPr lang="en-US" sz="1300" dirty="0"/>
          </a:p>
        </p:txBody>
      </p:sp>
      <p:sp>
        <p:nvSpPr>
          <p:cNvPr id="23" name="Text 21"/>
          <p:cNvSpPr/>
          <p:nvPr/>
        </p:nvSpPr>
        <p:spPr>
          <a:xfrm>
            <a:off x="548640" y="5029200"/>
            <a:ext cx="11091672" cy="365760"/>
          </a:xfrm>
          <a:prstGeom prst="rect">
            <a:avLst/>
          </a:prstGeom>
          <a:noFill/>
          <a:ln/>
        </p:spPr>
        <p:txBody>
          <a:bodyPr wrap="square" lIns="0" tIns="0" rIns="0" bIns="0" rtlCol="0" anchor="ctr"/>
          <a:lstStyle/>
          <a:p>
            <a:pPr marL="0" indent="0">
              <a:buNone/>
            </a:pPr>
            <a:r>
              <a:rPr lang="en-US" sz="1300" dirty="0">
                <a:solidFill>
                  <a:srgbClr val="8B9296"/>
                </a:solidFill>
                <a:latin typeface="Source Code Pro" pitchFamily="34" charset="0"/>
                <a:ea typeface="Source Code Pro" pitchFamily="34" charset="-122"/>
                <a:cs typeface="Source Code Pro" pitchFamily="34" charset="-120"/>
              </a:rPr>
              <a:t>Sibling tool: </a:t>
            </a:r>
            <a:r>
              <a:rPr lang="en-US" sz="1300" b="1" dirty="0">
                <a:solidFill>
                  <a:srgbClr val="2D3436"/>
                </a:solidFill>
                <a:latin typeface="Source Code Pro" pitchFamily="34" charset="0"/>
                <a:ea typeface="Source Code Pro" pitchFamily="34" charset="-122"/>
                <a:cs typeface="Source Code Pro" pitchFamily="34" charset="-120"/>
              </a:rPr>
              <a:t>Power BI Tenant Lens</a:t>
            </a:r>
            <a:r>
              <a:rPr lang="en-US" sz="1300" dirty="0">
                <a:solidFill>
                  <a:srgbClr val="8B9296"/>
                </a:solidFill>
                <a:latin typeface="Source Code Pro" pitchFamily="34" charset="0"/>
                <a:ea typeface="Source Code Pro" pitchFamily="34" charset="-122"/>
                <a:cs typeface="Source Code Pro" pitchFamily="34" charset="-120"/>
              </a:rPr>
              <a:t>  ·  same Power Query approach, applied at the tenant level.</a:t>
            </a:r>
            <a:endParaRPr lang="en-US" sz="1300" dirty="0"/>
          </a:p>
        </p:txBody>
      </p:sp>
      <p:sp>
        <p:nvSpPr>
          <p:cNvPr id="24" name="Text 22"/>
          <p:cNvSpPr/>
          <p:nvPr/>
        </p:nvSpPr>
        <p:spPr>
          <a:xfrm>
            <a:off x="548640" y="5577840"/>
            <a:ext cx="11091672" cy="548640"/>
          </a:xfrm>
          <a:prstGeom prst="rect">
            <a:avLst/>
          </a:prstGeom>
          <a:noFill/>
          <a:ln/>
        </p:spPr>
        <p:txBody>
          <a:bodyPr wrap="square" lIns="0" tIns="0" rIns="0" bIns="0" rtlCol="0" anchor="ctr"/>
          <a:lstStyle/>
          <a:p>
            <a:pPr marL="0" indent="0">
              <a:buNone/>
            </a:pPr>
            <a:r>
              <a:rPr lang="en-US" sz="2800" b="1" dirty="0">
                <a:solidFill>
                  <a:srgbClr val="FF6348"/>
                </a:solidFill>
                <a:latin typeface="Source Code Pro" pitchFamily="34" charset="0"/>
                <a:ea typeface="Source Code Pro" pitchFamily="34" charset="-122"/>
                <a:cs typeface="Source Code Pro" pitchFamily="34" charset="-120"/>
              </a:rPr>
              <a:t>Thank you.</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i="1" dirty="0">
                <a:solidFill>
                  <a:srgbClr val="8B9296"/>
                </a:solidFill>
                <a:latin typeface="Source Code Pro" pitchFamily="34" charset="0"/>
                <a:ea typeface="Source Code Pro" pitchFamily="34" charset="-122"/>
                <a:cs typeface="Source Code Pro" pitchFamily="34" charset="-120"/>
              </a:rPr>
              <a:t>Appendix</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APPENDIX  ·  FOR REPO READERS</a:t>
            </a:r>
            <a:endParaRPr lang="en-US" sz="1100" dirty="0"/>
          </a:p>
        </p:txBody>
      </p:sp>
      <p:sp>
        <p:nvSpPr>
          <p:cNvPr id="7" name="Text 5"/>
          <p:cNvSpPr/>
          <p:nvPr/>
        </p:nvSpPr>
        <p:spPr>
          <a:xfrm>
            <a:off x="548640" y="1417320"/>
            <a:ext cx="11091672" cy="548640"/>
          </a:xfrm>
          <a:prstGeom prst="rect">
            <a:avLst/>
          </a:prstGeom>
          <a:noFill/>
          <a:ln/>
        </p:spPr>
        <p:txBody>
          <a:bodyPr wrap="square" lIns="0" tIns="0" rIns="0" bIns="0" rtlCol="0" anchor="t"/>
          <a:lstStyle/>
          <a:p>
            <a:pPr marL="0" indent="0">
              <a:buNone/>
            </a:pPr>
            <a:r>
              <a:rPr lang="en-US" sz="2600" b="1" kern="0" spc="100" dirty="0">
                <a:solidFill>
                  <a:srgbClr val="2D3436"/>
                </a:solidFill>
                <a:latin typeface="Source Code Pro" pitchFamily="34" charset="0"/>
                <a:ea typeface="Source Code Pro" pitchFamily="34" charset="-122"/>
                <a:cs typeface="Source Code Pro" pitchFamily="34" charset="-120"/>
              </a:rPr>
              <a:t>Ten things in the solution worth noticing.</a:t>
            </a:r>
            <a:endParaRPr lang="en-US" sz="2600" dirty="0"/>
          </a:p>
        </p:txBody>
      </p:sp>
      <p:sp>
        <p:nvSpPr>
          <p:cNvPr id="8" name="Text 6"/>
          <p:cNvSpPr/>
          <p:nvPr/>
        </p:nvSpPr>
        <p:spPr>
          <a:xfrm>
            <a:off x="548640" y="1862050"/>
            <a:ext cx="11091672" cy="320040"/>
          </a:xfrm>
          <a:prstGeom prst="rect">
            <a:avLst/>
          </a:prstGeom>
          <a:noFill/>
          <a:ln/>
        </p:spPr>
        <p:txBody>
          <a:bodyPr wrap="square" lIns="0" tIns="0" rIns="0" bIns="0" rtlCol="0" anchor="ctr"/>
          <a:lstStyle/>
          <a:p>
            <a:pPr marL="0" indent="0">
              <a:buNone/>
            </a:pPr>
            <a:r>
              <a:rPr lang="en-US" sz="1200" i="1" dirty="0">
                <a:solidFill>
                  <a:srgbClr val="8B9296"/>
                </a:solidFill>
                <a:latin typeface="Source Code Pro" pitchFamily="34" charset="0"/>
                <a:ea typeface="Source Code Pro" pitchFamily="34" charset="-122"/>
                <a:cs typeface="Source Code Pro" pitchFamily="34" charset="-120"/>
              </a:rPr>
              <a:t>The not so obvious things in PBIR X-Ray. Not covered in the live talk — read at your leisure.</a:t>
            </a:r>
            <a:endParaRPr lang="en-US" sz="1200" dirty="0"/>
          </a:p>
        </p:txBody>
      </p:sp>
      <p:sp>
        <p:nvSpPr>
          <p:cNvPr id="9" name="Shape 7"/>
          <p:cNvSpPr/>
          <p:nvPr/>
        </p:nvSpPr>
        <p:spPr>
          <a:xfrm>
            <a:off x="548640" y="2258568"/>
            <a:ext cx="91440" cy="91440"/>
          </a:xfrm>
          <a:prstGeom prst="rect">
            <a:avLst/>
          </a:prstGeom>
          <a:solidFill>
            <a:srgbClr val="FF6348"/>
          </a:solidFill>
          <a:ln w="12700">
            <a:solidFill>
              <a:srgbClr val="FF6348"/>
            </a:solidFill>
            <a:prstDash val="solid"/>
          </a:ln>
        </p:spPr>
        <p:txBody>
          <a:bodyPr/>
          <a:lstStyle/>
          <a:p>
            <a:endParaRPr lang="en-DE"/>
          </a:p>
        </p:txBody>
      </p:sp>
      <p:sp>
        <p:nvSpPr>
          <p:cNvPr id="10" name="Text 8"/>
          <p:cNvSpPr/>
          <p:nvPr/>
        </p:nvSpPr>
        <p:spPr>
          <a:xfrm>
            <a:off x="731520" y="2148840"/>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01</a:t>
            </a:r>
            <a:endParaRPr lang="en-US" sz="1100" dirty="0"/>
          </a:p>
        </p:txBody>
      </p:sp>
      <p:sp>
        <p:nvSpPr>
          <p:cNvPr id="11" name="Text 9"/>
          <p:cNvSpPr/>
          <p:nvPr/>
        </p:nvSpPr>
        <p:spPr>
          <a:xfrm>
            <a:off x="1143000" y="2148840"/>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One folder scan, eleven tables.</a:t>
            </a:r>
            <a:endParaRPr lang="en-US" sz="1400" dirty="0"/>
          </a:p>
        </p:txBody>
      </p:sp>
      <p:sp>
        <p:nvSpPr>
          <p:cNvPr id="12" name="Text 10"/>
          <p:cNvSpPr/>
          <p:nvPr/>
        </p:nvSpPr>
        <p:spPr>
          <a:xfrm>
            <a:off x="1143000" y="2478024"/>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fn_pbir_ReportData() returns a record consumed by every table — disk walked once per refresh.</a:t>
            </a:r>
            <a:endParaRPr lang="en-US" sz="1100" dirty="0"/>
          </a:p>
        </p:txBody>
      </p:sp>
      <p:sp>
        <p:nvSpPr>
          <p:cNvPr id="13" name="Shape 11"/>
          <p:cNvSpPr/>
          <p:nvPr/>
        </p:nvSpPr>
        <p:spPr>
          <a:xfrm>
            <a:off x="6263640" y="2258568"/>
            <a:ext cx="91440" cy="91440"/>
          </a:xfrm>
          <a:prstGeom prst="rect">
            <a:avLst/>
          </a:prstGeom>
          <a:solidFill>
            <a:srgbClr val="72D4DC"/>
          </a:solidFill>
          <a:ln w="12700">
            <a:solidFill>
              <a:srgbClr val="72D4DC"/>
            </a:solidFill>
            <a:prstDash val="solid"/>
          </a:ln>
        </p:spPr>
        <p:txBody>
          <a:bodyPr/>
          <a:lstStyle/>
          <a:p>
            <a:endParaRPr lang="en-DE"/>
          </a:p>
        </p:txBody>
      </p:sp>
      <p:sp>
        <p:nvSpPr>
          <p:cNvPr id="14" name="Text 12"/>
          <p:cNvSpPr/>
          <p:nvPr/>
        </p:nvSpPr>
        <p:spPr>
          <a:xfrm>
            <a:off x="6446520" y="2148840"/>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02</a:t>
            </a:r>
            <a:endParaRPr lang="en-US" sz="1100" dirty="0"/>
          </a:p>
        </p:txBody>
      </p:sp>
      <p:sp>
        <p:nvSpPr>
          <p:cNvPr id="15" name="Text 13"/>
          <p:cNvSpPr/>
          <p:nvPr/>
        </p:nvSpPr>
        <p:spPr>
          <a:xfrm>
            <a:off x="6858000" y="2148840"/>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Cross-platform path normalisation.</a:t>
            </a:r>
            <a:endParaRPr lang="en-US" sz="1400" dirty="0"/>
          </a:p>
        </p:txBody>
      </p:sp>
      <p:sp>
        <p:nvSpPr>
          <p:cNvPr id="16" name="Text 14"/>
          <p:cNvSpPr/>
          <p:nvPr/>
        </p:nvSpPr>
        <p:spPr>
          <a:xfrm>
            <a:off x="6858000" y="2478024"/>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Backslashes on Windows, slashes on Mac. Normalise once at the source, match by suffix from then on.</a:t>
            </a:r>
            <a:endParaRPr lang="en-US" sz="1100" dirty="0"/>
          </a:p>
        </p:txBody>
      </p:sp>
      <p:sp>
        <p:nvSpPr>
          <p:cNvPr id="17" name="Shape 15"/>
          <p:cNvSpPr/>
          <p:nvPr/>
        </p:nvSpPr>
        <p:spPr>
          <a:xfrm>
            <a:off x="548640" y="3063240"/>
            <a:ext cx="91440" cy="91440"/>
          </a:xfrm>
          <a:prstGeom prst="rect">
            <a:avLst/>
          </a:prstGeom>
          <a:solidFill>
            <a:srgbClr val="FF6348"/>
          </a:solidFill>
          <a:ln w="12700">
            <a:solidFill>
              <a:srgbClr val="FF6348"/>
            </a:solidFill>
            <a:prstDash val="solid"/>
          </a:ln>
        </p:spPr>
        <p:txBody>
          <a:bodyPr/>
          <a:lstStyle/>
          <a:p>
            <a:endParaRPr lang="en-DE"/>
          </a:p>
        </p:txBody>
      </p:sp>
      <p:sp>
        <p:nvSpPr>
          <p:cNvPr id="18" name="Text 16"/>
          <p:cNvSpPr/>
          <p:nvPr/>
        </p:nvSpPr>
        <p:spPr>
          <a:xfrm>
            <a:off x="731520" y="2953512"/>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03</a:t>
            </a:r>
            <a:endParaRPr lang="en-US" sz="1100" dirty="0"/>
          </a:p>
        </p:txBody>
      </p:sp>
      <p:sp>
        <p:nvSpPr>
          <p:cNvPr id="19" name="Text 17"/>
          <p:cNvSpPr/>
          <p:nvPr/>
        </p:nvSpPr>
        <p:spPr>
          <a:xfrm>
            <a:off x="1143000" y="2953512"/>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try … otherwise as discipline.</a:t>
            </a:r>
            <a:endParaRPr lang="en-US" sz="1400" dirty="0"/>
          </a:p>
        </p:txBody>
      </p:sp>
      <p:sp>
        <p:nvSpPr>
          <p:cNvPr id="20" name="Text 18"/>
          <p:cNvSpPr/>
          <p:nvPr/>
        </p:nvSpPr>
        <p:spPr>
          <a:xfrm>
            <a:off x="1143000" y="3282696"/>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PBIR strips properties at default values. Defensive traversal isn't optional — absence is meaningful.</a:t>
            </a:r>
            <a:endParaRPr lang="en-US" sz="1100" dirty="0"/>
          </a:p>
        </p:txBody>
      </p:sp>
      <p:sp>
        <p:nvSpPr>
          <p:cNvPr id="21" name="Shape 19"/>
          <p:cNvSpPr/>
          <p:nvPr/>
        </p:nvSpPr>
        <p:spPr>
          <a:xfrm>
            <a:off x="6263640" y="3063240"/>
            <a:ext cx="91440" cy="91440"/>
          </a:xfrm>
          <a:prstGeom prst="rect">
            <a:avLst/>
          </a:prstGeom>
          <a:solidFill>
            <a:srgbClr val="72D4DC"/>
          </a:solidFill>
          <a:ln w="12700">
            <a:solidFill>
              <a:srgbClr val="72D4DC"/>
            </a:solidFill>
            <a:prstDash val="solid"/>
          </a:ln>
        </p:spPr>
        <p:txBody>
          <a:bodyPr/>
          <a:lstStyle/>
          <a:p>
            <a:endParaRPr lang="en-DE"/>
          </a:p>
        </p:txBody>
      </p:sp>
      <p:sp>
        <p:nvSpPr>
          <p:cNvPr id="22" name="Text 20"/>
          <p:cNvSpPr/>
          <p:nvPr/>
        </p:nvSpPr>
        <p:spPr>
          <a:xfrm>
            <a:off x="6446520" y="2953512"/>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04</a:t>
            </a:r>
            <a:endParaRPr lang="en-US" sz="1100" dirty="0"/>
          </a:p>
        </p:txBody>
      </p:sp>
      <p:sp>
        <p:nvSpPr>
          <p:cNvPr id="23" name="Text 21"/>
          <p:cNvSpPr/>
          <p:nvPr/>
        </p:nvSpPr>
        <p:spPr>
          <a:xfrm>
            <a:off x="6858000" y="2953512"/>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Recursive M with depth caps.</a:t>
            </a:r>
            <a:endParaRPr lang="en-US" sz="1400" dirty="0"/>
          </a:p>
        </p:txBody>
      </p:sp>
      <p:sp>
        <p:nvSpPr>
          <p:cNvPr id="24" name="Text 22"/>
          <p:cNvSpPr/>
          <p:nvPr/>
        </p:nvSpPr>
        <p:spPr>
          <a:xfrm>
            <a:off x="6858000" y="3282696"/>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@-recursion plus an ExpressionBoundaryKeys list — stops descending where structural schema ends.</a:t>
            </a:r>
            <a:endParaRPr lang="en-US" sz="1100" dirty="0"/>
          </a:p>
        </p:txBody>
      </p:sp>
      <p:sp>
        <p:nvSpPr>
          <p:cNvPr id="25" name="Shape 23"/>
          <p:cNvSpPr/>
          <p:nvPr/>
        </p:nvSpPr>
        <p:spPr>
          <a:xfrm>
            <a:off x="548640" y="3867912"/>
            <a:ext cx="91440" cy="91440"/>
          </a:xfrm>
          <a:prstGeom prst="rect">
            <a:avLst/>
          </a:prstGeom>
          <a:solidFill>
            <a:srgbClr val="FF6348"/>
          </a:solidFill>
          <a:ln w="12700">
            <a:solidFill>
              <a:srgbClr val="FF6348"/>
            </a:solidFill>
            <a:prstDash val="solid"/>
          </a:ln>
        </p:spPr>
        <p:txBody>
          <a:bodyPr/>
          <a:lstStyle/>
          <a:p>
            <a:endParaRPr lang="en-DE"/>
          </a:p>
        </p:txBody>
      </p:sp>
      <p:sp>
        <p:nvSpPr>
          <p:cNvPr id="26" name="Text 24"/>
          <p:cNvSpPr/>
          <p:nvPr/>
        </p:nvSpPr>
        <p:spPr>
          <a:xfrm>
            <a:off x="731520" y="3758184"/>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05</a:t>
            </a:r>
            <a:endParaRPr lang="en-US" sz="1100" dirty="0"/>
          </a:p>
        </p:txBody>
      </p:sp>
      <p:sp>
        <p:nvSpPr>
          <p:cNvPr id="27" name="Text 25"/>
          <p:cNvSpPr/>
          <p:nvPr/>
        </p:nvSpPr>
        <p:spPr>
          <a:xfrm>
            <a:off x="1143000" y="3758184"/>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A meta-query that audits itself.</a:t>
            </a:r>
            <a:endParaRPr lang="en-US" sz="1400" dirty="0"/>
          </a:p>
        </p:txBody>
      </p:sp>
      <p:sp>
        <p:nvSpPr>
          <p:cNvPr id="28" name="Text 26"/>
          <p:cNvSpPr/>
          <p:nvPr/>
        </p:nvSpPr>
        <p:spPr>
          <a:xfrm>
            <a:off x="1143000" y="4087368"/>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SchemaCoverageAudit_pbir walks every JSON path, marks IsExtracted, hints which query should consume the gap.</a:t>
            </a:r>
            <a:endParaRPr lang="en-US" sz="1100" dirty="0"/>
          </a:p>
        </p:txBody>
      </p:sp>
      <p:sp>
        <p:nvSpPr>
          <p:cNvPr id="29" name="Shape 27"/>
          <p:cNvSpPr/>
          <p:nvPr/>
        </p:nvSpPr>
        <p:spPr>
          <a:xfrm>
            <a:off x="6263640" y="3867912"/>
            <a:ext cx="91440" cy="91440"/>
          </a:xfrm>
          <a:prstGeom prst="rect">
            <a:avLst/>
          </a:prstGeom>
          <a:solidFill>
            <a:srgbClr val="72D4DC"/>
          </a:solidFill>
          <a:ln w="12700">
            <a:solidFill>
              <a:srgbClr val="72D4DC"/>
            </a:solidFill>
            <a:prstDash val="solid"/>
          </a:ln>
        </p:spPr>
        <p:txBody>
          <a:bodyPr/>
          <a:lstStyle/>
          <a:p>
            <a:endParaRPr lang="en-DE"/>
          </a:p>
        </p:txBody>
      </p:sp>
      <p:sp>
        <p:nvSpPr>
          <p:cNvPr id="30" name="Text 28"/>
          <p:cNvSpPr/>
          <p:nvPr/>
        </p:nvSpPr>
        <p:spPr>
          <a:xfrm>
            <a:off x="6446520" y="3758184"/>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06</a:t>
            </a:r>
            <a:endParaRPr lang="en-US" sz="1100" dirty="0"/>
          </a:p>
        </p:txBody>
      </p:sp>
      <p:sp>
        <p:nvSpPr>
          <p:cNvPr id="31" name="Text 29"/>
          <p:cNvSpPr/>
          <p:nvPr/>
        </p:nvSpPr>
        <p:spPr>
          <a:xfrm>
            <a:off x="6858000" y="3758184"/>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CF parser, four dialects, one table.</a:t>
            </a:r>
            <a:endParaRPr lang="en-US" sz="1400" dirty="0"/>
          </a:p>
        </p:txBody>
      </p:sp>
      <p:sp>
        <p:nvSpPr>
          <p:cNvPr id="32" name="Text 30"/>
          <p:cNvSpPr/>
          <p:nvPr/>
        </p:nvSpPr>
        <p:spPr>
          <a:xfrm>
            <a:off x="6858000" y="4087368"/>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Rules, Gradient, Field Value, Data Bars — different JSON paths, unioned with a CFType discriminator.</a:t>
            </a:r>
            <a:endParaRPr lang="en-US" sz="1100" dirty="0"/>
          </a:p>
        </p:txBody>
      </p:sp>
      <p:sp>
        <p:nvSpPr>
          <p:cNvPr id="33" name="Shape 31"/>
          <p:cNvSpPr/>
          <p:nvPr/>
        </p:nvSpPr>
        <p:spPr>
          <a:xfrm>
            <a:off x="548640" y="4672584"/>
            <a:ext cx="91440" cy="91440"/>
          </a:xfrm>
          <a:prstGeom prst="rect">
            <a:avLst/>
          </a:prstGeom>
          <a:solidFill>
            <a:srgbClr val="FF6348"/>
          </a:solidFill>
          <a:ln w="12700">
            <a:solidFill>
              <a:srgbClr val="FF6348"/>
            </a:solidFill>
            <a:prstDash val="solid"/>
          </a:ln>
        </p:spPr>
        <p:txBody>
          <a:bodyPr/>
          <a:lstStyle/>
          <a:p>
            <a:endParaRPr lang="en-DE"/>
          </a:p>
        </p:txBody>
      </p:sp>
      <p:sp>
        <p:nvSpPr>
          <p:cNvPr id="34" name="Text 32"/>
          <p:cNvSpPr/>
          <p:nvPr/>
        </p:nvSpPr>
        <p:spPr>
          <a:xfrm>
            <a:off x="731520" y="4562856"/>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07</a:t>
            </a:r>
            <a:endParaRPr lang="en-US" sz="1100" dirty="0"/>
          </a:p>
        </p:txBody>
      </p:sp>
      <p:sp>
        <p:nvSpPr>
          <p:cNvPr id="35" name="Text 33"/>
          <p:cNvSpPr/>
          <p:nvPr/>
        </p:nvSpPr>
        <p:spPr>
          <a:xfrm>
            <a:off x="1143000" y="4562856"/>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SVG-as-DataURI for inline previews.</a:t>
            </a:r>
            <a:endParaRPr lang="en-US" sz="1400" dirty="0"/>
          </a:p>
        </p:txBody>
      </p:sp>
      <p:sp>
        <p:nvSpPr>
          <p:cNvPr id="36" name="Text 34"/>
          <p:cNvSpPr/>
          <p:nvPr/>
        </p:nvSpPr>
        <p:spPr>
          <a:xfrm>
            <a:off x="1143000" y="4892040"/>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Colour bands and gradients rendered into ImageUrl columns. Report devs see the rule, not the encoding.</a:t>
            </a:r>
            <a:endParaRPr lang="en-US" sz="1100" dirty="0"/>
          </a:p>
        </p:txBody>
      </p:sp>
      <p:sp>
        <p:nvSpPr>
          <p:cNvPr id="37" name="Shape 35"/>
          <p:cNvSpPr/>
          <p:nvPr/>
        </p:nvSpPr>
        <p:spPr>
          <a:xfrm>
            <a:off x="6263640" y="4672584"/>
            <a:ext cx="91440" cy="91440"/>
          </a:xfrm>
          <a:prstGeom prst="rect">
            <a:avLst/>
          </a:prstGeom>
          <a:solidFill>
            <a:srgbClr val="72D4DC"/>
          </a:solidFill>
          <a:ln w="12700">
            <a:solidFill>
              <a:srgbClr val="72D4DC"/>
            </a:solidFill>
            <a:prstDash val="solid"/>
          </a:ln>
        </p:spPr>
        <p:txBody>
          <a:bodyPr/>
          <a:lstStyle/>
          <a:p>
            <a:endParaRPr lang="en-DE"/>
          </a:p>
        </p:txBody>
      </p:sp>
      <p:sp>
        <p:nvSpPr>
          <p:cNvPr id="38" name="Text 36"/>
          <p:cNvSpPr/>
          <p:nvPr/>
        </p:nvSpPr>
        <p:spPr>
          <a:xfrm>
            <a:off x="6446520" y="4562856"/>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08</a:t>
            </a:r>
            <a:endParaRPr lang="en-US" sz="1100" dirty="0"/>
          </a:p>
        </p:txBody>
      </p:sp>
      <p:sp>
        <p:nvSpPr>
          <p:cNvPr id="39" name="Text 37"/>
          <p:cNvSpPr/>
          <p:nvPr/>
        </p:nvSpPr>
        <p:spPr>
          <a:xfrm>
            <a:off x="6858000" y="4562856"/>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Relationships as a graph design.</a:t>
            </a:r>
            <a:endParaRPr lang="en-US" sz="1400" dirty="0"/>
          </a:p>
        </p:txBody>
      </p:sp>
      <p:sp>
        <p:nvSpPr>
          <p:cNvPr id="40" name="Text 38"/>
          <p:cNvSpPr/>
          <p:nvPr/>
        </p:nvSpPr>
        <p:spPr>
          <a:xfrm>
            <a:off x="6858000" y="4892040"/>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Visuals as the hub, two inactive paths to break ambiguity — not auto-detection, deliberate shape.</a:t>
            </a:r>
            <a:endParaRPr lang="en-US" sz="1100" dirty="0"/>
          </a:p>
        </p:txBody>
      </p:sp>
      <p:sp>
        <p:nvSpPr>
          <p:cNvPr id="41" name="Shape 39"/>
          <p:cNvSpPr/>
          <p:nvPr/>
        </p:nvSpPr>
        <p:spPr>
          <a:xfrm>
            <a:off x="548640" y="5477256"/>
            <a:ext cx="91440" cy="91440"/>
          </a:xfrm>
          <a:prstGeom prst="rect">
            <a:avLst/>
          </a:prstGeom>
          <a:solidFill>
            <a:srgbClr val="FF6348"/>
          </a:solidFill>
          <a:ln w="12700">
            <a:solidFill>
              <a:srgbClr val="FF6348"/>
            </a:solidFill>
            <a:prstDash val="solid"/>
          </a:ln>
        </p:spPr>
        <p:txBody>
          <a:bodyPr/>
          <a:lstStyle/>
          <a:p>
            <a:endParaRPr lang="en-DE"/>
          </a:p>
        </p:txBody>
      </p:sp>
      <p:sp>
        <p:nvSpPr>
          <p:cNvPr id="42" name="Text 40"/>
          <p:cNvSpPr/>
          <p:nvPr/>
        </p:nvSpPr>
        <p:spPr>
          <a:xfrm>
            <a:off x="731520" y="5367528"/>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09</a:t>
            </a:r>
            <a:endParaRPr lang="en-US" sz="1100" dirty="0"/>
          </a:p>
        </p:txBody>
      </p:sp>
      <p:sp>
        <p:nvSpPr>
          <p:cNvPr id="43" name="Text 41"/>
          <p:cNvSpPr/>
          <p:nvPr/>
        </p:nvSpPr>
        <p:spPr>
          <a:xfrm>
            <a:off x="1143000" y="5367528"/>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DAX HTML measures for last-mile UI.</a:t>
            </a:r>
            <a:endParaRPr lang="en-US" sz="1400" dirty="0"/>
          </a:p>
        </p:txBody>
      </p:sp>
      <p:sp>
        <p:nvSpPr>
          <p:cNvPr id="44" name="Text 42"/>
          <p:cNvSpPr/>
          <p:nvPr/>
        </p:nvSpPr>
        <p:spPr>
          <a:xfrm>
            <a:off x="1143000" y="5696712"/>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Slicer-sync and page-nav rendered through an HTML viewer — layout the native visual library can't do.</a:t>
            </a:r>
            <a:endParaRPr lang="en-US" sz="1100" dirty="0"/>
          </a:p>
        </p:txBody>
      </p:sp>
      <p:sp>
        <p:nvSpPr>
          <p:cNvPr id="45" name="Shape 43"/>
          <p:cNvSpPr/>
          <p:nvPr/>
        </p:nvSpPr>
        <p:spPr>
          <a:xfrm>
            <a:off x="6263640" y="5477256"/>
            <a:ext cx="91440" cy="91440"/>
          </a:xfrm>
          <a:prstGeom prst="rect">
            <a:avLst/>
          </a:prstGeom>
          <a:solidFill>
            <a:srgbClr val="72D4DC"/>
          </a:solidFill>
          <a:ln w="12700">
            <a:solidFill>
              <a:srgbClr val="72D4DC"/>
            </a:solidFill>
            <a:prstDash val="solid"/>
          </a:ln>
        </p:spPr>
        <p:txBody>
          <a:bodyPr/>
          <a:lstStyle/>
          <a:p>
            <a:endParaRPr lang="en-DE"/>
          </a:p>
        </p:txBody>
      </p:sp>
      <p:sp>
        <p:nvSpPr>
          <p:cNvPr id="46" name="Text 44"/>
          <p:cNvSpPr/>
          <p:nvPr/>
        </p:nvSpPr>
        <p:spPr>
          <a:xfrm>
            <a:off x="6446520" y="5367528"/>
            <a:ext cx="365760" cy="365760"/>
          </a:xfrm>
          <a:prstGeom prst="rect">
            <a:avLst/>
          </a:prstGeom>
          <a:noFill/>
          <a:ln/>
        </p:spPr>
        <p:txBody>
          <a:bodyPr wrap="square" lIns="0" tIns="0" rIns="0" bIns="0" rtlCol="0" anchor="ctr"/>
          <a:lstStyle/>
          <a:p>
            <a:pPr marL="0" indent="0">
              <a:buNone/>
            </a:pPr>
            <a:r>
              <a:rPr lang="en-US" sz="1100" b="1" kern="0" spc="100" dirty="0">
                <a:solidFill>
                  <a:srgbClr val="8B9296"/>
                </a:solidFill>
                <a:latin typeface="Source Code Pro" pitchFamily="34" charset="0"/>
                <a:ea typeface="Source Code Pro" pitchFamily="34" charset="-122"/>
                <a:cs typeface="Source Code Pro" pitchFamily="34" charset="-120"/>
              </a:rPr>
              <a:t>10</a:t>
            </a:r>
            <a:endParaRPr lang="en-US" sz="1100" dirty="0"/>
          </a:p>
        </p:txBody>
      </p:sp>
      <p:sp>
        <p:nvSpPr>
          <p:cNvPr id="47" name="Text 45"/>
          <p:cNvSpPr/>
          <p:nvPr/>
        </p:nvSpPr>
        <p:spPr>
          <a:xfrm>
            <a:off x="6858000" y="5367528"/>
            <a:ext cx="4754880" cy="365760"/>
          </a:xfrm>
          <a:prstGeom prst="rect">
            <a:avLst/>
          </a:prstGeom>
          <a:noFill/>
          <a:ln/>
        </p:spPr>
        <p:txBody>
          <a:bodyPr wrap="square" lIns="0" tIns="0" rIns="0" bIns="0" rtlCol="0" anchor="ctr"/>
          <a:lstStyle/>
          <a:p>
            <a:pPr marL="0" indent="0">
              <a:buNone/>
            </a:pPr>
            <a:r>
              <a:rPr lang="en-US" sz="1400" b="1" dirty="0">
                <a:solidFill>
                  <a:srgbClr val="2D3436"/>
                </a:solidFill>
                <a:latin typeface="Source Code Pro" pitchFamily="34" charset="0"/>
                <a:ea typeface="Source Code Pro" pitchFamily="34" charset="-122"/>
                <a:cs typeface="Source Code Pro" pitchFamily="34" charset="-120"/>
              </a:rPr>
              <a:t>fn_pbir_ParseQueryRef bridges layers.</a:t>
            </a:r>
            <a:endParaRPr lang="en-US" sz="1400" dirty="0"/>
          </a:p>
        </p:txBody>
      </p:sp>
      <p:sp>
        <p:nvSpPr>
          <p:cNvPr id="48" name="Text 46"/>
          <p:cNvSpPr/>
          <p:nvPr/>
        </p:nvSpPr>
        <p:spPr>
          <a:xfrm>
            <a:off x="6858000" y="5696712"/>
            <a:ext cx="4754880" cy="457200"/>
          </a:xfrm>
          <a:prstGeom prst="rect">
            <a:avLst/>
          </a:prstGeom>
          <a:noFill/>
          <a:ln/>
        </p:spPr>
        <p:txBody>
          <a:bodyPr wrap="square" lIns="0" tIns="0" rIns="0" bIns="0" rtlCol="0" anchor="ctr"/>
          <a:lstStyle/>
          <a:p>
            <a:pPr marL="0" indent="0">
              <a:buNone/>
            </a:pPr>
            <a:r>
              <a:rPr lang="en-US" sz="1100" dirty="0">
                <a:solidFill>
                  <a:srgbClr val="8B9296"/>
                </a:solidFill>
                <a:latin typeface="Source Code Pro" pitchFamily="34" charset="0"/>
                <a:ea typeface="Source Code Pro" pitchFamily="34" charset="-122"/>
                <a:cs typeface="Source Code Pro" pitchFamily="34" charset="-120"/>
              </a:rPr>
              <a:t>"Sum(Sales.Revenue)" in selector.metadata becomes a record — the seam that lets CF rules join the model inventory.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6304" cy="146304"/>
          </a:xfrm>
          <a:prstGeom prst="rect">
            <a:avLst/>
          </a:prstGeom>
          <a:solidFill>
            <a:srgbClr val="FF6348"/>
          </a:solidFill>
          <a:ln w="12700">
            <a:solidFill>
              <a:srgbClr val="FF6348"/>
            </a:solidFill>
            <a:prstDash val="solid"/>
          </a:ln>
        </p:spPr>
        <p:txBody>
          <a:bodyPr/>
          <a:lstStyle/>
          <a:p>
            <a:endParaRPr lang="en-DE"/>
          </a:p>
        </p:txBody>
      </p:sp>
      <p:sp>
        <p:nvSpPr>
          <p:cNvPr id="3" name="Shape 1"/>
          <p:cNvSpPr/>
          <p:nvPr/>
        </p:nvSpPr>
        <p:spPr>
          <a:xfrm>
            <a:off x="749808" y="585216"/>
            <a:ext cx="109728" cy="109728"/>
          </a:xfrm>
          <a:prstGeom prst="rect">
            <a:avLst/>
          </a:prstGeom>
          <a:solidFill>
            <a:srgbClr val="72D4DC"/>
          </a:solidFill>
          <a:ln w="12700">
            <a:solidFill>
              <a:srgbClr val="72D4DC"/>
            </a:solidFill>
            <a:prstDash val="solid"/>
          </a:ln>
        </p:spPr>
        <p:txBody>
          <a:bodyPr/>
          <a:lstStyle/>
          <a:p>
            <a:endParaRPr lang="en-DE"/>
          </a:p>
        </p:txBody>
      </p:sp>
      <p:sp>
        <p:nvSpPr>
          <p:cNvPr id="4" name="Text 2"/>
          <p:cNvSpPr/>
          <p:nvPr/>
        </p:nvSpPr>
        <p:spPr>
          <a:xfrm>
            <a:off x="548640" y="6446520"/>
            <a:ext cx="7315200" cy="274320"/>
          </a:xfrm>
          <a:prstGeom prst="rect">
            <a:avLst/>
          </a:prstGeom>
          <a:noFill/>
          <a:ln/>
        </p:spPr>
        <p:txBody>
          <a:bodyPr wrap="square" lIns="0" tIns="0" rIns="0" bIns="0" rtlCol="0" anchor="ctr"/>
          <a:lstStyle/>
          <a:p>
            <a:pPr marL="0" indent="0">
              <a:buNone/>
            </a:pPr>
            <a:r>
              <a:rPr lang="en-US" sz="900" b="1" kern="0" spc="200" dirty="0">
                <a:solidFill>
                  <a:srgbClr val="2D3436"/>
                </a:solidFill>
                <a:latin typeface="Source Code Pro" pitchFamily="34" charset="0"/>
                <a:ea typeface="Source Code Pro" pitchFamily="34" charset="-122"/>
                <a:cs typeface="Source Code Pro" pitchFamily="34" charset="-120"/>
              </a:rPr>
              <a:t>PBIR X-RAY</a:t>
            </a:r>
            <a:r>
              <a:rPr lang="en-US" sz="900" dirty="0">
                <a:solidFill>
                  <a:srgbClr val="C8D0D4"/>
                </a:solidFill>
                <a:latin typeface="Source Code Pro" pitchFamily="34" charset="0"/>
                <a:ea typeface="Source Code Pro" pitchFamily="34" charset="-122"/>
                <a:cs typeface="Source Code Pro" pitchFamily="34" charset="-120"/>
              </a:rPr>
              <a:t>  ·  </a:t>
            </a:r>
            <a:r>
              <a:rPr lang="en-US" sz="900" dirty="0">
                <a:solidFill>
                  <a:srgbClr val="8B9296"/>
                </a:solidFill>
                <a:latin typeface="Source Code Pro" pitchFamily="34" charset="0"/>
                <a:ea typeface="Source Code Pro" pitchFamily="34" charset="-122"/>
                <a:cs typeface="Source Code Pro" pitchFamily="34" charset="-120"/>
              </a:rPr>
              <a:t>GMACC4  ·  2026-05-09 &amp; 10</a:t>
            </a:r>
            <a:endParaRPr lang="en-US" sz="900" dirty="0"/>
          </a:p>
        </p:txBody>
      </p:sp>
      <p:sp>
        <p:nvSpPr>
          <p:cNvPr id="5" name="Text 3"/>
          <p:cNvSpPr/>
          <p:nvPr/>
        </p:nvSpPr>
        <p:spPr>
          <a:xfrm>
            <a:off x="9354312" y="6446520"/>
            <a:ext cx="2286000" cy="274320"/>
          </a:xfrm>
          <a:prstGeom prst="rect">
            <a:avLst/>
          </a:prstGeom>
          <a:noFill/>
          <a:ln/>
        </p:spPr>
        <p:txBody>
          <a:bodyPr wrap="square" lIns="0" tIns="0" rIns="0" bIns="0" rtlCol="0" anchor="ctr"/>
          <a:lstStyle/>
          <a:p>
            <a:pPr marL="0" indent="0" algn="r">
              <a:buNone/>
            </a:pPr>
            <a:r>
              <a:rPr lang="en-US" sz="900" i="1" dirty="0">
                <a:solidFill>
                  <a:srgbClr val="8B9296"/>
                </a:solidFill>
                <a:latin typeface="Source Code Pro" pitchFamily="34" charset="0"/>
                <a:ea typeface="Source Code Pro" pitchFamily="34" charset="-122"/>
                <a:cs typeface="Source Code Pro" pitchFamily="34" charset="-120"/>
              </a:rPr>
              <a:t>Appendix</a:t>
            </a:r>
            <a:endParaRPr lang="en-US" sz="900" dirty="0"/>
          </a:p>
        </p:txBody>
      </p:sp>
      <p:sp>
        <p:nvSpPr>
          <p:cNvPr id="6" name="Text 4"/>
          <p:cNvSpPr/>
          <p:nvPr/>
        </p:nvSpPr>
        <p:spPr>
          <a:xfrm>
            <a:off x="548640" y="1097280"/>
            <a:ext cx="11091672" cy="274320"/>
          </a:xfrm>
          <a:prstGeom prst="rect">
            <a:avLst/>
          </a:prstGeom>
          <a:noFill/>
          <a:ln/>
        </p:spPr>
        <p:txBody>
          <a:bodyPr wrap="square" lIns="0" tIns="0" rIns="0" bIns="0" rtlCol="0" anchor="ctr"/>
          <a:lstStyle/>
          <a:p>
            <a:pPr marL="0" indent="0">
              <a:buNone/>
            </a:pPr>
            <a:r>
              <a:rPr lang="en-US" sz="1100" b="1" kern="0" spc="400" dirty="0">
                <a:solidFill>
                  <a:srgbClr val="FF6348"/>
                </a:solidFill>
                <a:latin typeface="Source Code Pro" pitchFamily="34" charset="0"/>
                <a:ea typeface="Source Code Pro" pitchFamily="34" charset="-122"/>
                <a:cs typeface="Source Code Pro" pitchFamily="34" charset="-120"/>
              </a:rPr>
              <a:t>APPENDIX  ·  KNOWN LIMITATION</a:t>
            </a:r>
            <a:endParaRPr lang="en-US" sz="1100" dirty="0"/>
          </a:p>
        </p:txBody>
      </p:sp>
      <p:sp>
        <p:nvSpPr>
          <p:cNvPr id="7" name="Text 5"/>
          <p:cNvSpPr/>
          <p:nvPr/>
        </p:nvSpPr>
        <p:spPr>
          <a:xfrm>
            <a:off x="548640" y="1417320"/>
            <a:ext cx="11091672" cy="548640"/>
          </a:xfrm>
          <a:prstGeom prst="rect">
            <a:avLst/>
          </a:prstGeom>
          <a:noFill/>
          <a:ln/>
        </p:spPr>
        <p:txBody>
          <a:bodyPr wrap="square" lIns="0" tIns="0" rIns="0" bIns="0" rtlCol="0" anchor="t"/>
          <a:lstStyle/>
          <a:p>
            <a:pPr marL="0" indent="0">
              <a:buNone/>
            </a:pPr>
            <a:r>
              <a:rPr lang="en-US" sz="2800" b="1" kern="0" spc="100" dirty="0">
                <a:solidFill>
                  <a:srgbClr val="2D3436"/>
                </a:solidFill>
                <a:latin typeface="Source Code Pro" pitchFamily="34" charset="0"/>
                <a:ea typeface="Source Code Pro" pitchFamily="34" charset="-122"/>
                <a:cs typeface="Source Code Pro" pitchFamily="34" charset="-120"/>
              </a:rPr>
              <a:t>What “unused” really means.</a:t>
            </a:r>
            <a:endParaRPr lang="en-US" sz="2800" dirty="0"/>
          </a:p>
        </p:txBody>
      </p:sp>
      <p:sp>
        <p:nvSpPr>
          <p:cNvPr id="8" name="Text 6"/>
          <p:cNvSpPr/>
          <p:nvPr/>
        </p:nvSpPr>
        <p:spPr>
          <a:xfrm>
            <a:off x="548640" y="1965960"/>
            <a:ext cx="11091672" cy="640080"/>
          </a:xfrm>
          <a:prstGeom prst="rect">
            <a:avLst/>
          </a:prstGeom>
          <a:noFill/>
          <a:ln/>
        </p:spPr>
        <p:txBody>
          <a:bodyPr wrap="square" lIns="0" tIns="0" rIns="0" bIns="0" rtlCol="0" anchor="ctr"/>
          <a:lstStyle/>
          <a:p>
            <a:pPr marL="0" indent="0">
              <a:buNone/>
            </a:pPr>
            <a:r>
              <a:rPr lang="en-US" sz="1200" i="1" dirty="0">
                <a:solidFill>
                  <a:srgbClr val="8B9296"/>
                </a:solidFill>
                <a:latin typeface="Source Code Pro" pitchFamily="34" charset="0"/>
                <a:ea typeface="Source Code Pro" pitchFamily="34" charset="-122"/>
                <a:cs typeface="Source Code Pro" pitchFamily="34" charset="-120"/>
              </a:rPr>
              <a:t>UnusedObjectsFinder_pbir is a thin dedup over ModelReferences_pbir. It answers “which model objects does this report touch?” — not “which model objects are unused?” That distinction matters more in a thin-report world.</a:t>
            </a:r>
            <a:endParaRPr lang="en-US" sz="1200" dirty="0"/>
          </a:p>
        </p:txBody>
      </p:sp>
      <p:sp>
        <p:nvSpPr>
          <p:cNvPr id="9" name="Text 7"/>
          <p:cNvSpPr/>
          <p:nvPr/>
        </p:nvSpPr>
        <p:spPr>
          <a:xfrm>
            <a:off x="548640" y="2880360"/>
            <a:ext cx="5486400" cy="365760"/>
          </a:xfrm>
          <a:prstGeom prst="rect">
            <a:avLst/>
          </a:prstGeom>
          <a:noFill/>
          <a:ln/>
        </p:spPr>
        <p:txBody>
          <a:bodyPr wrap="square" lIns="0" tIns="0" rIns="0" bIns="0" rtlCol="0" anchor="ctr"/>
          <a:lstStyle/>
          <a:p>
            <a:pPr marL="0" indent="0">
              <a:buNone/>
            </a:pPr>
            <a:r>
              <a:rPr lang="en-US" sz="1600" b="1" dirty="0">
                <a:solidFill>
                  <a:srgbClr val="FF6348"/>
                </a:solidFill>
                <a:latin typeface="Source Code Pro" pitchFamily="34" charset="0"/>
                <a:ea typeface="Source Code Pro" pitchFamily="34" charset="-122"/>
                <a:cs typeface="Source Code Pro" pitchFamily="34" charset="-120"/>
              </a:rPr>
              <a:t>The new problem.</a:t>
            </a:r>
            <a:endParaRPr lang="en-US" sz="1600" dirty="0"/>
          </a:p>
        </p:txBody>
      </p:sp>
      <p:sp>
        <p:nvSpPr>
          <p:cNvPr id="10" name="Text 8"/>
          <p:cNvSpPr/>
          <p:nvPr/>
        </p:nvSpPr>
        <p:spPr>
          <a:xfrm>
            <a:off x="548640" y="3291840"/>
            <a:ext cx="5486400" cy="1188720"/>
          </a:xfrm>
          <a:prstGeom prst="rect">
            <a:avLst/>
          </a:prstGeom>
          <a:noFill/>
          <a:ln/>
        </p:spPr>
        <p:txBody>
          <a:bodyPr wrap="square" lIns="0" tIns="0" rIns="0" bIns="0" rtlCol="0" anchor="ctr"/>
          <a:lstStyle/>
          <a:p>
            <a:pPr marL="0" indent="0">
              <a:buNone/>
            </a:pPr>
            <a:r>
              <a:rPr lang="en-US" sz="1200" dirty="0">
                <a:solidFill>
                  <a:srgbClr val="2D3436"/>
                </a:solidFill>
                <a:latin typeface="Source Code Pro" pitchFamily="34" charset="0"/>
                <a:ea typeface="Source Code Pro" pitchFamily="34" charset="-122"/>
                <a:cs typeface="Source Code Pro" pitchFamily="34" charset="-120"/>
              </a:rPr>
              <a:t>When a shared semantic model is consumed by multiple thin reports, no single report can answer “is this measure unused?” Report A doesn’t know about Report B. “Unused locally” ≠ “unused globally.”</a:t>
            </a:r>
            <a:endParaRPr lang="en-US" sz="1200" dirty="0"/>
          </a:p>
        </p:txBody>
      </p:sp>
      <p:sp>
        <p:nvSpPr>
          <p:cNvPr id="11" name="Text 9"/>
          <p:cNvSpPr/>
          <p:nvPr/>
        </p:nvSpPr>
        <p:spPr>
          <a:xfrm>
            <a:off x="548640" y="4663440"/>
            <a:ext cx="5486400" cy="365760"/>
          </a:xfrm>
          <a:prstGeom prst="rect">
            <a:avLst/>
          </a:prstGeom>
          <a:noFill/>
          <a:ln/>
        </p:spPr>
        <p:txBody>
          <a:bodyPr wrap="square" lIns="0" tIns="0" rIns="0" bIns="0" rtlCol="0" anchor="ctr"/>
          <a:lstStyle/>
          <a:p>
            <a:pPr marL="0" indent="0">
              <a:buNone/>
            </a:pPr>
            <a:r>
              <a:rPr lang="en-US" sz="1600" b="1" dirty="0">
                <a:solidFill>
                  <a:srgbClr val="2D3436"/>
                </a:solidFill>
                <a:latin typeface="Source Code Pro" pitchFamily="34" charset="0"/>
                <a:ea typeface="Source Code Pro" pitchFamily="34" charset="-122"/>
                <a:cs typeface="Source Code Pro" pitchFamily="34" charset="-120"/>
              </a:rPr>
              <a:t>The path forward.</a:t>
            </a:r>
            <a:endParaRPr lang="en-US" sz="1600" dirty="0"/>
          </a:p>
        </p:txBody>
      </p:sp>
      <p:sp>
        <p:nvSpPr>
          <p:cNvPr id="12" name="Text 10"/>
          <p:cNvSpPr/>
          <p:nvPr/>
        </p:nvSpPr>
        <p:spPr>
          <a:xfrm>
            <a:off x="548640" y="5074920"/>
            <a:ext cx="5486400" cy="12801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8B9296"/>
                </a:solidFill>
                <a:latin typeface="Source Code Pro" pitchFamily="34" charset="0"/>
                <a:ea typeface="Source Code Pro" pitchFamily="34" charset="-122"/>
                <a:cs typeface="Source Code Pro" pitchFamily="34" charset="-120"/>
              </a:rPr>
              <a:t>Walk every thin report folder, not just one</a:t>
            </a:r>
            <a:endParaRPr lang="en-US" sz="1200" dirty="0"/>
          </a:p>
          <a:p>
            <a:pPr marL="342900" indent="-342900">
              <a:spcAft>
                <a:spcPts val="400"/>
              </a:spcAft>
              <a:buSzPct val="100000"/>
              <a:buChar char="•"/>
            </a:pPr>
            <a:r>
              <a:rPr lang="en-US" sz="1200" dirty="0">
                <a:solidFill>
                  <a:srgbClr val="8B9296"/>
                </a:solidFill>
                <a:latin typeface="Source Code Pro" pitchFamily="34" charset="0"/>
                <a:ea typeface="Source Code Pro" pitchFamily="34" charset="-122"/>
                <a:cs typeface="Source Code Pro" pitchFamily="34" charset="-120"/>
              </a:rPr>
              <a:t>Aggregate used-object sets across reports</a:t>
            </a:r>
            <a:endParaRPr lang="en-US" sz="1200" dirty="0"/>
          </a:p>
          <a:p>
            <a:pPr marL="342900" indent="-342900">
              <a:spcAft>
                <a:spcPts val="400"/>
              </a:spcAft>
              <a:buSzPct val="100000"/>
              <a:buChar char="•"/>
            </a:pPr>
            <a:r>
              <a:rPr lang="en-US" sz="1200" dirty="0">
                <a:solidFill>
                  <a:srgbClr val="8B9296"/>
                </a:solidFill>
                <a:latin typeface="Source Code Pro" pitchFamily="34" charset="0"/>
                <a:ea typeface="Source Code Pro" pitchFamily="34" charset="-122"/>
                <a:cs typeface="Source Code Pro" pitchFamily="34" charset="-120"/>
              </a:rPr>
              <a:t>Anti-join the union against the model inventory</a:t>
            </a:r>
            <a:endParaRPr lang="en-US" sz="1200" dirty="0"/>
          </a:p>
        </p:txBody>
      </p:sp>
      <p:sp>
        <p:nvSpPr>
          <p:cNvPr id="13" name="Shape 11"/>
          <p:cNvSpPr/>
          <p:nvPr/>
        </p:nvSpPr>
        <p:spPr>
          <a:xfrm>
            <a:off x="6400800" y="2880360"/>
            <a:ext cx="5239512" cy="3383280"/>
          </a:xfrm>
          <a:prstGeom prst="rect">
            <a:avLst/>
          </a:prstGeom>
          <a:solidFill>
            <a:srgbClr val="E8E8E8"/>
          </a:solidFill>
          <a:ln w="6350">
            <a:solidFill>
              <a:srgbClr val="C8D0D4"/>
            </a:solidFill>
            <a:prstDash val="solid"/>
          </a:ln>
        </p:spPr>
        <p:txBody>
          <a:bodyPr/>
          <a:lstStyle/>
          <a:p>
            <a:endParaRPr lang="en-DE"/>
          </a:p>
        </p:txBody>
      </p:sp>
      <p:sp>
        <p:nvSpPr>
          <p:cNvPr id="14" name="Text 12"/>
          <p:cNvSpPr/>
          <p:nvPr/>
        </p:nvSpPr>
        <p:spPr>
          <a:xfrm>
            <a:off x="6629400" y="3063240"/>
            <a:ext cx="4782312" cy="228600"/>
          </a:xfrm>
          <a:prstGeom prst="rect">
            <a:avLst/>
          </a:prstGeom>
          <a:noFill/>
          <a:ln/>
        </p:spPr>
        <p:txBody>
          <a:bodyPr wrap="square" lIns="0" tIns="0" rIns="0" bIns="0" rtlCol="0" anchor="ctr"/>
          <a:lstStyle/>
          <a:p>
            <a:pPr marL="0" indent="0">
              <a:buNone/>
            </a:pPr>
            <a:r>
              <a:rPr lang="en-US" sz="900" b="1" kern="0" spc="300" dirty="0">
                <a:solidFill>
                  <a:srgbClr val="8B9296"/>
                </a:solidFill>
                <a:latin typeface="Source Code Pro" pitchFamily="34" charset="0"/>
                <a:ea typeface="Source Code Pro" pitchFamily="34" charset="-122"/>
                <a:cs typeface="Source Code Pro" pitchFamily="34" charset="-120"/>
              </a:rPr>
              <a:t>TODAY</a:t>
            </a:r>
            <a:endParaRPr lang="en-US" sz="900" dirty="0"/>
          </a:p>
        </p:txBody>
      </p:sp>
      <p:sp>
        <p:nvSpPr>
          <p:cNvPr id="15" name="Shape 13"/>
          <p:cNvSpPr/>
          <p:nvPr/>
        </p:nvSpPr>
        <p:spPr>
          <a:xfrm>
            <a:off x="8334756" y="3355848"/>
            <a:ext cx="1371600" cy="411480"/>
          </a:xfrm>
          <a:prstGeom prst="rect">
            <a:avLst/>
          </a:prstGeom>
          <a:solidFill>
            <a:srgbClr val="FFFFFF"/>
          </a:solidFill>
          <a:ln w="12700">
            <a:solidFill>
              <a:srgbClr val="2D3436"/>
            </a:solidFill>
            <a:prstDash val="solid"/>
          </a:ln>
        </p:spPr>
        <p:txBody>
          <a:bodyPr/>
          <a:lstStyle/>
          <a:p>
            <a:endParaRPr lang="en-DE"/>
          </a:p>
        </p:txBody>
      </p:sp>
      <p:sp>
        <p:nvSpPr>
          <p:cNvPr id="16" name="Text 14"/>
          <p:cNvSpPr/>
          <p:nvPr/>
        </p:nvSpPr>
        <p:spPr>
          <a:xfrm>
            <a:off x="8334756" y="3355848"/>
            <a:ext cx="1371600" cy="411480"/>
          </a:xfrm>
          <a:prstGeom prst="rect">
            <a:avLst/>
          </a:prstGeom>
          <a:noFill/>
          <a:ln/>
        </p:spPr>
        <p:txBody>
          <a:bodyPr wrap="square" lIns="0" tIns="0" rIns="0" bIns="0" rtlCol="0" anchor="ctr"/>
          <a:lstStyle/>
          <a:p>
            <a:pPr marL="0" indent="0" algn="ctr">
              <a:buNone/>
            </a:pPr>
            <a:r>
              <a:rPr lang="en-US" sz="1100" b="1" dirty="0">
                <a:solidFill>
                  <a:srgbClr val="2D3436"/>
                </a:solidFill>
                <a:latin typeface="Source Code Pro" pitchFamily="34" charset="0"/>
                <a:ea typeface="Source Code Pro" pitchFamily="34" charset="-122"/>
                <a:cs typeface="Source Code Pro" pitchFamily="34" charset="-120"/>
              </a:rPr>
              <a:t>Model</a:t>
            </a:r>
            <a:endParaRPr lang="en-US" sz="1100" dirty="0"/>
          </a:p>
        </p:txBody>
      </p:sp>
      <p:sp>
        <p:nvSpPr>
          <p:cNvPr id="17" name="Shape 15"/>
          <p:cNvSpPr/>
          <p:nvPr/>
        </p:nvSpPr>
        <p:spPr>
          <a:xfrm>
            <a:off x="9020556" y="3767328"/>
            <a:ext cx="0" cy="201168"/>
          </a:xfrm>
          <a:prstGeom prst="line">
            <a:avLst/>
          </a:prstGeom>
          <a:noFill/>
          <a:ln w="12700">
            <a:solidFill>
              <a:srgbClr val="8B9296"/>
            </a:solidFill>
            <a:prstDash val="solid"/>
          </a:ln>
        </p:spPr>
        <p:txBody>
          <a:bodyPr/>
          <a:lstStyle/>
          <a:p>
            <a:endParaRPr lang="en-DE"/>
          </a:p>
        </p:txBody>
      </p:sp>
      <p:sp>
        <p:nvSpPr>
          <p:cNvPr id="18" name="Shape 16"/>
          <p:cNvSpPr/>
          <p:nvPr/>
        </p:nvSpPr>
        <p:spPr>
          <a:xfrm>
            <a:off x="8334756" y="4014216"/>
            <a:ext cx="1371600" cy="365760"/>
          </a:xfrm>
          <a:prstGeom prst="rect">
            <a:avLst/>
          </a:prstGeom>
          <a:solidFill>
            <a:srgbClr val="FFFFFF"/>
          </a:solidFill>
          <a:ln w="12700">
            <a:solidFill>
              <a:srgbClr val="2D3436"/>
            </a:solidFill>
            <a:prstDash val="solid"/>
          </a:ln>
        </p:spPr>
        <p:txBody>
          <a:bodyPr/>
          <a:lstStyle/>
          <a:p>
            <a:endParaRPr lang="en-DE"/>
          </a:p>
        </p:txBody>
      </p:sp>
      <p:sp>
        <p:nvSpPr>
          <p:cNvPr id="19" name="Text 17"/>
          <p:cNvSpPr/>
          <p:nvPr/>
        </p:nvSpPr>
        <p:spPr>
          <a:xfrm>
            <a:off x="8334756" y="4014216"/>
            <a:ext cx="1371600" cy="365760"/>
          </a:xfrm>
          <a:prstGeom prst="rect">
            <a:avLst/>
          </a:prstGeom>
          <a:noFill/>
          <a:ln/>
        </p:spPr>
        <p:txBody>
          <a:bodyPr wrap="square" lIns="0" tIns="0" rIns="0" bIns="0" rtlCol="0" anchor="ctr"/>
          <a:lstStyle/>
          <a:p>
            <a:pPr marL="0" indent="0" algn="ctr">
              <a:buNone/>
            </a:pPr>
            <a:r>
              <a:rPr lang="en-US" sz="1000" b="1" dirty="0">
                <a:solidFill>
                  <a:srgbClr val="2D3436"/>
                </a:solidFill>
                <a:latin typeface="Source Code Pro" pitchFamily="34" charset="0"/>
                <a:ea typeface="Source Code Pro" pitchFamily="34" charset="-122"/>
                <a:cs typeface="Source Code Pro" pitchFamily="34" charset="-120"/>
              </a:rPr>
              <a:t>Report</a:t>
            </a:r>
            <a:endParaRPr lang="en-US" sz="1000" dirty="0"/>
          </a:p>
        </p:txBody>
      </p:sp>
      <p:sp>
        <p:nvSpPr>
          <p:cNvPr id="20" name="Text 18"/>
          <p:cNvSpPr/>
          <p:nvPr/>
        </p:nvSpPr>
        <p:spPr>
          <a:xfrm>
            <a:off x="6629400" y="4425696"/>
            <a:ext cx="4782312" cy="201168"/>
          </a:xfrm>
          <a:prstGeom prst="rect">
            <a:avLst/>
          </a:prstGeom>
          <a:noFill/>
          <a:ln/>
        </p:spPr>
        <p:txBody>
          <a:bodyPr wrap="square" lIns="0" tIns="0" rIns="0" bIns="0" rtlCol="0" anchor="ctr"/>
          <a:lstStyle/>
          <a:p>
            <a:pPr marL="0" indent="0" algn="ctr">
              <a:buNone/>
            </a:pPr>
            <a:r>
              <a:rPr lang="en-US" sz="900" i="1" dirty="0">
                <a:solidFill>
                  <a:srgbClr val="72D4DC"/>
                </a:solidFill>
                <a:latin typeface="Source Code Pro" pitchFamily="34" charset="0"/>
                <a:ea typeface="Source Code Pro" pitchFamily="34" charset="-122"/>
                <a:cs typeface="Source Code Pro" pitchFamily="34" charset="-120"/>
              </a:rPr>
              <a:t>✓  one report → “used” = the truth</a:t>
            </a:r>
            <a:endParaRPr lang="en-US" sz="900" dirty="0"/>
          </a:p>
        </p:txBody>
      </p:sp>
      <p:sp>
        <p:nvSpPr>
          <p:cNvPr id="21" name="Shape 19"/>
          <p:cNvSpPr/>
          <p:nvPr/>
        </p:nvSpPr>
        <p:spPr>
          <a:xfrm>
            <a:off x="6766560" y="4663440"/>
            <a:ext cx="4507992" cy="0"/>
          </a:xfrm>
          <a:prstGeom prst="line">
            <a:avLst/>
          </a:prstGeom>
          <a:noFill/>
          <a:ln w="6350">
            <a:solidFill>
              <a:srgbClr val="C8D0D4"/>
            </a:solidFill>
            <a:prstDash val="dash"/>
          </a:ln>
        </p:spPr>
        <p:txBody>
          <a:bodyPr/>
          <a:lstStyle/>
          <a:p>
            <a:endParaRPr lang="en-DE"/>
          </a:p>
        </p:txBody>
      </p:sp>
      <p:sp>
        <p:nvSpPr>
          <p:cNvPr id="22" name="Text 20"/>
          <p:cNvSpPr/>
          <p:nvPr/>
        </p:nvSpPr>
        <p:spPr>
          <a:xfrm>
            <a:off x="6629400" y="4736592"/>
            <a:ext cx="4782312" cy="228600"/>
          </a:xfrm>
          <a:prstGeom prst="rect">
            <a:avLst/>
          </a:prstGeom>
          <a:noFill/>
          <a:ln/>
        </p:spPr>
        <p:txBody>
          <a:bodyPr wrap="square" lIns="0" tIns="0" rIns="0" bIns="0" rtlCol="0" anchor="ctr"/>
          <a:lstStyle/>
          <a:p>
            <a:pPr marL="0" indent="0">
              <a:buNone/>
            </a:pPr>
            <a:r>
              <a:rPr lang="en-US" sz="900" b="1" kern="0" spc="300" dirty="0">
                <a:solidFill>
                  <a:srgbClr val="FF6348"/>
                </a:solidFill>
                <a:latin typeface="Source Code Pro" pitchFamily="34" charset="0"/>
                <a:ea typeface="Source Code Pro" pitchFamily="34" charset="-122"/>
                <a:cs typeface="Source Code Pro" pitchFamily="34" charset="-120"/>
              </a:rPr>
              <a:t>TOMORROW</a:t>
            </a:r>
            <a:endParaRPr lang="en-US" sz="900" dirty="0"/>
          </a:p>
        </p:txBody>
      </p:sp>
      <p:sp>
        <p:nvSpPr>
          <p:cNvPr id="23" name="Shape 21"/>
          <p:cNvSpPr/>
          <p:nvPr/>
        </p:nvSpPr>
        <p:spPr>
          <a:xfrm>
            <a:off x="8334756" y="5010912"/>
            <a:ext cx="1371600" cy="411480"/>
          </a:xfrm>
          <a:prstGeom prst="rect">
            <a:avLst/>
          </a:prstGeom>
          <a:solidFill>
            <a:srgbClr val="FFFFFF"/>
          </a:solidFill>
          <a:ln w="19050">
            <a:solidFill>
              <a:srgbClr val="FF6348"/>
            </a:solidFill>
            <a:prstDash val="solid"/>
          </a:ln>
        </p:spPr>
        <p:txBody>
          <a:bodyPr/>
          <a:lstStyle/>
          <a:p>
            <a:endParaRPr lang="en-DE"/>
          </a:p>
        </p:txBody>
      </p:sp>
      <p:sp>
        <p:nvSpPr>
          <p:cNvPr id="24" name="Text 22"/>
          <p:cNvSpPr/>
          <p:nvPr/>
        </p:nvSpPr>
        <p:spPr>
          <a:xfrm>
            <a:off x="8334756" y="5010912"/>
            <a:ext cx="1371600" cy="411480"/>
          </a:xfrm>
          <a:prstGeom prst="rect">
            <a:avLst/>
          </a:prstGeom>
          <a:noFill/>
          <a:ln/>
        </p:spPr>
        <p:txBody>
          <a:bodyPr wrap="square" lIns="0" tIns="0" rIns="0" bIns="0" rtlCol="0" anchor="ctr"/>
          <a:lstStyle/>
          <a:p>
            <a:pPr marL="0" indent="0" algn="ctr">
              <a:buNone/>
            </a:pPr>
            <a:r>
              <a:rPr lang="en-US" sz="1100" b="1" dirty="0">
                <a:solidFill>
                  <a:srgbClr val="2D3436"/>
                </a:solidFill>
                <a:latin typeface="Source Code Pro" pitchFamily="34" charset="0"/>
                <a:ea typeface="Source Code Pro" pitchFamily="34" charset="-122"/>
                <a:cs typeface="Source Code Pro" pitchFamily="34" charset="-120"/>
              </a:rPr>
              <a:t>Model</a:t>
            </a:r>
            <a:endParaRPr lang="en-US" sz="1100" dirty="0"/>
          </a:p>
        </p:txBody>
      </p:sp>
      <p:sp>
        <p:nvSpPr>
          <p:cNvPr id="25" name="Shape 23"/>
          <p:cNvSpPr/>
          <p:nvPr/>
        </p:nvSpPr>
        <p:spPr>
          <a:xfrm flipH="1">
            <a:off x="7950708" y="5422392"/>
            <a:ext cx="1069848" cy="292608"/>
          </a:xfrm>
          <a:prstGeom prst="line">
            <a:avLst/>
          </a:prstGeom>
          <a:noFill/>
          <a:ln w="12700">
            <a:solidFill>
              <a:srgbClr val="8B9296"/>
            </a:solidFill>
            <a:prstDash val="solid"/>
          </a:ln>
        </p:spPr>
        <p:txBody>
          <a:bodyPr/>
          <a:lstStyle/>
          <a:p>
            <a:endParaRPr lang="en-DE"/>
          </a:p>
        </p:txBody>
      </p:sp>
      <p:sp>
        <p:nvSpPr>
          <p:cNvPr id="26" name="Shape 24"/>
          <p:cNvSpPr/>
          <p:nvPr/>
        </p:nvSpPr>
        <p:spPr>
          <a:xfrm>
            <a:off x="7516368" y="5715000"/>
            <a:ext cx="868680" cy="329184"/>
          </a:xfrm>
          <a:prstGeom prst="rect">
            <a:avLst/>
          </a:prstGeom>
          <a:solidFill>
            <a:srgbClr val="FFFFFF"/>
          </a:solidFill>
          <a:ln w="12700">
            <a:solidFill>
              <a:srgbClr val="2D3436"/>
            </a:solidFill>
            <a:prstDash val="solid"/>
          </a:ln>
        </p:spPr>
        <p:txBody>
          <a:bodyPr/>
          <a:lstStyle/>
          <a:p>
            <a:endParaRPr lang="en-DE"/>
          </a:p>
        </p:txBody>
      </p:sp>
      <p:sp>
        <p:nvSpPr>
          <p:cNvPr id="27" name="Text 25"/>
          <p:cNvSpPr/>
          <p:nvPr/>
        </p:nvSpPr>
        <p:spPr>
          <a:xfrm>
            <a:off x="7516368" y="5715000"/>
            <a:ext cx="868680" cy="329184"/>
          </a:xfrm>
          <a:prstGeom prst="rect">
            <a:avLst/>
          </a:prstGeom>
          <a:noFill/>
          <a:ln/>
        </p:spPr>
        <p:txBody>
          <a:bodyPr wrap="square" lIns="0" tIns="0" rIns="0" bIns="0" rtlCol="0" anchor="ctr"/>
          <a:lstStyle/>
          <a:p>
            <a:pPr marL="0" indent="0" algn="ctr">
              <a:buNone/>
            </a:pPr>
            <a:r>
              <a:rPr lang="en-US" sz="900" b="1" dirty="0">
                <a:solidFill>
                  <a:srgbClr val="2D3436"/>
                </a:solidFill>
                <a:latin typeface="Source Code Pro" pitchFamily="34" charset="0"/>
                <a:ea typeface="Source Code Pro" pitchFamily="34" charset="-122"/>
                <a:cs typeface="Source Code Pro" pitchFamily="34" charset="-120"/>
              </a:rPr>
              <a:t>Thin 1</a:t>
            </a:r>
            <a:endParaRPr lang="en-US" sz="900" dirty="0"/>
          </a:p>
        </p:txBody>
      </p:sp>
      <p:sp>
        <p:nvSpPr>
          <p:cNvPr id="28" name="Shape 26"/>
          <p:cNvSpPr/>
          <p:nvPr/>
        </p:nvSpPr>
        <p:spPr>
          <a:xfrm>
            <a:off x="9020556" y="5422392"/>
            <a:ext cx="0" cy="292608"/>
          </a:xfrm>
          <a:prstGeom prst="line">
            <a:avLst/>
          </a:prstGeom>
          <a:noFill/>
          <a:ln w="12700">
            <a:solidFill>
              <a:srgbClr val="8B9296"/>
            </a:solidFill>
            <a:prstDash val="solid"/>
          </a:ln>
        </p:spPr>
        <p:txBody>
          <a:bodyPr/>
          <a:lstStyle/>
          <a:p>
            <a:endParaRPr lang="en-DE"/>
          </a:p>
        </p:txBody>
      </p:sp>
      <p:sp>
        <p:nvSpPr>
          <p:cNvPr id="29" name="Shape 27"/>
          <p:cNvSpPr/>
          <p:nvPr/>
        </p:nvSpPr>
        <p:spPr>
          <a:xfrm>
            <a:off x="8586216" y="5715000"/>
            <a:ext cx="868680" cy="329184"/>
          </a:xfrm>
          <a:prstGeom prst="rect">
            <a:avLst/>
          </a:prstGeom>
          <a:solidFill>
            <a:srgbClr val="FFFFFF"/>
          </a:solidFill>
          <a:ln w="12700">
            <a:solidFill>
              <a:srgbClr val="2D3436"/>
            </a:solidFill>
            <a:prstDash val="solid"/>
          </a:ln>
        </p:spPr>
        <p:txBody>
          <a:bodyPr/>
          <a:lstStyle/>
          <a:p>
            <a:endParaRPr lang="en-DE"/>
          </a:p>
        </p:txBody>
      </p:sp>
      <p:sp>
        <p:nvSpPr>
          <p:cNvPr id="30" name="Text 28"/>
          <p:cNvSpPr/>
          <p:nvPr/>
        </p:nvSpPr>
        <p:spPr>
          <a:xfrm>
            <a:off x="8586216" y="5715000"/>
            <a:ext cx="868680" cy="329184"/>
          </a:xfrm>
          <a:prstGeom prst="rect">
            <a:avLst/>
          </a:prstGeom>
          <a:noFill/>
          <a:ln/>
        </p:spPr>
        <p:txBody>
          <a:bodyPr wrap="square" lIns="0" tIns="0" rIns="0" bIns="0" rtlCol="0" anchor="ctr"/>
          <a:lstStyle/>
          <a:p>
            <a:pPr marL="0" indent="0" algn="ctr">
              <a:buNone/>
            </a:pPr>
            <a:r>
              <a:rPr lang="en-US" sz="900" b="1" dirty="0">
                <a:solidFill>
                  <a:srgbClr val="2D3436"/>
                </a:solidFill>
                <a:latin typeface="Source Code Pro" pitchFamily="34" charset="0"/>
                <a:ea typeface="Source Code Pro" pitchFamily="34" charset="-122"/>
                <a:cs typeface="Source Code Pro" pitchFamily="34" charset="-120"/>
              </a:rPr>
              <a:t>Thin 2</a:t>
            </a:r>
            <a:endParaRPr lang="en-US" sz="900" dirty="0"/>
          </a:p>
        </p:txBody>
      </p:sp>
      <p:sp>
        <p:nvSpPr>
          <p:cNvPr id="31" name="Shape 29"/>
          <p:cNvSpPr/>
          <p:nvPr/>
        </p:nvSpPr>
        <p:spPr>
          <a:xfrm>
            <a:off x="9020556" y="5422392"/>
            <a:ext cx="1069848" cy="292608"/>
          </a:xfrm>
          <a:prstGeom prst="line">
            <a:avLst/>
          </a:prstGeom>
          <a:noFill/>
          <a:ln w="12700">
            <a:solidFill>
              <a:srgbClr val="8B9296"/>
            </a:solidFill>
            <a:prstDash val="solid"/>
          </a:ln>
        </p:spPr>
        <p:txBody>
          <a:bodyPr/>
          <a:lstStyle/>
          <a:p>
            <a:endParaRPr lang="en-DE"/>
          </a:p>
        </p:txBody>
      </p:sp>
      <p:sp>
        <p:nvSpPr>
          <p:cNvPr id="32" name="Shape 30"/>
          <p:cNvSpPr/>
          <p:nvPr/>
        </p:nvSpPr>
        <p:spPr>
          <a:xfrm>
            <a:off x="9656064" y="5715000"/>
            <a:ext cx="868680" cy="329184"/>
          </a:xfrm>
          <a:prstGeom prst="rect">
            <a:avLst/>
          </a:prstGeom>
          <a:solidFill>
            <a:srgbClr val="FFFFFF"/>
          </a:solidFill>
          <a:ln w="12700">
            <a:solidFill>
              <a:srgbClr val="2D3436"/>
            </a:solidFill>
            <a:prstDash val="solid"/>
          </a:ln>
        </p:spPr>
        <p:txBody>
          <a:bodyPr/>
          <a:lstStyle/>
          <a:p>
            <a:endParaRPr lang="en-DE"/>
          </a:p>
        </p:txBody>
      </p:sp>
      <p:sp>
        <p:nvSpPr>
          <p:cNvPr id="33" name="Text 31"/>
          <p:cNvSpPr/>
          <p:nvPr/>
        </p:nvSpPr>
        <p:spPr>
          <a:xfrm>
            <a:off x="9656064" y="5715000"/>
            <a:ext cx="868680" cy="329184"/>
          </a:xfrm>
          <a:prstGeom prst="rect">
            <a:avLst/>
          </a:prstGeom>
          <a:noFill/>
          <a:ln/>
        </p:spPr>
        <p:txBody>
          <a:bodyPr wrap="square" lIns="0" tIns="0" rIns="0" bIns="0" rtlCol="0" anchor="ctr"/>
          <a:lstStyle/>
          <a:p>
            <a:pPr marL="0" indent="0" algn="ctr">
              <a:buNone/>
            </a:pPr>
            <a:r>
              <a:rPr lang="en-US" sz="900" b="1" dirty="0">
                <a:solidFill>
                  <a:srgbClr val="2D3436"/>
                </a:solidFill>
                <a:latin typeface="Source Code Pro" pitchFamily="34" charset="0"/>
                <a:ea typeface="Source Code Pro" pitchFamily="34" charset="-122"/>
                <a:cs typeface="Source Code Pro" pitchFamily="34" charset="-120"/>
              </a:rPr>
              <a:t>Thin 3</a:t>
            </a:r>
            <a:endParaRPr lang="en-US" sz="900" dirty="0"/>
          </a:p>
        </p:txBody>
      </p:sp>
      <p:sp>
        <p:nvSpPr>
          <p:cNvPr id="34" name="Text 32"/>
          <p:cNvSpPr/>
          <p:nvPr/>
        </p:nvSpPr>
        <p:spPr>
          <a:xfrm>
            <a:off x="6629400" y="6089904"/>
            <a:ext cx="4782312" cy="201168"/>
          </a:xfrm>
          <a:prstGeom prst="rect">
            <a:avLst/>
          </a:prstGeom>
          <a:noFill/>
          <a:ln/>
        </p:spPr>
        <p:txBody>
          <a:bodyPr wrap="square" lIns="0" tIns="0" rIns="0" bIns="0" rtlCol="0" anchor="ctr"/>
          <a:lstStyle/>
          <a:p>
            <a:pPr marL="0" indent="0" algn="ctr">
              <a:buNone/>
            </a:pPr>
            <a:r>
              <a:rPr lang="en-US" sz="900" i="1" dirty="0">
                <a:solidFill>
                  <a:srgbClr val="FF6348"/>
                </a:solidFill>
                <a:latin typeface="Source Code Pro" pitchFamily="34" charset="0"/>
                <a:ea typeface="Source Code Pro" pitchFamily="34" charset="-122"/>
                <a:cs typeface="Source Code Pro" pitchFamily="34" charset="-120"/>
              </a:rPr>
              <a:t>✗  one report alone can’t see the others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1608</TotalTime>
  <Words>2856</Words>
  <Application>Microsoft Macintosh PowerPoint</Application>
  <PresentationFormat>Widescreen</PresentationFormat>
  <Paragraphs>314</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Source Code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minceddata.net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X-Ray — A lens to your Power BI reports</dc:title>
  <dc:subject>GMACC4 — 45-minute session — 2026-05-17</dc:subject>
  <dc:creator>Tom Martens</dc:creator>
  <cp:lastModifiedBy>Thomas 'Tom' Martens</cp:lastModifiedBy>
  <cp:revision>1</cp:revision>
  <dcterms:created xsi:type="dcterms:W3CDTF">2026-05-08T17:30:51Z</dcterms:created>
  <dcterms:modified xsi:type="dcterms:W3CDTF">2026-05-10T08:32:48Z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ea6d409-389a-443a-9140-f8c0d12e1685_Enabled">
    <vt:lpwstr>true</vt:lpwstr>
  </property>
  <property fmtid="{D5CDD505-2E9C-101B-9397-08002B2CF9AE}" pid="3" name="MSIP_Label_7ea6d409-389a-443a-9140-f8c0d12e1685_SetDate">
    <vt:lpwstr>2026-05-09T05:44:38Z</vt:lpwstr>
  </property>
  <property fmtid="{D5CDD505-2E9C-101B-9397-08002B2CF9AE}" pid="4" name="MSIP_Label_7ea6d409-389a-443a-9140-f8c0d12e1685_Method">
    <vt:lpwstr>Standard</vt:lpwstr>
  </property>
  <property fmtid="{D5CDD505-2E9C-101B-9397-08002B2CF9AE}" pid="5" name="MSIP_Label_7ea6d409-389a-443a-9140-f8c0d12e1685_Name">
    <vt:lpwstr>C0 - public</vt:lpwstr>
  </property>
  <property fmtid="{D5CDD505-2E9C-101B-9397-08002B2CF9AE}" pid="6" name="MSIP_Label_7ea6d409-389a-443a-9140-f8c0d12e1685_SiteId">
    <vt:lpwstr>f62b8f20-f16e-4a6e-9b1f-6e2d2e6ac089</vt:lpwstr>
  </property>
  <property fmtid="{D5CDD505-2E9C-101B-9397-08002B2CF9AE}" pid="7" name="MSIP_Label_7ea6d409-389a-443a-9140-f8c0d12e1685_ActionId">
    <vt:lpwstr>d4bc57d1-242d-4c28-9cb9-9854df2e3b68</vt:lpwstr>
  </property>
  <property fmtid="{D5CDD505-2E9C-101B-9397-08002B2CF9AE}" pid="8" name="MSIP_Label_7ea6d409-389a-443a-9140-f8c0d12e1685_ContentBits">
    <vt:lpwstr>0</vt:lpwstr>
  </property>
  <property fmtid="{D5CDD505-2E9C-101B-9397-08002B2CF9AE}" pid="9" name="MSIP_Label_7ea6d409-389a-443a-9140-f8c0d12e1685_Tag">
    <vt:lpwstr>50, 3, 0, 1</vt:lpwstr>
  </property>
</Properties>
</file>