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88" r:id="rId11"/>
    <p:sldId id="270" r:id="rId12"/>
    <p:sldId id="289" r:id="rId13"/>
    <p:sldId id="290" r:id="rId14"/>
    <p:sldId id="271" r:id="rId15"/>
    <p:sldId id="272" r:id="rId16"/>
    <p:sldId id="273" r:id="rId17"/>
    <p:sldId id="274" r:id="rId18"/>
    <p:sldId id="275" r:id="rId19"/>
    <p:sldId id="291" r:id="rId20"/>
    <p:sldId id="292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93" r:id="rId31"/>
    <p:sldId id="294" r:id="rId32"/>
    <p:sldId id="295" r:id="rId33"/>
    <p:sldId id="296" r:id="rId34"/>
    <p:sldId id="286" r:id="rId35"/>
    <p:sldId id="287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17"/>
    <p:restoredTop sz="96301"/>
  </p:normalViewPr>
  <p:slideViewPr>
    <p:cSldViewPr snapToGrid="0" snapToObjects="1">
      <p:cViewPr varScale="1">
        <p:scale>
          <a:sx n="164" d="100"/>
          <a:sy n="164" d="100"/>
        </p:scale>
        <p:origin x="70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'Tom' Martens" userId="35ccf0d4-9e71-4d15-bebb-7c78661c64b3" providerId="ADAL" clId="{8EB38B34-1C63-550C-B0CD-9C132AC5822A}"/>
    <pc:docChg chg="undo custSel mod modSld modMainMaster">
      <pc:chgData name="Thomas 'Tom' Martens" userId="35ccf0d4-9e71-4d15-bebb-7c78661c64b3" providerId="ADAL" clId="{8EB38B34-1C63-550C-B0CD-9C132AC5822A}" dt="2026-04-02T08:29:52.918" v="60" actId="20577"/>
      <pc:docMkLst>
        <pc:docMk/>
      </pc:docMkLst>
      <pc:sldChg chg="modSp mod">
        <pc:chgData name="Thomas 'Tom' Martens" userId="35ccf0d4-9e71-4d15-bebb-7c78661c64b3" providerId="ADAL" clId="{8EB38B34-1C63-550C-B0CD-9C132AC5822A}" dt="2026-04-02T08:29:52.918" v="60" actId="20577"/>
        <pc:sldMkLst>
          <pc:docMk/>
          <pc:sldMk cId="0" sldId="256"/>
        </pc:sldMkLst>
        <pc:spChg chg="mod">
          <ac:chgData name="Thomas 'Tom' Martens" userId="35ccf0d4-9e71-4d15-bebb-7c78661c64b3" providerId="ADAL" clId="{8EB38B34-1C63-550C-B0CD-9C132AC5822A}" dt="2026-04-02T08:29:52.918" v="60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 setBg">
        <pc:chgData name="Thomas 'Tom' Martens" userId="35ccf0d4-9e71-4d15-bebb-7c78661c64b3" providerId="ADAL" clId="{8EB38B34-1C63-550C-B0CD-9C132AC5822A}" dt="2026-03-08T13:04:30.959" v="54" actId="20577"/>
        <pc:sldMkLst>
          <pc:docMk/>
          <pc:sldMk cId="0" sldId="258"/>
        </pc:sldMkLst>
        <pc:spChg chg="mod">
          <ac:chgData name="Thomas 'Tom' Martens" userId="35ccf0d4-9e71-4d15-bebb-7c78661c64b3" providerId="ADAL" clId="{8EB38B34-1C63-550C-B0CD-9C132AC5822A}" dt="2026-03-08T12:59:48.797" v="18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Thomas 'Tom' Martens" userId="35ccf0d4-9e71-4d15-bebb-7c78661c64b3" providerId="ADAL" clId="{8EB38B34-1C63-550C-B0CD-9C132AC5822A}" dt="2026-03-08T12:59:48.797" v="18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Thomas 'Tom' Martens" userId="35ccf0d4-9e71-4d15-bebb-7c78661c64b3" providerId="ADAL" clId="{8EB38B34-1C63-550C-B0CD-9C132AC5822A}" dt="2026-03-08T13:04:30.959" v="54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Thomas 'Tom' Martens" userId="35ccf0d4-9e71-4d15-bebb-7c78661c64b3" providerId="ADAL" clId="{8EB38B34-1C63-550C-B0CD-9C132AC5822A}" dt="2026-03-08T13:02:03.126" v="49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Thomas 'Tom' Martens" userId="35ccf0d4-9e71-4d15-bebb-7c78661c64b3" providerId="ADAL" clId="{8EB38B34-1C63-550C-B0CD-9C132AC5822A}" dt="2026-03-08T13:02:03.126" v="49" actId="1076"/>
          <ac:spMkLst>
            <pc:docMk/>
            <pc:sldMk cId="0" sldId="258"/>
            <ac:spMk id="13" creationId="{39113F10-D87F-08C3-756C-046B85335BC3}"/>
          </ac:spMkLst>
        </pc:spChg>
        <pc:spChg chg="mod">
          <ac:chgData name="Thomas 'Tom' Martens" userId="35ccf0d4-9e71-4d15-bebb-7c78661c64b3" providerId="ADAL" clId="{8EB38B34-1C63-550C-B0CD-9C132AC5822A}" dt="2026-03-08T13:02:03.126" v="49" actId="1076"/>
          <ac:spMkLst>
            <pc:docMk/>
            <pc:sldMk cId="0" sldId="258"/>
            <ac:spMk id="14" creationId="{1C06D4EE-59F2-9485-C44A-CC2301805660}"/>
          </ac:spMkLst>
        </pc:spChg>
        <pc:spChg chg="mod">
          <ac:chgData name="Thomas 'Tom' Martens" userId="35ccf0d4-9e71-4d15-bebb-7c78661c64b3" providerId="ADAL" clId="{8EB38B34-1C63-550C-B0CD-9C132AC5822A}" dt="2026-03-08T13:02:03.126" v="49" actId="1076"/>
          <ac:spMkLst>
            <pc:docMk/>
            <pc:sldMk cId="0" sldId="258"/>
            <ac:spMk id="16" creationId="{4260FA59-8B20-DC91-7984-3AB88A2DAAAB}"/>
          </ac:spMkLst>
        </pc:spChg>
        <pc:spChg chg="mod">
          <ac:chgData name="Thomas 'Tom' Martens" userId="35ccf0d4-9e71-4d15-bebb-7c78661c64b3" providerId="ADAL" clId="{8EB38B34-1C63-550C-B0CD-9C132AC5822A}" dt="2026-03-08T13:02:03.126" v="49" actId="1076"/>
          <ac:spMkLst>
            <pc:docMk/>
            <pc:sldMk cId="0" sldId="258"/>
            <ac:spMk id="18" creationId="{468D570B-A8E9-4462-B182-70A46D253305}"/>
          </ac:spMkLst>
        </pc:spChg>
        <pc:spChg chg="mod">
          <ac:chgData name="Thomas 'Tom' Martens" userId="35ccf0d4-9e71-4d15-bebb-7c78661c64b3" providerId="ADAL" clId="{8EB38B34-1C63-550C-B0CD-9C132AC5822A}" dt="2026-03-08T13:02:03.126" v="49" actId="1076"/>
          <ac:spMkLst>
            <pc:docMk/>
            <pc:sldMk cId="0" sldId="258"/>
            <ac:spMk id="19" creationId="{919814D9-454B-B98D-1730-F44B6151275B}"/>
          </ac:spMkLst>
        </pc:spChg>
        <pc:spChg chg="mod">
          <ac:chgData name="Thomas 'Tom' Martens" userId="35ccf0d4-9e71-4d15-bebb-7c78661c64b3" providerId="ADAL" clId="{8EB38B34-1C63-550C-B0CD-9C132AC5822A}" dt="2026-03-08T13:02:03.126" v="49" actId="1076"/>
          <ac:spMkLst>
            <pc:docMk/>
            <pc:sldMk cId="0" sldId="258"/>
            <ac:spMk id="20" creationId="{71CE812A-D144-AD45-8EE5-E04F48343E36}"/>
          </ac:spMkLst>
        </pc:spChg>
        <pc:grpChg chg="add mod">
          <ac:chgData name="Thomas 'Tom' Martens" userId="35ccf0d4-9e71-4d15-bebb-7c78661c64b3" providerId="ADAL" clId="{8EB38B34-1C63-550C-B0CD-9C132AC5822A}" dt="2026-03-08T13:00:31.652" v="40" actId="1035"/>
          <ac:grpSpMkLst>
            <pc:docMk/>
            <pc:sldMk cId="0" sldId="258"/>
            <ac:grpSpMk id="12" creationId="{BC05ECE7-0D2C-473C-3638-D441EE52058D}"/>
          </ac:grpSpMkLst>
        </pc:grpChg>
        <pc:grpChg chg="add mod">
          <ac:chgData name="Thomas 'Tom' Martens" userId="35ccf0d4-9e71-4d15-bebb-7c78661c64b3" providerId="ADAL" clId="{8EB38B34-1C63-550C-B0CD-9C132AC5822A}" dt="2026-03-08T13:02:03.126" v="49" actId="1076"/>
          <ac:grpSpMkLst>
            <pc:docMk/>
            <pc:sldMk cId="0" sldId="258"/>
            <ac:grpSpMk id="15" creationId="{078AB86C-BB4F-CD4B-3E96-9E8DA4416ACF}"/>
          </ac:grpSpMkLst>
        </pc:grpChg>
        <pc:grpChg chg="mod">
          <ac:chgData name="Thomas 'Tom' Martens" userId="35ccf0d4-9e71-4d15-bebb-7c78661c64b3" providerId="ADAL" clId="{8EB38B34-1C63-550C-B0CD-9C132AC5822A}" dt="2026-03-08T13:02:03.126" v="49" actId="1076"/>
          <ac:grpSpMkLst>
            <pc:docMk/>
            <pc:sldMk cId="0" sldId="258"/>
            <ac:grpSpMk id="17" creationId="{0042CB92-8E8A-07EB-DFD2-101BC7E27459}"/>
          </ac:grpSpMkLst>
        </pc:grpChg>
        <pc:grpChg chg="add mod">
          <ac:chgData name="Thomas 'Tom' Martens" userId="35ccf0d4-9e71-4d15-bebb-7c78661c64b3" providerId="ADAL" clId="{8EB38B34-1C63-550C-B0CD-9C132AC5822A}" dt="2026-03-08T13:02:03.126" v="49" actId="1076"/>
          <ac:grpSpMkLst>
            <pc:docMk/>
            <pc:sldMk cId="0" sldId="258"/>
            <ac:grpSpMk id="24" creationId="{380425BF-5F3E-055B-13E8-5A40FE70CB57}"/>
          </ac:grpSpMkLst>
        </pc:grpChg>
        <pc:picChg chg="add mod">
          <ac:chgData name="Thomas 'Tom' Martens" userId="35ccf0d4-9e71-4d15-bebb-7c78661c64b3" providerId="ADAL" clId="{8EB38B34-1C63-550C-B0CD-9C132AC5822A}" dt="2026-03-08T12:55:06.429" v="13" actId="1076"/>
          <ac:picMkLst>
            <pc:docMk/>
            <pc:sldMk cId="0" sldId="258"/>
            <ac:picMk id="11" creationId="{751AA665-2DB6-B8E4-6243-41BF03DB2412}"/>
          </ac:picMkLst>
        </pc:picChg>
        <pc:picChg chg="add mod">
          <ac:chgData name="Thomas 'Tom' Martens" userId="35ccf0d4-9e71-4d15-bebb-7c78661c64b3" providerId="ADAL" clId="{8EB38B34-1C63-550C-B0CD-9C132AC5822A}" dt="2026-03-08T13:01:24.343" v="45" actId="1076"/>
          <ac:picMkLst>
            <pc:docMk/>
            <pc:sldMk cId="0" sldId="258"/>
            <ac:picMk id="22" creationId="{94CA119D-9407-D7CD-FCB5-A3E354A4300F}"/>
          </ac:picMkLst>
        </pc:picChg>
        <pc:picChg chg="add mod">
          <ac:chgData name="Thomas 'Tom' Martens" userId="35ccf0d4-9e71-4d15-bebb-7c78661c64b3" providerId="ADAL" clId="{8EB38B34-1C63-550C-B0CD-9C132AC5822A}" dt="2026-03-08T13:01:24.343" v="45" actId="1076"/>
          <ac:picMkLst>
            <pc:docMk/>
            <pc:sldMk cId="0" sldId="258"/>
            <ac:picMk id="23" creationId="{BA147453-45BE-D002-833C-44410FEADC37}"/>
          </ac:picMkLst>
        </pc:picChg>
      </pc:sldChg>
      <pc:sldChg chg="modSp mod">
        <pc:chgData name="Thomas 'Tom' Martens" userId="35ccf0d4-9e71-4d15-bebb-7c78661c64b3" providerId="ADAL" clId="{8EB38B34-1C63-550C-B0CD-9C132AC5822A}" dt="2026-03-08T12:51:12.815" v="0" actId="14"/>
        <pc:sldMkLst>
          <pc:docMk/>
          <pc:sldMk cId="0" sldId="285"/>
        </pc:sldMkLst>
        <pc:spChg chg="mod">
          <ac:chgData name="Thomas 'Tom' Martens" userId="35ccf0d4-9e71-4d15-bebb-7c78661c64b3" providerId="ADAL" clId="{8EB38B34-1C63-550C-B0CD-9C132AC5822A}" dt="2026-03-08T12:51:12.815" v="0" actId="14"/>
          <ac:spMkLst>
            <pc:docMk/>
            <pc:sldMk cId="0" sldId="285"/>
            <ac:spMk id="5" creationId="{00000000-0000-0000-0000-000000000000}"/>
          </ac:spMkLst>
        </pc:spChg>
      </pc:sldChg>
      <pc:sldMasterChg chg="modSldLayout">
        <pc:chgData name="Thomas 'Tom' Martens" userId="35ccf0d4-9e71-4d15-bebb-7c78661c64b3" providerId="ADAL" clId="{8EB38B34-1C63-550C-B0CD-9C132AC5822A}" dt="2026-03-08T12:58:11.351" v="15" actId="735"/>
        <pc:sldMasterMkLst>
          <pc:docMk/>
          <pc:sldMasterMk cId="0" sldId="2147483648"/>
        </pc:sldMasterMkLst>
        <pc:sldLayoutChg chg="modSp">
          <pc:chgData name="Thomas 'Tom' Martens" userId="35ccf0d4-9e71-4d15-bebb-7c78661c64b3" providerId="ADAL" clId="{8EB38B34-1C63-550C-B0CD-9C132AC5822A}" dt="2026-03-08T12:58:11.351" v="15" actId="735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900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20040" y="12801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Fabric Graph — An 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0040" y="2743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2A9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 Martens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6F6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I am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Graphs, Why Now?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Fundamentals • Relational vs. Graph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GQL • Fabric Graph • Live Demo</a:t>
            </a:r>
            <a:endParaRPr lang="en-US" sz="180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6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 • Resources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 Martens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 Architect @ Munich Re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years of experience designing analytical solutions using the Microsoft data platform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1AA665-2DB6-B8E4-6243-41BF03DB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50" y="789060"/>
            <a:ext cx="2281186" cy="2084908"/>
          </a:xfrm>
          <a:prstGeom prst="ellipse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80425BF-5F3E-055B-13E8-5A40FE70CB57}"/>
              </a:ext>
            </a:extLst>
          </p:cNvPr>
          <p:cNvGrpSpPr/>
          <p:nvPr/>
        </p:nvGrpSpPr>
        <p:grpSpPr>
          <a:xfrm>
            <a:off x="317864" y="4091589"/>
            <a:ext cx="3417081" cy="640080"/>
            <a:chOff x="560559" y="3840480"/>
            <a:chExt cx="3417081" cy="640080"/>
          </a:xfrm>
        </p:grpSpPr>
        <p:sp>
          <p:nvSpPr>
            <p:cNvPr id="6" name="Text 4"/>
            <p:cNvSpPr/>
            <p:nvPr/>
          </p:nvSpPr>
          <p:spPr>
            <a:xfrm>
              <a:off x="836908" y="3840480"/>
              <a:ext cx="314073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/tommartens68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0" indent="0" algn="l">
                <a:buNone/>
              </a:pPr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@tommartens68</a:t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2" name="Group 37">
              <a:extLst>
                <a:ext uri="{FF2B5EF4-FFF2-40B4-BE49-F238E27FC236}">
                  <a16:creationId xmlns:a16="http://schemas.microsoft.com/office/drawing/2014/main" id="{BC05ECE7-0D2C-473C-3638-D441EE52058D}"/>
                </a:ext>
              </a:extLst>
            </p:cNvPr>
            <p:cNvGrpSpPr/>
            <p:nvPr/>
          </p:nvGrpSpPr>
          <p:grpSpPr>
            <a:xfrm>
              <a:off x="560559" y="4188782"/>
              <a:ext cx="172200" cy="172200"/>
              <a:chOff x="470537" y="3886355"/>
              <a:chExt cx="229600" cy="229600"/>
            </a:xfrm>
          </p:grpSpPr>
          <p:sp>
            <p:nvSpPr>
              <p:cNvPr id="13" name="Rounded Rectangle 38">
                <a:extLst>
                  <a:ext uri="{FF2B5EF4-FFF2-40B4-BE49-F238E27FC236}">
                    <a16:creationId xmlns:a16="http://schemas.microsoft.com/office/drawing/2014/main" id="{39113F10-D87F-08C3-756C-046B85335BC3}"/>
                  </a:ext>
                </a:extLst>
              </p:cNvPr>
              <p:cNvSpPr/>
              <p:nvPr/>
            </p:nvSpPr>
            <p:spPr>
              <a:xfrm>
                <a:off x="470537" y="3886355"/>
                <a:ext cx="229600" cy="22960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/>
                <a:endParaRPr lang="en-US" sz="1350" dirty="0">
                  <a:solidFill>
                    <a:srgbClr val="FFFFFF"/>
                  </a:solidFill>
                  <a:latin typeface="Verdana" panose="020B0604030504040204"/>
                </a:endParaRPr>
              </a:p>
            </p:txBody>
          </p:sp>
          <p:sp>
            <p:nvSpPr>
              <p:cNvPr id="14" name="Freeform 383">
                <a:extLst>
                  <a:ext uri="{FF2B5EF4-FFF2-40B4-BE49-F238E27FC236}">
                    <a16:creationId xmlns:a16="http://schemas.microsoft.com/office/drawing/2014/main" id="{1C06D4EE-59F2-9485-C44A-CC2301805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770" y="3958471"/>
                <a:ext cx="103392" cy="89503"/>
              </a:xfrm>
              <a:custGeom>
                <a:avLst/>
                <a:gdLst>
                  <a:gd name="T0" fmla="*/ 458484450 w 64"/>
                  <a:gd name="T1" fmla="*/ 49083328 h 56"/>
                  <a:gd name="T2" fmla="*/ 408336961 w 64"/>
                  <a:gd name="T3" fmla="*/ 63107136 h 56"/>
                  <a:gd name="T4" fmla="*/ 444156978 w 64"/>
                  <a:gd name="T5" fmla="*/ 7011904 h 56"/>
                  <a:gd name="T6" fmla="*/ 386847091 w 64"/>
                  <a:gd name="T7" fmla="*/ 28047616 h 56"/>
                  <a:gd name="T8" fmla="*/ 386847091 w 64"/>
                  <a:gd name="T9" fmla="*/ 28047616 h 56"/>
                  <a:gd name="T10" fmla="*/ 315207056 w 64"/>
                  <a:gd name="T11" fmla="*/ 0 h 56"/>
                  <a:gd name="T12" fmla="*/ 222077151 w 64"/>
                  <a:gd name="T13" fmla="*/ 98166656 h 56"/>
                  <a:gd name="T14" fmla="*/ 229242225 w 64"/>
                  <a:gd name="T15" fmla="*/ 119202368 h 56"/>
                  <a:gd name="T16" fmla="*/ 229242225 w 64"/>
                  <a:gd name="T17" fmla="*/ 119202368 h 56"/>
                  <a:gd name="T18" fmla="*/ 28654944 w 64"/>
                  <a:gd name="T19" fmla="*/ 21035712 h 56"/>
                  <a:gd name="T20" fmla="*/ 57309887 w 64"/>
                  <a:gd name="T21" fmla="*/ 147249984 h 56"/>
                  <a:gd name="T22" fmla="*/ 14327472 w 64"/>
                  <a:gd name="T23" fmla="*/ 140238080 h 56"/>
                  <a:gd name="T24" fmla="*/ 85964831 w 64"/>
                  <a:gd name="T25" fmla="*/ 238404736 h 56"/>
                  <a:gd name="T26" fmla="*/ 42982415 w 64"/>
                  <a:gd name="T27" fmla="*/ 238404736 h 56"/>
                  <a:gd name="T28" fmla="*/ 128949923 w 64"/>
                  <a:gd name="T29" fmla="*/ 308523776 h 56"/>
                  <a:gd name="T30" fmla="*/ 0 w 64"/>
                  <a:gd name="T31" fmla="*/ 350595200 h 56"/>
                  <a:gd name="T32" fmla="*/ 150439792 w 64"/>
                  <a:gd name="T33" fmla="*/ 392666624 h 56"/>
                  <a:gd name="T34" fmla="*/ 415502035 w 64"/>
                  <a:gd name="T35" fmla="*/ 98166656 h 56"/>
                  <a:gd name="T36" fmla="*/ 415502035 w 64"/>
                  <a:gd name="T37" fmla="*/ 98166656 h 56"/>
                  <a:gd name="T38" fmla="*/ 415502035 w 64"/>
                  <a:gd name="T39" fmla="*/ 98166656 h 56"/>
                  <a:gd name="T40" fmla="*/ 415502035 w 64"/>
                  <a:gd name="T41" fmla="*/ 98166656 h 56"/>
                  <a:gd name="T42" fmla="*/ 458484450 w 64"/>
                  <a:gd name="T43" fmla="*/ 49083328 h 5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64" h="56">
                    <a:moveTo>
                      <a:pt x="64" y="7"/>
                    </a:moveTo>
                    <a:cubicBezTo>
                      <a:pt x="63" y="7"/>
                      <a:pt x="60" y="9"/>
                      <a:pt x="57" y="9"/>
                    </a:cubicBezTo>
                    <a:cubicBezTo>
                      <a:pt x="59" y="8"/>
                      <a:pt x="61" y="4"/>
                      <a:pt x="62" y="1"/>
                    </a:cubicBezTo>
                    <a:cubicBezTo>
                      <a:pt x="60" y="3"/>
                      <a:pt x="56" y="4"/>
                      <a:pt x="54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2" y="2"/>
                      <a:pt x="48" y="0"/>
                      <a:pt x="44" y="0"/>
                    </a:cubicBezTo>
                    <a:cubicBezTo>
                      <a:pt x="37" y="0"/>
                      <a:pt x="31" y="6"/>
                      <a:pt x="31" y="14"/>
                    </a:cubicBezTo>
                    <a:cubicBezTo>
                      <a:pt x="31" y="15"/>
                      <a:pt x="31" y="16"/>
                      <a:pt x="32" y="17"/>
                    </a:cubicBezTo>
                    <a:cubicBezTo>
                      <a:pt x="32" y="17"/>
                      <a:pt x="32" y="17"/>
                      <a:pt x="32" y="17"/>
                    </a:cubicBezTo>
                    <a:cubicBezTo>
                      <a:pt x="22" y="17"/>
                      <a:pt x="10" y="12"/>
                      <a:pt x="4" y="3"/>
                    </a:cubicBezTo>
                    <a:cubicBezTo>
                      <a:pt x="0" y="10"/>
                      <a:pt x="3" y="18"/>
                      <a:pt x="8" y="21"/>
                    </a:cubicBezTo>
                    <a:cubicBezTo>
                      <a:pt x="6" y="22"/>
                      <a:pt x="3" y="21"/>
                      <a:pt x="2" y="20"/>
                    </a:cubicBezTo>
                    <a:cubicBezTo>
                      <a:pt x="2" y="25"/>
                      <a:pt x="4" y="31"/>
                      <a:pt x="12" y="34"/>
                    </a:cubicBezTo>
                    <a:cubicBezTo>
                      <a:pt x="10" y="35"/>
                      <a:pt x="8" y="34"/>
                      <a:pt x="6" y="34"/>
                    </a:cubicBezTo>
                    <a:cubicBezTo>
                      <a:pt x="7" y="38"/>
                      <a:pt x="12" y="44"/>
                      <a:pt x="18" y="44"/>
                    </a:cubicBezTo>
                    <a:cubicBezTo>
                      <a:pt x="16" y="46"/>
                      <a:pt x="9" y="51"/>
                      <a:pt x="0" y="50"/>
                    </a:cubicBezTo>
                    <a:cubicBezTo>
                      <a:pt x="6" y="54"/>
                      <a:pt x="13" y="56"/>
                      <a:pt x="21" y="56"/>
                    </a:cubicBezTo>
                    <a:cubicBezTo>
                      <a:pt x="42" y="56"/>
                      <a:pt x="58" y="37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58" y="14"/>
                      <a:pt x="58" y="14"/>
                      <a:pt x="58" y="14"/>
                    </a:cubicBezTo>
                    <a:cubicBezTo>
                      <a:pt x="60" y="13"/>
                      <a:pt x="62" y="10"/>
                      <a:pt x="64" y="7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/>
              <a:lstStyle/>
              <a:p>
                <a:pPr defTabSz="342900"/>
                <a:endParaRPr lang="en-US" sz="1350">
                  <a:solidFill>
                    <a:srgbClr val="000000"/>
                  </a:solidFill>
                  <a:latin typeface="Verdana" panose="020B0604030504040204"/>
                </a:endParaRPr>
              </a:p>
            </p:txBody>
          </p:sp>
        </p:grpSp>
        <p:grpSp>
          <p:nvGrpSpPr>
            <p:cNvPr id="15" name="Group 40">
              <a:extLst>
                <a:ext uri="{FF2B5EF4-FFF2-40B4-BE49-F238E27FC236}">
                  <a16:creationId xmlns:a16="http://schemas.microsoft.com/office/drawing/2014/main" id="{078AB86C-BB4F-CD4B-3E96-9E8DA4416ACF}"/>
                </a:ext>
              </a:extLst>
            </p:cNvPr>
            <p:cNvGrpSpPr/>
            <p:nvPr/>
          </p:nvGrpSpPr>
          <p:grpSpPr>
            <a:xfrm>
              <a:off x="560559" y="3977285"/>
              <a:ext cx="172200" cy="172200"/>
              <a:chOff x="470535" y="3492943"/>
              <a:chExt cx="229600" cy="229600"/>
            </a:xfrm>
          </p:grpSpPr>
          <p:sp>
            <p:nvSpPr>
              <p:cNvPr id="16" name="Rounded Rectangle 41">
                <a:extLst>
                  <a:ext uri="{FF2B5EF4-FFF2-40B4-BE49-F238E27FC236}">
                    <a16:creationId xmlns:a16="http://schemas.microsoft.com/office/drawing/2014/main" id="{4260FA59-8B20-DC91-7984-3AB88A2DAAAB}"/>
                  </a:ext>
                </a:extLst>
              </p:cNvPr>
              <p:cNvSpPr/>
              <p:nvPr/>
            </p:nvSpPr>
            <p:spPr>
              <a:xfrm>
                <a:off x="470535" y="3492943"/>
                <a:ext cx="229600" cy="229600"/>
              </a:xfrm>
              <a:prstGeom prst="roundRect">
                <a:avLst/>
              </a:prstGeom>
              <a:solidFill>
                <a:schemeClr val="tx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342900"/>
                <a:endParaRPr lang="en-US" sz="1350">
                  <a:solidFill>
                    <a:srgbClr val="FFFFFF"/>
                  </a:solidFill>
                  <a:latin typeface="Verdana" panose="020B0604030504040204"/>
                </a:endParaRPr>
              </a:p>
            </p:txBody>
          </p:sp>
          <p:grpSp>
            <p:nvGrpSpPr>
              <p:cNvPr id="17" name="Group 1216">
                <a:extLst>
                  <a:ext uri="{FF2B5EF4-FFF2-40B4-BE49-F238E27FC236}">
                    <a16:creationId xmlns:a16="http://schemas.microsoft.com/office/drawing/2014/main" id="{0042CB92-8E8A-07EB-DFD2-101BC7E274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32" y="3551431"/>
                <a:ext cx="101582" cy="101580"/>
                <a:chOff x="8400256" y="3573016"/>
                <a:chExt cx="423863" cy="422275"/>
              </a:xfrm>
              <a:solidFill>
                <a:schemeClr val="bg2"/>
              </a:solidFill>
            </p:grpSpPr>
            <p:sp>
              <p:nvSpPr>
                <p:cNvPr id="18" name="Oval 315">
                  <a:extLst>
                    <a:ext uri="{FF2B5EF4-FFF2-40B4-BE49-F238E27FC236}">
                      <a16:creationId xmlns:a16="http://schemas.microsoft.com/office/drawing/2014/main" id="{468D570B-A8E9-4462-B182-70A46D2533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0256" y="3573016"/>
                  <a:ext cx="103188" cy="101600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Open Sans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9pPr>
                </a:lstStyle>
                <a:p>
                  <a:pPr defTabSz="342900"/>
                  <a:endParaRPr lang="en-AU" altLang="x-none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9" name="Rectangle 316">
                  <a:extLst>
                    <a:ext uri="{FF2B5EF4-FFF2-40B4-BE49-F238E27FC236}">
                      <a16:creationId xmlns:a16="http://schemas.microsoft.com/office/drawing/2014/main" id="{919814D9-454B-B98D-1730-F44B615127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8194" y="3714304"/>
                  <a:ext cx="87313" cy="28098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Open Sans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Open Sans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" charset="0"/>
                    </a:defRPr>
                  </a:lvl9pPr>
                </a:lstStyle>
                <a:p>
                  <a:pPr defTabSz="342900"/>
                  <a:endParaRPr lang="en-AU" altLang="x-none" sz="135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" name="Freeform 317">
                  <a:extLst>
                    <a:ext uri="{FF2B5EF4-FFF2-40B4-BE49-F238E27FC236}">
                      <a16:creationId xmlns:a16="http://schemas.microsoft.com/office/drawing/2014/main" id="{71CE812A-D144-AD45-8EE5-E04F48343E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551069" y="3706366"/>
                  <a:ext cx="273050" cy="288925"/>
                </a:xfrm>
                <a:custGeom>
                  <a:avLst/>
                  <a:gdLst>
                    <a:gd name="T0" fmla="*/ 232890753 w 196"/>
                    <a:gd name="T1" fmla="*/ 0 h 207"/>
                    <a:gd name="T2" fmla="*/ 118386679 w 196"/>
                    <a:gd name="T3" fmla="*/ 62342199 h 207"/>
                    <a:gd name="T4" fmla="*/ 116446073 w 196"/>
                    <a:gd name="T5" fmla="*/ 62342199 h 207"/>
                    <a:gd name="T6" fmla="*/ 116446073 w 196"/>
                    <a:gd name="T7" fmla="*/ 9741099 h 207"/>
                    <a:gd name="T8" fmla="*/ 0 w 196"/>
                    <a:gd name="T9" fmla="*/ 9741099 h 207"/>
                    <a:gd name="T10" fmla="*/ 0 w 196"/>
                    <a:gd name="T11" fmla="*/ 403273699 h 207"/>
                    <a:gd name="T12" fmla="*/ 122267889 w 196"/>
                    <a:gd name="T13" fmla="*/ 403273699 h 207"/>
                    <a:gd name="T14" fmla="*/ 122267889 w 196"/>
                    <a:gd name="T15" fmla="*/ 208455898 h 207"/>
                    <a:gd name="T16" fmla="*/ 194075860 w 196"/>
                    <a:gd name="T17" fmla="*/ 107150698 h 207"/>
                    <a:gd name="T18" fmla="*/ 258121409 w 196"/>
                    <a:gd name="T19" fmla="*/ 212351500 h 207"/>
                    <a:gd name="T20" fmla="*/ 258121409 w 196"/>
                    <a:gd name="T21" fmla="*/ 403273699 h 207"/>
                    <a:gd name="T22" fmla="*/ 380389298 w 196"/>
                    <a:gd name="T23" fmla="*/ 403273699 h 207"/>
                    <a:gd name="T24" fmla="*/ 380389298 w 196"/>
                    <a:gd name="T25" fmla="*/ 187025200 h 207"/>
                    <a:gd name="T26" fmla="*/ 232890753 w 196"/>
                    <a:gd name="T27" fmla="*/ 0 h 20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196" h="207">
                      <a:moveTo>
                        <a:pt x="120" y="0"/>
                      </a:moveTo>
                      <a:cubicBezTo>
                        <a:pt x="90" y="0"/>
                        <a:pt x="69" y="16"/>
                        <a:pt x="61" y="32"/>
                      </a:cubicBezTo>
                      <a:cubicBezTo>
                        <a:pt x="60" y="32"/>
                        <a:pt x="60" y="32"/>
                        <a:pt x="60" y="32"/>
                      </a:cubicBezTo>
                      <a:cubicBezTo>
                        <a:pt x="60" y="5"/>
                        <a:pt x="60" y="5"/>
                        <a:pt x="60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0" y="207"/>
                        <a:pt x="0" y="207"/>
                        <a:pt x="0" y="207"/>
                      </a:cubicBezTo>
                      <a:cubicBezTo>
                        <a:pt x="63" y="207"/>
                        <a:pt x="63" y="207"/>
                        <a:pt x="63" y="207"/>
                      </a:cubicBezTo>
                      <a:cubicBezTo>
                        <a:pt x="63" y="107"/>
                        <a:pt x="63" y="107"/>
                        <a:pt x="63" y="107"/>
                      </a:cubicBezTo>
                      <a:cubicBezTo>
                        <a:pt x="63" y="81"/>
                        <a:pt x="68" y="55"/>
                        <a:pt x="100" y="55"/>
                      </a:cubicBezTo>
                      <a:cubicBezTo>
                        <a:pt x="133" y="55"/>
                        <a:pt x="133" y="85"/>
                        <a:pt x="133" y="109"/>
                      </a:cubicBezTo>
                      <a:cubicBezTo>
                        <a:pt x="133" y="207"/>
                        <a:pt x="133" y="207"/>
                        <a:pt x="133" y="207"/>
                      </a:cubicBezTo>
                      <a:cubicBezTo>
                        <a:pt x="196" y="207"/>
                        <a:pt x="196" y="207"/>
                        <a:pt x="196" y="207"/>
                      </a:cubicBezTo>
                      <a:cubicBezTo>
                        <a:pt x="196" y="96"/>
                        <a:pt x="196" y="96"/>
                        <a:pt x="196" y="96"/>
                      </a:cubicBezTo>
                      <a:cubicBezTo>
                        <a:pt x="196" y="42"/>
                        <a:pt x="184" y="0"/>
                        <a:pt x="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342900"/>
                  <a:endParaRPr lang="en-US" sz="1350">
                    <a:solidFill>
                      <a:srgbClr val="000000"/>
                    </a:solidFill>
                    <a:latin typeface="Verdana" panose="020B0604030504040204"/>
                  </a:endParaRPr>
                </a:p>
              </p:txBody>
            </p:sp>
          </p:grpSp>
        </p:grpSp>
      </p:grpSp>
      <p:pic>
        <p:nvPicPr>
          <p:cNvPr id="22" name="Picture 17" descr="A picture containing drawing  Description automatically generated">
            <a:extLst>
              <a:ext uri="{FF2B5EF4-FFF2-40B4-BE49-F238E27FC236}">
                <a16:creationId xmlns:a16="http://schemas.microsoft.com/office/drawing/2014/main" id="{94CA119D-9407-D7CD-FCB5-A3E354A43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810" y="4011976"/>
            <a:ext cx="1512698" cy="610316"/>
          </a:xfrm>
          <a:prstGeom prst="rect">
            <a:avLst/>
          </a:prstGeom>
        </p:spPr>
      </p:pic>
      <p:pic>
        <p:nvPicPr>
          <p:cNvPr id="23" name="Picture 18">
            <a:extLst>
              <a:ext uri="{FF2B5EF4-FFF2-40B4-BE49-F238E27FC236}">
                <a16:creationId xmlns:a16="http://schemas.microsoft.com/office/drawing/2014/main" id="{BA147453-45BE-D002-833C-44410FEAD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011" y="3226070"/>
            <a:ext cx="973663" cy="1390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Graphs, Why Now?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developments creating a tipping point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Developments Creating a Tipping 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GQL Standardization (ISO/IEC 39075, April 2024) — the first new ISO database query language since SQL in 1987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Fabric Graph (Public Preview, Oct 2025) — graph analytics on OneLake, no ETL, no data duplication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&amp; LLM Convergence — knowledge graphs as connective tissue for AI agents</a:t>
            </a:r>
            <a:endParaRPr lang="en-US" sz="1600" dirty="0"/>
          </a:p>
          <a:p>
            <a:pPr marL="685800" lvl="1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Language to GQL (NL2GQL) makes graph accessible to business users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Fundamentals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Nodes, Edges &amp; Properties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Three Building Blocks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A9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 (Vertices)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entities: people, products, cities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have one or more labels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Carry properties as key-value pairs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0" cy="365760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B7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(Relationships)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connections: knows, purchased, reports_to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directed (source → target)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also carry properties (since, weight)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Labeled Property Graph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of edges like fact rows — a customer bought 6 items at the bakery in Munich — with measures as properties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type-tag nodes — and one node can have multiple labels (:Person AND :Employee AND :BoardMember) simultaneously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 = columns on each entity — Node: {city: "Munich"}, Edge: {quantity: 6, amount: 42.50}</a:t>
            </a:r>
            <a:endParaRPr lang="en-US" sz="1600" dirty="0"/>
          </a:p>
          <a:p>
            <a:pPr marL="685800" lvl="1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are directed (like cross-filter direction) — :purchased flows Customer → Product, traversable both ways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customer, same product, three purchases — three direct edges, no junction table needed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Relational vs. Graph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paradigm shift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91440" cy="256032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45 minutes to lunch. Your manager asks: Our top 10 customers bought certain products. Other customers bought the same products. What else did those customers buy?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F6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AdventureWorks. Three hops. How many JOINs until you eat?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91440" cy="256032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"Six tables, five JOINs — and we've only traversed two hops. Every additional hop costs another JOIN."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F6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The relational way of modeling relationships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Relational Way (AdventureWorks)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p2.Name FROM SalesOrderHeader soh1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SalesOrderDetail sod1 ... JOIN SalesOrderDetail sod2 ON sod1.ProductID = sod2.ProductID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SalesOrderHeader soh2 ... JOIN SalesOrderDetail sod3 ... JOIN Product p2</a:t>
            </a:r>
            <a:endParaRPr lang="en-US" sz="1600" dirty="0"/>
          </a:p>
          <a:p>
            <a:pPr marL="685800" lvl="1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Self-joins, deduplication, exclusions — and we haven't filtered the top 10 yet. Lunch is getting cold.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Graph Way — 1 Pattern, 4 Lines, Go Eat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(c:Customer)-[:purchased]-&gt;(p:Product)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&lt;-[:purchased]-(other:Customer)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-[:purchased]-&gt;(rec:Product)</a:t>
            </a:r>
            <a:endParaRPr lang="en-US" sz="1600" dirty="0"/>
          </a:p>
          <a:p>
            <a:pPr marL="685800" lvl="1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 IN top10 AND c &lt;&gt; other AND NOT (c)-[:purchased]-&gt;(rec) RETURN rec.Name — Go eat.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Relational vs. Graph —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A9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Relational Database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Tables, rows, columns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Implicit relationships (FK + JOINs)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for: aggregations, set operations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0" cy="365760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B7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Nodes, edges, properties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relationships (stored as edges)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for: traversals, pattern matching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Engines, Three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A9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Relational / Lakehouse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 revenue by region for Q3?"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Columnar storage, filtered aggregation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Model: "Sales by product, sliced by quarter?"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0" cy="365760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B7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"Who connects A to C through B?"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Traversals, pattern matching, networks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replacement — the missing piece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Semantic Model as a Graph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bridge for BI professionals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Model ≈ Graph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A9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→ Node Label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→ Node Instance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 → 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0" cy="365760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B7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materialize relationships in memory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VertiPaq: filter propagation across star schema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Graph: path traversal across connected nodes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Graph Answers That BI Can't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customers are connected through shared purchases? (community detection)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the shortest path between supplier A and outlet B? (supply chain)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 products are frequently co-purchased by customers who also bought X?</a:t>
            </a:r>
            <a:endParaRPr lang="en-US" sz="1600" dirty="0"/>
          </a:p>
          <a:p>
            <a:pPr marL="685800" lvl="1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 rings, recommendation engines, identity resolution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semantic model gives you the surface — graph reveals the network beneath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 Semantic Model Excels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A9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Model Strengths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 aggregations at scale — billions of rows in milliseconds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Interactive slice and dice — change a slicer, everything recalculates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intelligence — SAMEPERIODLASTYEAR, DATEADD built into DAX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0" cy="365760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7B7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Graph Struggles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 aggregation — scatters column values across adjacency structures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slicer propagation — no concept of automatic filter context flow</a:t>
            </a:r>
            <a:endParaRPr lang="en-US" sz="15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built-in time intelligence — explicit pattern construction required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91440" cy="256032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Analogies are ladders — they help you climb to understanding. Edges are not fact tables. Labels are not table names. These comparisons got us here — now let's meet graph on its own terms.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F6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Similar concepts, fundamentally different beasts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GQL — The New ISO Standard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ISO/IEC 39075:2024 — first new query language since SQL (1987)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GQL Core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→ find patterns in the graph using ASCII-art syntax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 / LET → keep rows matching conditions, define variables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→ output results with ORDER BY and LIMIT</a:t>
            </a:r>
            <a:endParaRPr lang="en-US" sz="1600" dirty="0"/>
          </a:p>
          <a:p>
            <a:pPr marL="685800" lvl="1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Patterns look like the graph: (alice:Person)-[:knows]-&gt;(friend:Person)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Draws from openCypher (Neo4j) and SQL/PGQ — familiar if you know either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 Fabric Graph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&amp; capabilities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Hood: LinkedIn's LIquid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270+ billion edges — powering LinkedIn's Economic Graph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million queries per second at 99.99% availability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4th-generation graph DB with constant-time relationship access</a:t>
            </a:r>
            <a:endParaRPr lang="en-US" sz="1600" dirty="0"/>
          </a:p>
          <a:p>
            <a:pPr marL="685800" lvl="1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Horizontally scalable, shared-nothing architecture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Battle-tested at LinkedIn scale — now adapted for Fabric on OneLake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 Graph — Core Principles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data duplication — operates directly on OneLake Delta tables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Scale-out design — horizontal sharding across multiple workers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 capacity — same Fabric CUs, no separate license</a:t>
            </a:r>
            <a:endParaRPr lang="en-US" sz="1600" dirty="0"/>
          </a:p>
          <a:p>
            <a:pPr marL="685800" lvl="1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Built-in algorithms: Shortest Path, PageRank, Louvain Community Detection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NL2GQL — business users query in natural language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Time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relational to graph — three views of the same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2004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2286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things to remember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Things to Remember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databases store relationships explicitly — no JOINs, no junction tables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GQL is the new ISO standard — SQL's sibling, not its successor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semantic model is already a graph — tables = nodes, relationships = edges</a:t>
            </a:r>
            <a:endParaRPr lang="en-US" sz="1600" dirty="0"/>
          </a:p>
          <a:p>
            <a:pPr marL="2286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 Graph = graph analytics on OneLake — no ETL, no duplication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and relational are complementary — right tool, right question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502920" y="164592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Next: Fabric IQ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02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as the foundation for intelligent agents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+ Semantic Model = Fabric IQ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 IQ unifies Lakehouse + semantic models + graph + real-time data into one intelligence layer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models define what things are — graph defines how they connect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Together they form the Ontology — the shared business vocabulary for AI agents</a:t>
            </a:r>
            <a:endParaRPr lang="en-US" sz="1600" dirty="0"/>
          </a:p>
          <a:p>
            <a:pPr marL="2286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Agents and Operations Agents use this ontology to reason about your business</a:t>
            </a:r>
            <a:endParaRPr lang="en-US" sz="16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Announced at FabCon 2026 (March) — Graph is nearing General Availability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91440" cy="256032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Powering much of Fabric IQ is a combination of Power BI's industry-leading semantic model technology and graph in Fabric, our highly scalable graph database.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F6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Arun Ulagaratchagan, CVP Azure Data, Microsoft (FabCon 2026)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91440" cy="2560320"/>
          </a:xfrm>
          <a:prstGeom prst="rect">
            <a:avLst/>
          </a:prstGeom>
          <a:solidFill>
            <a:srgbClr val="67AABF"/>
          </a:solidFill>
          <a:ln w="12700">
            <a:solidFill>
              <a:srgbClr val="67AAB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464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semantic models define what things are. Graph defines how they connect. Together, they power the next generation of AI in Fabric.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F6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From data platform to intelligence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2A9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learn.microsoft.com/en-us/fabric/graph/overview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Getting Started with GQL (Packt, 2025) — Sun, Zhang, Simione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7AA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gqlstandards.org • aka.ms/graphavailability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2A9B9"/>
          </a:solidFill>
          <a:ln w="12700">
            <a:solidFill>
              <a:srgbClr val="92A9B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2004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20040" y="34747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F6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/tommartens68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6F6F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@tommartens68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73152"/>
          </a:xfrm>
          <a:prstGeom prst="rect">
            <a:avLst/>
          </a:prstGeom>
          <a:solidFill>
            <a:srgbClr val="A7B789"/>
          </a:solidFill>
          <a:ln w="12700">
            <a:solidFill>
              <a:srgbClr val="A7B78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1358</Words>
  <Application>Microsoft Macintosh PowerPoint</Application>
  <PresentationFormat>On-screen Show (16:9)</PresentationFormat>
  <Paragraphs>164</Paragraphs>
  <Slides>35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Consolas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 Martens - Presentation Template</dc:title>
  <dc:subject>PptxGenJS Presentation</dc:subject>
  <dc:creator>Tom Martens</dc:creator>
  <cp:lastModifiedBy>Thomas 'Tom' Martens</cp:lastModifiedBy>
  <cp:revision>2</cp:revision>
  <dcterms:created xsi:type="dcterms:W3CDTF">2026-03-07T18:34:31Z</dcterms:created>
  <dcterms:modified xsi:type="dcterms:W3CDTF">2026-04-02T16:03:14Z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a6d409-389a-443a-9140-f8c0d12e1685_Enabled">
    <vt:lpwstr>true</vt:lpwstr>
  </property>
  <property fmtid="{D5CDD505-2E9C-101B-9397-08002B2CF9AE}" pid="3" name="MSIP_Label_7ea6d409-389a-443a-9140-f8c0d12e1685_SetDate">
    <vt:lpwstr>2026-03-08T12:51:22Z</vt:lpwstr>
  </property>
  <property fmtid="{D5CDD505-2E9C-101B-9397-08002B2CF9AE}" pid="4" name="MSIP_Label_7ea6d409-389a-443a-9140-f8c0d12e1685_Method">
    <vt:lpwstr>Standard</vt:lpwstr>
  </property>
  <property fmtid="{D5CDD505-2E9C-101B-9397-08002B2CF9AE}" pid="5" name="MSIP_Label_7ea6d409-389a-443a-9140-f8c0d12e1685_Name">
    <vt:lpwstr>C0 - public</vt:lpwstr>
  </property>
  <property fmtid="{D5CDD505-2E9C-101B-9397-08002B2CF9AE}" pid="6" name="MSIP_Label_7ea6d409-389a-443a-9140-f8c0d12e1685_SiteId">
    <vt:lpwstr>f62b8f20-f16e-4a6e-9b1f-6e2d2e6ac089</vt:lpwstr>
  </property>
  <property fmtid="{D5CDD505-2E9C-101B-9397-08002B2CF9AE}" pid="7" name="MSIP_Label_7ea6d409-389a-443a-9140-f8c0d12e1685_ActionId">
    <vt:lpwstr>693ee7f8-23ba-4516-923e-3bd6a86a543a</vt:lpwstr>
  </property>
  <property fmtid="{D5CDD505-2E9C-101B-9397-08002B2CF9AE}" pid="8" name="MSIP_Label_7ea6d409-389a-443a-9140-f8c0d12e1685_ContentBits">
    <vt:lpwstr>0</vt:lpwstr>
  </property>
  <property fmtid="{D5CDD505-2E9C-101B-9397-08002B2CF9AE}" pid="9" name="MSIP_Label_7ea6d409-389a-443a-9140-f8c0d12e1685_Tag">
    <vt:lpwstr>50, 3, 0, 1</vt:lpwstr>
  </property>
</Properties>
</file>